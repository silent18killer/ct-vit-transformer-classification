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6" r:id="rId3"/>
    <p:sldId id="257" r:id="rId4"/>
    <p:sldId id="259" r:id="rId5"/>
    <p:sldId id="260" r:id="rId7"/>
    <p:sldId id="261" r:id="rId8"/>
    <p:sldId id="262" r:id="rId9"/>
    <p:sldId id="264" r:id="rId10"/>
    <p:sldId id="263" r:id="rId11"/>
    <p:sldId id="265" r:id="rId12"/>
    <p:sldId id="266" r:id="rId13"/>
    <p:sldId id="267" r:id="rId14"/>
    <p:sldId id="268" r:id="rId15"/>
    <p:sldId id="269" r:id="rId16"/>
    <p:sldId id="277" r:id="rId17"/>
    <p:sldId id="276"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7" userDrawn="1">
          <p15:clr>
            <a:srgbClr val="A4A3A4"/>
          </p15:clr>
        </p15:guide>
        <p15:guide id="2" pos="371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47"/>
        <p:guide pos="3717"/>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GB"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GB"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4.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6.png"/><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8.png"/><Relationship Id="rId1" Type="http://schemas.openxmlformats.org/officeDocument/2006/relationships/image" Target="../media/image7.png"/></Relationships>
</file>

<file path=ppt/slides/_rels/slide6.xml.rels><?xml version="1.0" encoding="UTF-8" standalone="yes"?>
<Relationships xmlns="http://schemas.openxmlformats.org/package/2006/relationships"><Relationship Id="rId6" Type="http://schemas.openxmlformats.org/officeDocument/2006/relationships/notesSlide" Target="../notesSlides/notesSlide2.xml"/><Relationship Id="rId5" Type="http://schemas.openxmlformats.org/officeDocument/2006/relationships/slideLayout" Target="../slideLayouts/slideLayout4.xml"/><Relationship Id="rId4" Type="http://schemas.openxmlformats.org/officeDocument/2006/relationships/tags" Target="../tags/tag1.xml"/><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5" Type="http://schemas.openxmlformats.org/officeDocument/2006/relationships/slideLayout" Target="../slideLayouts/slideLayout4.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7.png"/><Relationship Id="rId1"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openxmlformats.org/officeDocument/2006/relationships/image" Target="../media/image22.png"/><Relationship Id="rId4" Type="http://schemas.openxmlformats.org/officeDocument/2006/relationships/image" Target="../media/image21.png"/><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image" Target="../media/image18.png"/></Relationships>
</file>

<file path=ppt/slides/_rels/slide11.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23.png"/></Relationships>
</file>

<file path=ppt/slides/_rels/slide12.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31.png"/><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image" Target="../media/image28.png"/></Relationships>
</file>

<file path=ppt/slides/_rels/slide13.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88645" y="2517140"/>
            <a:ext cx="10996295" cy="911860"/>
          </a:xfrm>
        </p:spPr>
        <p:txBody>
          <a:bodyPr>
            <a:noAutofit/>
          </a:bodyPr>
          <a:lstStyle/>
          <a:p>
            <a:r>
              <a:rPr lang="en-US" sz="4400" b="1" dirty="0">
                <a:latin typeface="Bodoni MT" panose="02070603080606020203" charset="0"/>
                <a:cs typeface="Bodoni MT" panose="02070603080606020203" charset="0"/>
              </a:rPr>
              <a:t>CT-ViT Transformer Classification</a:t>
            </a:r>
            <a:endParaRPr lang="en-US" sz="4400" b="1" dirty="0">
              <a:latin typeface="Bodoni MT" panose="02070603080606020203" charset="0"/>
              <a:cs typeface="Bodoni MT" panose="02070603080606020203" charset="0"/>
            </a:endParaRPr>
          </a:p>
        </p:txBody>
      </p:sp>
      <p:pic>
        <p:nvPicPr>
          <p:cNvPr id="4" name="Picture 3"/>
          <p:cNvPicPr>
            <a:picLocks noChangeAspect="1"/>
          </p:cNvPicPr>
          <p:nvPr/>
        </p:nvPicPr>
        <p:blipFill>
          <a:blip r:embed="rId1"/>
          <a:stretch>
            <a:fillRect/>
          </a:stretch>
        </p:blipFill>
        <p:spPr>
          <a:xfrm>
            <a:off x="5185410" y="92075"/>
            <a:ext cx="1666875" cy="1581785"/>
          </a:xfrm>
          <a:prstGeom prst="rect">
            <a:avLst/>
          </a:prstGeom>
        </p:spPr>
      </p:pic>
      <p:graphicFrame>
        <p:nvGraphicFramePr>
          <p:cNvPr id="5" name="Table 4"/>
          <p:cNvGraphicFramePr/>
          <p:nvPr/>
        </p:nvGraphicFramePr>
        <p:xfrm>
          <a:off x="8441055" y="4900295"/>
          <a:ext cx="3750945" cy="1957705"/>
        </p:xfrm>
        <a:graphic>
          <a:graphicData uri="http://schemas.openxmlformats.org/drawingml/2006/table">
            <a:tbl>
              <a:tblPr firstRow="1" bandRow="1">
                <a:tableStyleId>{5C22544A-7EE6-4342-B048-85BDC9FD1C3A}</a:tableStyleId>
              </a:tblPr>
              <a:tblGrid>
                <a:gridCol w="2232025"/>
                <a:gridCol w="1518920"/>
              </a:tblGrid>
              <a:tr h="433705">
                <a:tc>
                  <a:txBody>
                    <a:bodyPr/>
                    <a:p>
                      <a:pPr>
                        <a:buNone/>
                      </a:pPr>
                      <a:r>
                        <a:rPr lang="en-US" altLang="en-GB"/>
                        <a:t>Name</a:t>
                      </a:r>
                      <a:endParaRPr lang="en-US" altLang="en-GB"/>
                    </a:p>
                  </a:txBody>
                  <a:tcPr/>
                </a:tc>
                <a:tc>
                  <a:txBody>
                    <a:bodyPr/>
                    <a:p>
                      <a:pPr>
                        <a:buNone/>
                      </a:pPr>
                      <a:r>
                        <a:rPr lang="en-US" altLang="en-GB"/>
                        <a:t>Roll Number</a:t>
                      </a:r>
                      <a:endParaRPr lang="en-US" altLang="en-GB"/>
                    </a:p>
                  </a:txBody>
                  <a:tcPr/>
                </a:tc>
              </a:tr>
              <a:tr h="381000">
                <a:tc>
                  <a:txBody>
                    <a:bodyPr/>
                    <a:p>
                      <a:pPr>
                        <a:buNone/>
                      </a:pPr>
                      <a:r>
                        <a:rPr lang="en-US" altLang="en-GB"/>
                        <a:t>Kaustabh Shit</a:t>
                      </a:r>
                      <a:endParaRPr lang="en-US" altLang="en-GB"/>
                    </a:p>
                  </a:txBody>
                  <a:tcPr/>
                </a:tc>
                <a:tc>
                  <a:txBody>
                    <a:bodyPr/>
                    <a:p>
                      <a:pPr>
                        <a:buNone/>
                      </a:pPr>
                      <a:r>
                        <a:rPr lang="en-US" altLang="en-GB"/>
                        <a:t>2205131</a:t>
                      </a:r>
                      <a:endParaRPr lang="en-US" altLang="en-GB"/>
                    </a:p>
                  </a:txBody>
                  <a:tcPr/>
                </a:tc>
              </a:tr>
              <a:tr h="381000">
                <a:tc>
                  <a:txBody>
                    <a:bodyPr/>
                    <a:p>
                      <a:pPr>
                        <a:buNone/>
                      </a:pPr>
                      <a:r>
                        <a:rPr lang="en-US" altLang="en-GB"/>
                        <a:t>Piyush Anand</a:t>
                      </a:r>
                      <a:endParaRPr lang="en-US" altLang="en-GB"/>
                    </a:p>
                  </a:txBody>
                  <a:tcPr/>
                </a:tc>
                <a:tc>
                  <a:txBody>
                    <a:bodyPr/>
                    <a:p>
                      <a:pPr>
                        <a:buNone/>
                      </a:pPr>
                      <a:r>
                        <a:rPr lang="en-US" altLang="en-GB"/>
                        <a:t>2205143</a:t>
                      </a:r>
                      <a:endParaRPr lang="en-US" altLang="en-GB"/>
                    </a:p>
                  </a:txBody>
                  <a:tcPr/>
                </a:tc>
              </a:tr>
              <a:tr h="381000">
                <a:tc>
                  <a:txBody>
                    <a:bodyPr/>
                    <a:p>
                      <a:pPr>
                        <a:buNone/>
                      </a:pPr>
                      <a:r>
                        <a:rPr lang="en-US" altLang="en-GB"/>
                        <a:t>Debottam Chatterjee</a:t>
                      </a:r>
                      <a:endParaRPr lang="en-US" altLang="en-GB"/>
                    </a:p>
                  </a:txBody>
                  <a:tcPr/>
                </a:tc>
                <a:tc>
                  <a:txBody>
                    <a:bodyPr/>
                    <a:p>
                      <a:pPr>
                        <a:buNone/>
                      </a:pPr>
                      <a:r>
                        <a:rPr lang="en-US" altLang="en-GB"/>
                        <a:t>2205464</a:t>
                      </a:r>
                      <a:endParaRPr lang="en-US" altLang="en-GB"/>
                    </a:p>
                  </a:txBody>
                  <a:tcPr/>
                </a:tc>
              </a:tr>
              <a:tr h="381000">
                <a:tc>
                  <a:txBody>
                    <a:bodyPr/>
                    <a:p>
                      <a:pPr>
                        <a:buNone/>
                      </a:pPr>
                      <a:r>
                        <a:rPr lang="en-US" altLang="en-GB"/>
                        <a:t>Pratyush Singh</a:t>
                      </a:r>
                      <a:endParaRPr lang="en-US" altLang="en-GB"/>
                    </a:p>
                  </a:txBody>
                  <a:tcPr/>
                </a:tc>
                <a:tc>
                  <a:txBody>
                    <a:bodyPr/>
                    <a:p>
                      <a:pPr>
                        <a:buNone/>
                      </a:pPr>
                      <a:r>
                        <a:rPr lang="en-US" altLang="en-GB"/>
                        <a:t>22051961</a:t>
                      </a:r>
                      <a:endParaRPr lang="en-US" altLang="en-GB"/>
                    </a:p>
                  </a:txBody>
                  <a:tcPr/>
                </a:tc>
              </a:tr>
            </a:tbl>
          </a:graphicData>
        </a:graphic>
      </p:graphicFrame>
      <p:sp>
        <p:nvSpPr>
          <p:cNvPr id="6" name="Text Box 5"/>
          <p:cNvSpPr txBox="1"/>
          <p:nvPr/>
        </p:nvSpPr>
        <p:spPr>
          <a:xfrm>
            <a:off x="3609975" y="3429000"/>
            <a:ext cx="5139690" cy="398780"/>
          </a:xfrm>
          <a:prstGeom prst="rect">
            <a:avLst/>
          </a:prstGeom>
          <a:noFill/>
        </p:spPr>
        <p:txBody>
          <a:bodyPr wrap="square" rtlCol="0">
            <a:spAutoFit/>
          </a:bodyPr>
          <a:p>
            <a:r>
              <a:rPr lang="en-US" altLang="en-GB" sz="2000" b="1"/>
              <a:t>(Under the guidance of Mrs. Suchismita Das)</a:t>
            </a:r>
            <a:endParaRPr lang="en-US" altLang="en-GB" sz="2000" b="1"/>
          </a:p>
        </p:txBody>
      </p:sp>
    </p:spTree>
  </p:cSld>
  <p:clrMapOvr>
    <a:masterClrMapping/>
  </p:clrMapOvr>
  <mc:AlternateContent xmlns:mc="http://schemas.openxmlformats.org/markup-compatibility/2006">
    <mc:Choice xmlns:p14="http://schemas.microsoft.com/office/powerpoint/2010/main" Requires="p14">
      <p:transition spd="slow" p14:dur="1000">
        <p:wheel spokes="8"/>
      </p:transition>
    </mc:Choice>
    <mc:Fallback>
      <p:transition spd="slow">
        <p:wheel spokes="8"/>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strVal val="#ppt_h"/>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3" presetClass="entr" presetSubtype="1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blinds(horizontal)">
                                      <p:cBhvr>
                                        <p:cTn id="13" dur="500"/>
                                        <p:tgtEl>
                                          <p:spTgt spid="2"/>
                                        </p:tgtEl>
                                      </p:cBhvr>
                                    </p:animEffect>
                                  </p:childTnLst>
                                </p:cTn>
                              </p:par>
                            </p:childTnLst>
                          </p:cTn>
                        </p:par>
                      </p:childTnLst>
                    </p:cTn>
                  </p:par>
                  <p:par>
                    <p:cTn id="14" fill="hold">
                      <p:stCondLst>
                        <p:cond delay="indefinite"/>
                      </p:stCondLst>
                      <p:childTnLst>
                        <p:par>
                          <p:cTn id="15" fill="hold">
                            <p:stCondLst>
                              <p:cond delay="0"/>
                            </p:stCondLst>
                            <p:childTnLst>
                              <p:par>
                                <p:cTn id="16" presetID="41" presetClass="entr" presetSubtype="0" fill="hold" grpId="0" nodeType="clickEffect">
                                  <p:stCondLst>
                                    <p:cond delay="0"/>
                                  </p:stCondLst>
                                  <p:iterate type="lt">
                                    <p:tmPct val="10000"/>
                                  </p:iterate>
                                  <p:childTnLst>
                                    <p:set>
                                      <p:cBhvr>
                                        <p:cTn id="17" dur="1" fill="hold">
                                          <p:stCondLst>
                                            <p:cond delay="0"/>
                                          </p:stCondLst>
                                        </p:cTn>
                                        <p:tgtEl>
                                          <p:spTgt spid="6"/>
                                        </p:tgtEl>
                                        <p:attrNameLst>
                                          <p:attrName>style.visibility</p:attrName>
                                        </p:attrNameLst>
                                      </p:cBhvr>
                                      <p:to>
                                        <p:strVal val="visible"/>
                                      </p:to>
                                    </p:set>
                                    <p:anim calcmode="lin" valueType="num">
                                      <p:cBhvr>
                                        <p:cTn id="18" dur="500" fill="hold"/>
                                        <p:tgtEl>
                                          <p:spTgt spid="6"/>
                                        </p:tgtEl>
                                        <p:attrNameLst>
                                          <p:attrName>ppt_x</p:attrName>
                                        </p:attrNameLst>
                                      </p:cBhvr>
                                      <p:tavLst>
                                        <p:tav tm="0">
                                          <p:val>
                                            <p:strVal val="#ppt_x"/>
                                          </p:val>
                                        </p:tav>
                                        <p:tav tm="50000">
                                          <p:val>
                                            <p:strVal val="#ppt_x+.1"/>
                                          </p:val>
                                        </p:tav>
                                        <p:tav tm="100000">
                                          <p:val>
                                            <p:strVal val="#ppt_x"/>
                                          </p:val>
                                        </p:tav>
                                      </p:tavLst>
                                    </p:anim>
                                    <p:anim calcmode="lin" valueType="num">
                                      <p:cBhvr>
                                        <p:cTn id="19" dur="500" fill="hold"/>
                                        <p:tgtEl>
                                          <p:spTgt spid="6"/>
                                        </p:tgtEl>
                                        <p:attrNameLst>
                                          <p:attrName>ppt_y</p:attrName>
                                        </p:attrNameLst>
                                      </p:cBhvr>
                                      <p:tavLst>
                                        <p:tav tm="0">
                                          <p:val>
                                            <p:strVal val="#ppt_y"/>
                                          </p:val>
                                        </p:tav>
                                        <p:tav tm="100000">
                                          <p:val>
                                            <p:strVal val="#ppt_y"/>
                                          </p:val>
                                        </p:tav>
                                      </p:tavLst>
                                    </p:anim>
                                    <p:anim calcmode="lin" valueType="num">
                                      <p:cBhvr>
                                        <p:cTn id="20" dur="500" fill="hold"/>
                                        <p:tgtEl>
                                          <p:spTgt spid="6"/>
                                        </p:tgtEl>
                                        <p:attrNameLst>
                                          <p:attrName>ppt_h</p:attrName>
                                        </p:attrNameLst>
                                      </p:cBhvr>
                                      <p:tavLst>
                                        <p:tav tm="0">
                                          <p:val>
                                            <p:strVal val="#ppt_h/10"/>
                                          </p:val>
                                        </p:tav>
                                        <p:tav tm="50000">
                                          <p:val>
                                            <p:strVal val="#ppt_h+.01"/>
                                          </p:val>
                                        </p:tav>
                                        <p:tav tm="100000">
                                          <p:val>
                                            <p:strVal val="#ppt_h"/>
                                          </p:val>
                                        </p:tav>
                                      </p:tavLst>
                                    </p:anim>
                                    <p:anim calcmode="lin" valueType="num">
                                      <p:cBhvr>
                                        <p:cTn id="21" dur="500" fill="hold"/>
                                        <p:tgtEl>
                                          <p:spTgt spid="6"/>
                                        </p:tgtEl>
                                        <p:attrNameLst>
                                          <p:attrName>ppt_w</p:attrName>
                                        </p:attrNameLst>
                                      </p:cBhvr>
                                      <p:tavLst>
                                        <p:tav tm="0">
                                          <p:val>
                                            <p:strVal val="#ppt_w/10"/>
                                          </p:val>
                                        </p:tav>
                                        <p:tav tm="50000">
                                          <p:val>
                                            <p:strVal val="#ppt_w+.01"/>
                                          </p:val>
                                        </p:tav>
                                        <p:tav tm="100000">
                                          <p:val>
                                            <p:strVal val="#ppt_w"/>
                                          </p:val>
                                        </p:tav>
                                      </p:tavLst>
                                    </p:anim>
                                    <p:animEffect transition="in" filter="fade">
                                      <p:cBhvr>
                                        <p:cTn id="22" dur="500" tmFilter="0,0; .5, 1; 1, 1"/>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8" presetClass="entr" presetSubtype="16"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diamond(in)">
                                      <p:cBhvr>
                                        <p:cTn id="2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6" grpId="0"/>
      <p:bldP spid="6"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0"/>
            <a:ext cx="11109325" cy="817880"/>
          </a:xfrm>
        </p:spPr>
        <p:txBody>
          <a:bodyPr>
            <a:normAutofit/>
          </a:bodyPr>
          <a:p>
            <a:r>
              <a:rPr lang="en-US" altLang="en-GB" sz="4000" b="1">
                <a:latin typeface="Bodoni MT" panose="02070603080606020203" charset="0"/>
                <a:cs typeface="Bodoni MT" panose="02070603080606020203" charset="0"/>
              </a:rPr>
              <a:t>Description of the Dataset</a:t>
            </a:r>
            <a:endParaRPr lang="en-US" altLang="en-GB" sz="4000" b="1">
              <a:latin typeface="Bodoni MT" panose="02070603080606020203" charset="0"/>
              <a:cs typeface="Bodoni MT" panose="02070603080606020203" charset="0"/>
            </a:endParaRPr>
          </a:p>
        </p:txBody>
      </p:sp>
      <p:sp>
        <p:nvSpPr>
          <p:cNvPr id="3" name="Content Placeholder 2"/>
          <p:cNvSpPr>
            <a:spLocks noGrp="1"/>
          </p:cNvSpPr>
          <p:nvPr>
            <p:ph idx="1"/>
          </p:nvPr>
        </p:nvSpPr>
        <p:spPr>
          <a:xfrm>
            <a:off x="-635" y="934720"/>
            <a:ext cx="12193270" cy="5923915"/>
          </a:xfrm>
        </p:spPr>
        <p:txBody>
          <a:bodyPr>
            <a:noAutofit/>
          </a:bodyPr>
          <a:p>
            <a:pPr marL="0" indent="0" algn="just">
              <a:buFont typeface="Arial" panose="020B0604020202020204" pitchFamily="34" charset="0"/>
              <a:buNone/>
            </a:pPr>
            <a:r>
              <a:rPr lang="en-US" altLang="en-GB" sz="1800" b="1">
                <a:solidFill>
                  <a:srgbClr val="7030A0"/>
                </a:solidFill>
              </a:rPr>
              <a:t>Type </a:t>
            </a:r>
            <a:r>
              <a:rPr lang="en-US" altLang="en-GB" sz="1800" b="1">
                <a:solidFill>
                  <a:srgbClr val="7030A0"/>
                </a:solidFill>
                <a:latin typeface="Arial" panose="020B0604020202020204" pitchFamily="34" charset="0"/>
                <a:cs typeface="Arial" panose="020B0604020202020204" pitchFamily="34" charset="0"/>
              </a:rPr>
              <a:t>→</a:t>
            </a:r>
            <a:endParaRPr lang="en-US" altLang="en-GB" sz="1800" b="1"/>
          </a:p>
          <a:p>
            <a:pPr lvl="1" algn="just">
              <a:buFont typeface="Arial" panose="020B0604020202020204" pitchFamily="34" charset="0"/>
              <a:buChar char="•"/>
            </a:pPr>
            <a:r>
              <a:rPr lang="en-US" altLang="en-GB" sz="1400" b="1"/>
              <a:t>CT (Computed Tomography) chest images — </a:t>
            </a:r>
            <a:r>
              <a:rPr lang="en-US" altLang="en-GB" sz="1400"/>
              <a:t>cross-sectional lung scans from real medical cases.</a:t>
            </a:r>
            <a:endParaRPr lang="en-US" altLang="en-GB" sz="1400" b="1"/>
          </a:p>
          <a:p>
            <a:pPr lvl="1" algn="just"/>
            <a:r>
              <a:rPr lang="en-US" altLang="en-GB" sz="1400"/>
              <a:t>Organized for multi-class image classification (</a:t>
            </a:r>
            <a:r>
              <a:rPr lang="en-US" altLang="en-GB" sz="1400" b="1"/>
              <a:t>Adenocarcinoma, Large Cell Carcinoma, Squamous Cell Carcinoma, Normal</a:t>
            </a:r>
            <a:r>
              <a:rPr lang="en-US" altLang="en-GB" sz="1400"/>
              <a:t>)</a:t>
            </a:r>
            <a:r>
              <a:rPr lang="en-US" altLang="en-GB" sz="1400" b="1"/>
              <a:t>.</a:t>
            </a:r>
            <a:endParaRPr lang="en-US" altLang="en-GB" sz="1400" b="1">
              <a:solidFill>
                <a:srgbClr val="7030A0"/>
              </a:solidFill>
            </a:endParaRPr>
          </a:p>
          <a:p>
            <a:pPr marL="0" indent="0" algn="just">
              <a:buFont typeface="Arial" panose="020B0604020202020204" pitchFamily="34" charset="0"/>
              <a:buNone/>
            </a:pPr>
            <a:r>
              <a:rPr lang="en-US" altLang="en-GB" sz="1800" b="1">
                <a:solidFill>
                  <a:srgbClr val="7030A0"/>
                </a:solidFill>
              </a:rPr>
              <a:t>Purpose </a:t>
            </a:r>
            <a:r>
              <a:rPr lang="en-US" altLang="en-GB" sz="1800" b="1">
                <a:solidFill>
                  <a:srgbClr val="7030A0"/>
                </a:solidFill>
                <a:latin typeface="Arial" panose="020B0604020202020204" pitchFamily="34" charset="0"/>
                <a:cs typeface="Arial" panose="020B0604020202020204" pitchFamily="34" charset="0"/>
              </a:rPr>
              <a:t>→</a:t>
            </a:r>
            <a:endParaRPr lang="en-US" altLang="en-GB" sz="1800" b="1"/>
          </a:p>
          <a:p>
            <a:pPr lvl="1" algn="just"/>
            <a:r>
              <a:rPr lang="en-US" altLang="en-GB" sz="1370"/>
              <a:t>Research on</a:t>
            </a:r>
            <a:r>
              <a:rPr lang="en-US" altLang="en-GB" sz="1370" b="1"/>
              <a:t> lung cancer detection &amp; classification </a:t>
            </a:r>
            <a:r>
              <a:rPr lang="en-US" altLang="en-GB" sz="1370"/>
              <a:t>using ML/DL models </a:t>
            </a:r>
            <a:r>
              <a:rPr lang="en-US" altLang="en-GB" sz="1370" b="1"/>
              <a:t>(especially CNNs &amp; Vision Transformers).</a:t>
            </a:r>
            <a:endParaRPr lang="en-US" altLang="en-GB" sz="1370" b="1"/>
          </a:p>
          <a:p>
            <a:pPr lvl="1" algn="just"/>
            <a:r>
              <a:rPr lang="en-US" altLang="en-GB" sz="1370"/>
              <a:t>Supports identifying</a:t>
            </a:r>
            <a:r>
              <a:rPr lang="en-US" altLang="en-GB" sz="1370" b="1"/>
              <a:t> cancerous vs. normal tissue.</a:t>
            </a:r>
            <a:endParaRPr lang="en-US" altLang="en-GB" sz="1540" b="1"/>
          </a:p>
          <a:p>
            <a:pPr marL="0" indent="0" algn="just">
              <a:buFont typeface="Arial" panose="020B0604020202020204" pitchFamily="34" charset="0"/>
              <a:buNone/>
            </a:pPr>
            <a:r>
              <a:rPr lang="en-US" altLang="en-GB" sz="1800" b="1">
                <a:solidFill>
                  <a:srgbClr val="7030A0"/>
                </a:solidFill>
              </a:rPr>
              <a:t>Structure </a:t>
            </a:r>
            <a:r>
              <a:rPr lang="en-US" altLang="en-GB" sz="1800" b="1">
                <a:solidFill>
                  <a:srgbClr val="7030A0"/>
                </a:solidFill>
                <a:latin typeface="Arial" panose="020B0604020202020204" pitchFamily="34" charset="0"/>
                <a:cs typeface="Arial" panose="020B0604020202020204" pitchFamily="34" charset="0"/>
              </a:rPr>
              <a:t>→</a:t>
            </a:r>
            <a:endParaRPr lang="en-US" altLang="en-GB" sz="1800" b="1"/>
          </a:p>
          <a:p>
            <a:pPr lvl="1" algn="just"/>
            <a:r>
              <a:rPr lang="en-US" altLang="en-GB" sz="1540"/>
              <a:t>Pre-divided into</a:t>
            </a:r>
            <a:r>
              <a:rPr lang="en-US" altLang="en-GB" sz="1540" b="1"/>
              <a:t> Train, Validation, </a:t>
            </a:r>
            <a:r>
              <a:rPr lang="en-US" altLang="en-GB" sz="1540"/>
              <a:t>and</a:t>
            </a:r>
            <a:r>
              <a:rPr lang="en-US" altLang="en-GB" sz="1540" b="1"/>
              <a:t> Test </a:t>
            </a:r>
            <a:r>
              <a:rPr lang="en-US" altLang="en-GB" sz="1540"/>
              <a:t>folders.</a:t>
            </a:r>
            <a:endParaRPr lang="en-US" altLang="en-GB" sz="1540" b="1"/>
          </a:p>
          <a:p>
            <a:pPr lvl="1" algn="just"/>
            <a:r>
              <a:rPr lang="en-US" altLang="en-GB" sz="1540" b="1"/>
              <a:t>Each folder has four class subfolders — enables supervised learning.</a:t>
            </a:r>
            <a:endParaRPr lang="en-US" altLang="en-GB" sz="1540" b="1"/>
          </a:p>
          <a:p>
            <a:pPr marL="0" indent="0" algn="just">
              <a:buFont typeface="Arial" panose="020B0604020202020204" pitchFamily="34" charset="0"/>
              <a:buNone/>
            </a:pPr>
            <a:r>
              <a:rPr lang="en-US" altLang="en-GB" sz="1800" b="1">
                <a:solidFill>
                  <a:srgbClr val="7030A0"/>
                </a:solidFill>
              </a:rPr>
              <a:t>Key Features &amp; Use Cases </a:t>
            </a:r>
            <a:r>
              <a:rPr lang="en-US" altLang="en-GB" sz="1800" b="1">
                <a:solidFill>
                  <a:srgbClr val="7030A0"/>
                </a:solidFill>
                <a:latin typeface="Arial" panose="020B0604020202020204" pitchFamily="34" charset="0"/>
                <a:cs typeface="Arial" panose="020B0604020202020204" pitchFamily="34" charset="0"/>
              </a:rPr>
              <a:t>→</a:t>
            </a:r>
            <a:endParaRPr lang="en-US" altLang="en-GB" sz="1800" b="1"/>
          </a:p>
          <a:p>
            <a:pPr lvl="1" algn="just"/>
            <a:r>
              <a:rPr lang="en-US" altLang="en-GB" sz="1370"/>
              <a:t>Suitable for </a:t>
            </a:r>
            <a:r>
              <a:rPr lang="en-US" altLang="en-GB" sz="1370" b="1"/>
              <a:t>CNN and Transfer Learning experiments.</a:t>
            </a:r>
            <a:endParaRPr lang="en-US" altLang="en-GB" sz="1370" b="1"/>
          </a:p>
          <a:p>
            <a:pPr lvl="1" algn="just"/>
            <a:r>
              <a:rPr lang="en-US" altLang="en-GB" sz="1370" b="1"/>
              <a:t>Benchmark various image recognition algorithms</a:t>
            </a:r>
            <a:endParaRPr lang="en-US" altLang="en-GB" sz="1370" b="1"/>
          </a:p>
          <a:p>
            <a:pPr lvl="1" algn="just"/>
            <a:r>
              <a:rPr lang="en-US" altLang="en-GB" sz="1370"/>
              <a:t>Enables</a:t>
            </a:r>
            <a:r>
              <a:rPr lang="en-US" altLang="en-GB" sz="1370" b="1"/>
              <a:t> feature extraction &amp; model evaluation (Accuracy, Precision, Recall, F1, AUC).</a:t>
            </a:r>
            <a:endParaRPr lang="en-US" altLang="en-GB" sz="1540" b="1"/>
          </a:p>
          <a:p>
            <a:pPr marL="0" indent="0" algn="just">
              <a:buFont typeface="Arial" panose="020B0604020202020204" pitchFamily="34" charset="0"/>
              <a:buNone/>
            </a:pPr>
            <a:r>
              <a:rPr lang="en-US" altLang="en-GB" sz="1800" b="1">
                <a:solidFill>
                  <a:srgbClr val="7030A0"/>
                </a:solidFill>
              </a:rPr>
              <a:t>Considerations </a:t>
            </a:r>
            <a:r>
              <a:rPr lang="en-US" altLang="en-GB" sz="1800" b="1">
                <a:solidFill>
                  <a:srgbClr val="7030A0"/>
                </a:solidFill>
                <a:latin typeface="Arial" panose="020B0604020202020204" pitchFamily="34" charset="0"/>
                <a:cs typeface="Arial" panose="020B0604020202020204" pitchFamily="34" charset="0"/>
              </a:rPr>
              <a:t>→</a:t>
            </a:r>
            <a:endParaRPr lang="en-US" altLang="en-GB" sz="1800" b="1"/>
          </a:p>
          <a:p>
            <a:pPr lvl="1" algn="just"/>
            <a:r>
              <a:rPr lang="en-US" altLang="en-GB" sz="1540"/>
              <a:t>Maintain patient data privacy &amp; ethical use.</a:t>
            </a:r>
            <a:endParaRPr lang="en-US" altLang="en-GB" sz="1540" b="1"/>
          </a:p>
          <a:p>
            <a:pPr lvl="1" algn="just"/>
            <a:r>
              <a:rPr lang="en-US" altLang="en-GB" sz="1540" b="1"/>
              <a:t>Handle class imbalance and apply image preprocessing (resizing, normalization, augmentation).</a:t>
            </a:r>
            <a:endParaRPr lang="en-US" altLang="en-GB" sz="1540" b="1"/>
          </a:p>
          <a:p>
            <a:pPr marL="0" indent="0" algn="just">
              <a:buFont typeface="Arial" panose="020B0604020202020204" pitchFamily="34" charset="0"/>
              <a:buNone/>
            </a:pPr>
            <a:r>
              <a:rPr lang="en-US" altLang="en-GB" sz="1800" b="1">
                <a:solidFill>
                  <a:srgbClr val="7030A0"/>
                </a:solidFill>
              </a:rPr>
              <a:t>Goal </a:t>
            </a:r>
            <a:r>
              <a:rPr lang="en-US" altLang="en-GB" sz="1800" b="1">
                <a:solidFill>
                  <a:srgbClr val="7030A0"/>
                </a:solidFill>
                <a:latin typeface="Arial" panose="020B0604020202020204" pitchFamily="34" charset="0"/>
                <a:cs typeface="Arial" panose="020B0604020202020204" pitchFamily="34" charset="0"/>
              </a:rPr>
              <a:t>→</a:t>
            </a:r>
            <a:endParaRPr lang="en-US" altLang="en-GB" sz="1800" b="1">
              <a:solidFill>
                <a:srgbClr val="7030A0"/>
              </a:solidFill>
            </a:endParaRPr>
          </a:p>
          <a:p>
            <a:pPr lvl="1" algn="just"/>
            <a:r>
              <a:rPr lang="en-US" altLang="en-GB" sz="1540"/>
              <a:t>Develop reliable AI models to assist radiologists in early,</a:t>
            </a:r>
            <a:r>
              <a:rPr lang="en-US" altLang="en-GB" sz="1540" b="1"/>
              <a:t> accurate lung cancer detection.</a:t>
            </a:r>
            <a:endParaRPr lang="en-US" altLang="en-GB" sz="1540" b="1"/>
          </a:p>
        </p:txBody>
      </p:sp>
    </p:spTree>
  </p:cSld>
  <p:clrMapOvr>
    <a:masterClrMapping/>
  </p:clrMapOvr>
  <mc:AlternateContent xmlns:mc="http://schemas.openxmlformats.org/markup-compatibility/2006">
    <mc:Choice xmlns:p14="http://schemas.microsoft.com/office/powerpoint/2010/main" Requires="p14">
      <p:transition spd="slow" p14:dur="1000">
        <p:comb/>
      </p:transition>
    </mc:Choice>
    <mc:Fallback>
      <p:transition spd="slow">
        <p:comb/>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strVal val="#ppt_h"/>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5" presetClass="entr" presetSubtype="1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checkerboard(across)">
                                      <p:cBhvr>
                                        <p:cTn id="13" dur="500"/>
                                        <p:tgtEl>
                                          <p:spTgt spid="3">
                                            <p:txEl>
                                              <p:pRg st="0" end="0"/>
                                            </p:txEl>
                                          </p:spTgt>
                                        </p:tgtEl>
                                      </p:cBhvr>
                                    </p:animEffect>
                                  </p:childTnLst>
                                </p:cTn>
                              </p:par>
                              <p:par>
                                <p:cTn id="14" presetID="5" presetClass="entr" presetSubtype="10" fill="hold" grpId="0" nodeType="with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animEffect transition="in" filter="checkerboard(across)">
                                      <p:cBhvr>
                                        <p:cTn id="16" dur="500"/>
                                        <p:tgtEl>
                                          <p:spTgt spid="3">
                                            <p:txEl>
                                              <p:pRg st="1" end="1"/>
                                            </p:txEl>
                                          </p:spTgt>
                                        </p:tgtEl>
                                      </p:cBhvr>
                                    </p:animEffect>
                                  </p:childTnLst>
                                </p:cTn>
                              </p:par>
                              <p:par>
                                <p:cTn id="17" presetID="5" presetClass="entr" presetSubtype="10" fill="hold" grpId="0" nodeType="with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checkerboard(across)">
                                      <p:cBhvr>
                                        <p:cTn id="19" dur="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5" presetClass="entr" presetSubtype="10" fill="hold" grpId="0" nodeType="click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checkerboard(across)">
                                      <p:cBhvr>
                                        <p:cTn id="24" dur="500"/>
                                        <p:tgtEl>
                                          <p:spTgt spid="3">
                                            <p:txEl>
                                              <p:pRg st="3" end="3"/>
                                            </p:txEl>
                                          </p:spTgt>
                                        </p:tgtEl>
                                      </p:cBhvr>
                                    </p:animEffect>
                                  </p:childTnLst>
                                </p:cTn>
                              </p:par>
                              <p:par>
                                <p:cTn id="25" presetID="5" presetClass="entr" presetSubtype="10"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checkerboard(across)">
                                      <p:cBhvr>
                                        <p:cTn id="27" dur="500"/>
                                        <p:tgtEl>
                                          <p:spTgt spid="3">
                                            <p:txEl>
                                              <p:pRg st="4" end="4"/>
                                            </p:txEl>
                                          </p:spTgt>
                                        </p:tgtEl>
                                      </p:cBhvr>
                                    </p:animEffect>
                                  </p:childTnLst>
                                </p:cTn>
                              </p:par>
                              <p:par>
                                <p:cTn id="28" presetID="5" presetClass="entr" presetSubtype="10" fill="hold" grpId="0" nodeType="with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checkerboard(across)">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5" presetClass="entr" presetSubtype="1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checkerboard(across)">
                                      <p:cBhvr>
                                        <p:cTn id="35" dur="500"/>
                                        <p:tgtEl>
                                          <p:spTgt spid="3">
                                            <p:txEl>
                                              <p:pRg st="6" end="6"/>
                                            </p:txEl>
                                          </p:spTgt>
                                        </p:tgtEl>
                                      </p:cBhvr>
                                    </p:animEffect>
                                  </p:childTnLst>
                                </p:cTn>
                              </p:par>
                              <p:par>
                                <p:cTn id="36" presetID="5" presetClass="entr" presetSubtype="10" fill="hold" grpId="0"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checkerboard(across)">
                                      <p:cBhvr>
                                        <p:cTn id="38" dur="500"/>
                                        <p:tgtEl>
                                          <p:spTgt spid="3">
                                            <p:txEl>
                                              <p:pRg st="7" end="7"/>
                                            </p:txEl>
                                          </p:spTgt>
                                        </p:tgtEl>
                                      </p:cBhvr>
                                    </p:animEffect>
                                  </p:childTnLst>
                                </p:cTn>
                              </p:par>
                              <p:par>
                                <p:cTn id="39" presetID="5" presetClass="entr" presetSubtype="10" fill="hold" grpId="0"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checkerboard(across)">
                                      <p:cBhvr>
                                        <p:cTn id="41" dur="500"/>
                                        <p:tgtEl>
                                          <p:spTgt spid="3">
                                            <p:txEl>
                                              <p:pRg st="8" end="8"/>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5" presetClass="entr" presetSubtype="10" fill="hold" grpId="0"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checkerboard(across)">
                                      <p:cBhvr>
                                        <p:cTn id="46" dur="500"/>
                                        <p:tgtEl>
                                          <p:spTgt spid="3">
                                            <p:txEl>
                                              <p:pRg st="9" end="9"/>
                                            </p:txEl>
                                          </p:spTgt>
                                        </p:tgtEl>
                                      </p:cBhvr>
                                    </p:animEffect>
                                  </p:childTnLst>
                                </p:cTn>
                              </p:par>
                              <p:par>
                                <p:cTn id="47" presetID="5" presetClass="entr" presetSubtype="10" fill="hold" grpId="0" nodeType="with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checkerboard(across)">
                                      <p:cBhvr>
                                        <p:cTn id="49" dur="500"/>
                                        <p:tgtEl>
                                          <p:spTgt spid="3">
                                            <p:txEl>
                                              <p:pRg st="10" end="10"/>
                                            </p:txEl>
                                          </p:spTgt>
                                        </p:tgtEl>
                                      </p:cBhvr>
                                    </p:animEffect>
                                  </p:childTnLst>
                                </p:cTn>
                              </p:par>
                              <p:par>
                                <p:cTn id="50" presetID="5" presetClass="entr" presetSubtype="10" fill="hold" grpId="0" nodeType="with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checkerboard(across)">
                                      <p:cBhvr>
                                        <p:cTn id="52" dur="500"/>
                                        <p:tgtEl>
                                          <p:spTgt spid="3">
                                            <p:txEl>
                                              <p:pRg st="11" end="11"/>
                                            </p:txEl>
                                          </p:spTgt>
                                        </p:tgtEl>
                                      </p:cBhvr>
                                    </p:animEffect>
                                  </p:childTnLst>
                                </p:cTn>
                              </p:par>
                              <p:par>
                                <p:cTn id="53" presetID="5" presetClass="entr" presetSubtype="10" fill="hold" grpId="0" nodeType="with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animEffect transition="in" filter="checkerboard(across)">
                                      <p:cBhvr>
                                        <p:cTn id="55" dur="500"/>
                                        <p:tgtEl>
                                          <p:spTgt spid="3">
                                            <p:txEl>
                                              <p:pRg st="12" end="12"/>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5" presetClass="entr" presetSubtype="10" fill="hold" grpId="0" nodeType="clickEffect">
                                  <p:stCondLst>
                                    <p:cond delay="0"/>
                                  </p:stCondLst>
                                  <p:childTnLst>
                                    <p:set>
                                      <p:cBhvr>
                                        <p:cTn id="59" dur="1" fill="hold">
                                          <p:stCondLst>
                                            <p:cond delay="0"/>
                                          </p:stCondLst>
                                        </p:cTn>
                                        <p:tgtEl>
                                          <p:spTgt spid="3">
                                            <p:txEl>
                                              <p:pRg st="13" end="13"/>
                                            </p:txEl>
                                          </p:spTgt>
                                        </p:tgtEl>
                                        <p:attrNameLst>
                                          <p:attrName>style.visibility</p:attrName>
                                        </p:attrNameLst>
                                      </p:cBhvr>
                                      <p:to>
                                        <p:strVal val="visible"/>
                                      </p:to>
                                    </p:set>
                                    <p:animEffect transition="in" filter="checkerboard(across)">
                                      <p:cBhvr>
                                        <p:cTn id="60" dur="500"/>
                                        <p:tgtEl>
                                          <p:spTgt spid="3">
                                            <p:txEl>
                                              <p:pRg st="13" end="13"/>
                                            </p:txEl>
                                          </p:spTgt>
                                        </p:tgtEl>
                                      </p:cBhvr>
                                    </p:animEffect>
                                  </p:childTnLst>
                                </p:cTn>
                              </p:par>
                              <p:par>
                                <p:cTn id="61" presetID="5" presetClass="entr" presetSubtype="10" fill="hold" grpId="0" nodeType="withEffect">
                                  <p:stCondLst>
                                    <p:cond delay="0"/>
                                  </p:stCondLst>
                                  <p:childTnLst>
                                    <p:set>
                                      <p:cBhvr>
                                        <p:cTn id="62" dur="1" fill="hold">
                                          <p:stCondLst>
                                            <p:cond delay="0"/>
                                          </p:stCondLst>
                                        </p:cTn>
                                        <p:tgtEl>
                                          <p:spTgt spid="3">
                                            <p:txEl>
                                              <p:pRg st="14" end="14"/>
                                            </p:txEl>
                                          </p:spTgt>
                                        </p:tgtEl>
                                        <p:attrNameLst>
                                          <p:attrName>style.visibility</p:attrName>
                                        </p:attrNameLst>
                                      </p:cBhvr>
                                      <p:to>
                                        <p:strVal val="visible"/>
                                      </p:to>
                                    </p:set>
                                    <p:animEffect transition="in" filter="checkerboard(across)">
                                      <p:cBhvr>
                                        <p:cTn id="63" dur="500"/>
                                        <p:tgtEl>
                                          <p:spTgt spid="3">
                                            <p:txEl>
                                              <p:pRg st="14" end="14"/>
                                            </p:txEl>
                                          </p:spTgt>
                                        </p:tgtEl>
                                      </p:cBhvr>
                                    </p:animEffect>
                                  </p:childTnLst>
                                </p:cTn>
                              </p:par>
                              <p:par>
                                <p:cTn id="64" presetID="5" presetClass="entr" presetSubtype="10" fill="hold" grpId="0" nodeType="withEffect">
                                  <p:stCondLst>
                                    <p:cond delay="0"/>
                                  </p:stCondLst>
                                  <p:childTnLst>
                                    <p:set>
                                      <p:cBhvr>
                                        <p:cTn id="65" dur="1" fill="hold">
                                          <p:stCondLst>
                                            <p:cond delay="0"/>
                                          </p:stCondLst>
                                        </p:cTn>
                                        <p:tgtEl>
                                          <p:spTgt spid="3">
                                            <p:txEl>
                                              <p:pRg st="15" end="15"/>
                                            </p:txEl>
                                          </p:spTgt>
                                        </p:tgtEl>
                                        <p:attrNameLst>
                                          <p:attrName>style.visibility</p:attrName>
                                        </p:attrNameLst>
                                      </p:cBhvr>
                                      <p:to>
                                        <p:strVal val="visible"/>
                                      </p:to>
                                    </p:set>
                                    <p:animEffect transition="in" filter="checkerboard(across)">
                                      <p:cBhvr>
                                        <p:cTn id="66" dur="500"/>
                                        <p:tgtEl>
                                          <p:spTgt spid="3">
                                            <p:txEl>
                                              <p:pRg st="15" end="15"/>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5" presetClass="entr" presetSubtype="10" fill="hold" grpId="0" nodeType="clickEffect">
                                  <p:stCondLst>
                                    <p:cond delay="0"/>
                                  </p:stCondLst>
                                  <p:childTnLst>
                                    <p:set>
                                      <p:cBhvr>
                                        <p:cTn id="70" dur="1" fill="hold">
                                          <p:stCondLst>
                                            <p:cond delay="0"/>
                                          </p:stCondLst>
                                        </p:cTn>
                                        <p:tgtEl>
                                          <p:spTgt spid="3">
                                            <p:txEl>
                                              <p:pRg st="16" end="16"/>
                                            </p:txEl>
                                          </p:spTgt>
                                        </p:tgtEl>
                                        <p:attrNameLst>
                                          <p:attrName>style.visibility</p:attrName>
                                        </p:attrNameLst>
                                      </p:cBhvr>
                                      <p:to>
                                        <p:strVal val="visible"/>
                                      </p:to>
                                    </p:set>
                                    <p:animEffect transition="in" filter="checkerboard(across)">
                                      <p:cBhvr>
                                        <p:cTn id="71" dur="500"/>
                                        <p:tgtEl>
                                          <p:spTgt spid="3">
                                            <p:txEl>
                                              <p:pRg st="16" end="16"/>
                                            </p:txEl>
                                          </p:spTgt>
                                        </p:tgtEl>
                                      </p:cBhvr>
                                    </p:animEffect>
                                  </p:childTnLst>
                                </p:cTn>
                              </p:par>
                              <p:par>
                                <p:cTn id="72" presetID="5" presetClass="entr" presetSubtype="10" fill="hold" grpId="0" nodeType="withEffect">
                                  <p:stCondLst>
                                    <p:cond delay="0"/>
                                  </p:stCondLst>
                                  <p:childTnLst>
                                    <p:set>
                                      <p:cBhvr>
                                        <p:cTn id="73" dur="1" fill="hold">
                                          <p:stCondLst>
                                            <p:cond delay="0"/>
                                          </p:stCondLst>
                                        </p:cTn>
                                        <p:tgtEl>
                                          <p:spTgt spid="3">
                                            <p:txEl>
                                              <p:pRg st="17" end="17"/>
                                            </p:txEl>
                                          </p:spTgt>
                                        </p:tgtEl>
                                        <p:attrNameLst>
                                          <p:attrName>style.visibility</p:attrName>
                                        </p:attrNameLst>
                                      </p:cBhvr>
                                      <p:to>
                                        <p:strVal val="visible"/>
                                      </p:to>
                                    </p:set>
                                    <p:animEffect transition="in" filter="checkerboard(across)">
                                      <p:cBhvr>
                                        <p:cTn id="74" dur="500"/>
                                        <p:tgtEl>
                                          <p:spTgt spid="3">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build="p"/>
      <p:bldP spid="3" grpI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0"/>
            <a:ext cx="4834255" cy="615950"/>
          </a:xfrm>
        </p:spPr>
        <p:txBody>
          <a:bodyPr>
            <a:normAutofit fontScale="90000"/>
          </a:bodyPr>
          <a:p>
            <a:r>
              <a:rPr lang="en-US" altLang="en-GB" sz="3600" b="1">
                <a:latin typeface="Bodoni MT" panose="02070603080606020203" charset="0"/>
                <a:cs typeface="Bodoni MT" panose="02070603080606020203" charset="0"/>
              </a:rPr>
              <a:t>Description of the Model</a:t>
            </a:r>
            <a:endParaRPr lang="en-US" altLang="en-GB" sz="3600" b="1">
              <a:latin typeface="Bodoni MT" panose="02070603080606020203" charset="0"/>
              <a:cs typeface="Bodoni MT" panose="02070603080606020203" charset="0"/>
            </a:endParaRPr>
          </a:p>
        </p:txBody>
      </p:sp>
      <p:sp>
        <p:nvSpPr>
          <p:cNvPr id="3" name="Content Placeholder 2"/>
          <p:cNvSpPr>
            <a:spLocks noGrp="1"/>
          </p:cNvSpPr>
          <p:nvPr>
            <p:ph sz="half" idx="1"/>
          </p:nvPr>
        </p:nvSpPr>
        <p:spPr>
          <a:xfrm>
            <a:off x="88265" y="4598035"/>
            <a:ext cx="6133465" cy="1867535"/>
          </a:xfrm>
        </p:spPr>
        <p:txBody>
          <a:bodyPr>
            <a:normAutofit/>
          </a:bodyPr>
          <a:p>
            <a:pPr marL="0" indent="0">
              <a:buNone/>
            </a:pPr>
            <a:r>
              <a:rPr lang="en-US" altLang="en-GB" sz="1800"/>
              <a:t>We fine-tuned a pretrained </a:t>
            </a:r>
            <a:r>
              <a:rPr lang="en-US" altLang="en-GB" sz="1800" b="1"/>
              <a:t>Vision Transformer (ViT) model (vit-base-patch16-224-in21k)</a:t>
            </a:r>
            <a:r>
              <a:rPr lang="en-US" altLang="en-GB" sz="1800"/>
              <a:t> to </a:t>
            </a:r>
            <a:r>
              <a:rPr lang="en-US" altLang="en-GB" sz="1800" b="1"/>
              <a:t>classify lung CT images into four categories.</a:t>
            </a:r>
            <a:r>
              <a:rPr lang="en-US" altLang="en-GB" sz="1800"/>
              <a:t> The dataset was </a:t>
            </a:r>
            <a:r>
              <a:rPr lang="en-US" altLang="en-GB" sz="1800" b="1"/>
              <a:t>preprocessed using ViTFeatureExtractor</a:t>
            </a:r>
            <a:r>
              <a:rPr lang="en-US" altLang="en-GB" sz="1800"/>
              <a:t> and </a:t>
            </a:r>
            <a:r>
              <a:rPr lang="en-US" altLang="en-GB" sz="1800" b="1"/>
              <a:t>trained for two epochs with Adam optimizer and cross-entropy loss.</a:t>
            </a:r>
            <a:r>
              <a:rPr lang="en-US" altLang="en-GB" sz="1800"/>
              <a:t> </a:t>
            </a:r>
            <a:r>
              <a:rPr lang="en-US" altLang="en-GB" sz="1800" b="1"/>
              <a:t>Model performance</a:t>
            </a:r>
            <a:r>
              <a:rPr lang="en-US" altLang="en-GB" sz="1800"/>
              <a:t> was evaluated using </a:t>
            </a:r>
            <a:r>
              <a:rPr lang="en-US" altLang="en-GB" sz="1800" b="1"/>
              <a:t>accuracy, classification report, and confusion matrix</a:t>
            </a:r>
            <a:r>
              <a:rPr lang="en-US" altLang="en-GB" sz="1800"/>
              <a:t>, with all results saved for analysis.</a:t>
            </a:r>
            <a:endParaRPr lang="en-US" altLang="en-GB" sz="1800"/>
          </a:p>
        </p:txBody>
      </p:sp>
      <p:pic>
        <p:nvPicPr>
          <p:cNvPr id="8" name="Content Placeholder 7"/>
          <p:cNvPicPr>
            <a:picLocks noChangeAspect="1"/>
          </p:cNvPicPr>
          <p:nvPr>
            <p:ph sz="half" idx="2"/>
          </p:nvPr>
        </p:nvPicPr>
        <p:blipFill>
          <a:blip r:embed="rId1"/>
          <a:stretch>
            <a:fillRect/>
          </a:stretch>
        </p:blipFill>
        <p:spPr>
          <a:xfrm>
            <a:off x="160655" y="749935"/>
            <a:ext cx="4203065" cy="2905760"/>
          </a:xfrm>
          <a:prstGeom prst="rect">
            <a:avLst/>
          </a:prstGeom>
        </p:spPr>
      </p:pic>
      <p:sp>
        <p:nvSpPr>
          <p:cNvPr id="9" name="Text Box 8"/>
          <p:cNvSpPr txBox="1"/>
          <p:nvPr/>
        </p:nvSpPr>
        <p:spPr>
          <a:xfrm>
            <a:off x="934085" y="3655695"/>
            <a:ext cx="2510790" cy="307975"/>
          </a:xfrm>
          <a:prstGeom prst="rect">
            <a:avLst/>
          </a:prstGeom>
          <a:noFill/>
        </p:spPr>
        <p:txBody>
          <a:bodyPr wrap="square" rtlCol="0">
            <a:noAutofit/>
          </a:bodyPr>
          <a:p>
            <a:r>
              <a:rPr lang="en-US" altLang="en-GB" sz="1200" b="1"/>
              <a:t>Code Snippet of ViT Transformer</a:t>
            </a:r>
            <a:endParaRPr lang="en-US" altLang="en-GB" sz="1200" b="1"/>
          </a:p>
        </p:txBody>
      </p:sp>
      <p:pic>
        <p:nvPicPr>
          <p:cNvPr id="10" name="Picture 9"/>
          <p:cNvPicPr>
            <a:picLocks noChangeAspect="1"/>
          </p:cNvPicPr>
          <p:nvPr/>
        </p:nvPicPr>
        <p:blipFill>
          <a:blip r:embed="rId2"/>
          <a:stretch>
            <a:fillRect/>
          </a:stretch>
        </p:blipFill>
        <p:spPr>
          <a:xfrm>
            <a:off x="5775325" y="749935"/>
            <a:ext cx="5890895" cy="2045970"/>
          </a:xfrm>
          <a:prstGeom prst="rect">
            <a:avLst/>
          </a:prstGeom>
        </p:spPr>
      </p:pic>
      <p:sp>
        <p:nvSpPr>
          <p:cNvPr id="11" name="Text Box 10"/>
          <p:cNvSpPr txBox="1"/>
          <p:nvPr/>
        </p:nvSpPr>
        <p:spPr>
          <a:xfrm>
            <a:off x="6625590" y="2859405"/>
            <a:ext cx="4064000" cy="275590"/>
          </a:xfrm>
          <a:prstGeom prst="rect">
            <a:avLst/>
          </a:prstGeom>
          <a:noFill/>
        </p:spPr>
        <p:txBody>
          <a:bodyPr wrap="square" rtlCol="0">
            <a:spAutoFit/>
          </a:bodyPr>
          <a:p>
            <a:pPr algn="ctr"/>
            <a:r>
              <a:rPr lang="en-US" altLang="en-GB" sz="1200" b="1"/>
              <a:t>Results of all the Performance Metrics of all the 4 classes</a:t>
            </a:r>
            <a:endParaRPr lang="en-US" altLang="en-GB" sz="1200" b="1"/>
          </a:p>
        </p:txBody>
      </p:sp>
      <p:sp>
        <p:nvSpPr>
          <p:cNvPr id="13" name="Text Box 12"/>
          <p:cNvSpPr txBox="1"/>
          <p:nvPr/>
        </p:nvSpPr>
        <p:spPr>
          <a:xfrm>
            <a:off x="8450580" y="3134995"/>
            <a:ext cx="414020" cy="593090"/>
          </a:xfrm>
          <a:prstGeom prst="rect">
            <a:avLst/>
          </a:prstGeom>
          <a:noFill/>
        </p:spPr>
        <p:txBody>
          <a:bodyPr wrap="none" rtlCol="0" anchor="t">
            <a:no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pic>
        <p:nvPicPr>
          <p:cNvPr id="14" name="Picture 13"/>
          <p:cNvPicPr>
            <a:picLocks noChangeAspect="1"/>
          </p:cNvPicPr>
          <p:nvPr/>
        </p:nvPicPr>
        <p:blipFill>
          <a:blip r:embed="rId3"/>
          <a:stretch>
            <a:fillRect/>
          </a:stretch>
        </p:blipFill>
        <p:spPr>
          <a:xfrm>
            <a:off x="6557645" y="3863975"/>
            <a:ext cx="4412615" cy="2313940"/>
          </a:xfrm>
          <a:prstGeom prst="rect">
            <a:avLst/>
          </a:prstGeom>
          <a:ln w="0" cmpd="sng">
            <a:solidFill>
              <a:schemeClr val="tx1"/>
            </a:solidFill>
            <a:prstDash val="solid"/>
          </a:ln>
        </p:spPr>
      </p:pic>
      <p:sp>
        <p:nvSpPr>
          <p:cNvPr id="15" name="Text Box 14"/>
          <p:cNvSpPr txBox="1"/>
          <p:nvPr/>
        </p:nvSpPr>
        <p:spPr>
          <a:xfrm>
            <a:off x="7775575" y="6313805"/>
            <a:ext cx="1986915" cy="275590"/>
          </a:xfrm>
          <a:prstGeom prst="rect">
            <a:avLst/>
          </a:prstGeom>
          <a:noFill/>
        </p:spPr>
        <p:txBody>
          <a:bodyPr wrap="square" rtlCol="0">
            <a:spAutoFit/>
          </a:bodyPr>
          <a:p>
            <a:pPr algn="ctr"/>
            <a:r>
              <a:rPr lang="en-US" altLang="en-GB" sz="1200" b="1"/>
              <a:t>Confusion Matrix</a:t>
            </a:r>
            <a:endParaRPr lang="en-US" altLang="en-GB" sz="1200" b="1"/>
          </a:p>
        </p:txBody>
      </p:sp>
      <p:sp>
        <p:nvSpPr>
          <p:cNvPr id="16" name="Text Box 15"/>
          <p:cNvSpPr txBox="1"/>
          <p:nvPr/>
        </p:nvSpPr>
        <p:spPr>
          <a:xfrm>
            <a:off x="4671695" y="1790065"/>
            <a:ext cx="795655" cy="583565"/>
          </a:xfrm>
          <a:prstGeom prst="rect">
            <a:avLst/>
          </a:prstGeom>
          <a:noFill/>
        </p:spPr>
        <p:txBody>
          <a:bodyPr wrap="squar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750">
        <p:pull/>
      </p:transition>
    </mc:Choice>
    <mc:Fallback>
      <p:transition spd="med">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circle(in)">
                                      <p:cBhvr>
                                        <p:cTn id="7" dur="2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7" presetClass="entr" presetSubtype="1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strVal val="#ppt_h"/>
                                          </p:val>
                                        </p:tav>
                                        <p:tav tm="100000">
                                          <p:val>
                                            <p:strVal val="#ppt_h"/>
                                          </p:val>
                                        </p:tav>
                                      </p:tavLst>
                                    </p:anim>
                                  </p:childTnLst>
                                </p:cTn>
                              </p:par>
                            </p:childTnLst>
                          </p:cTn>
                        </p:par>
                      </p:childTnLst>
                    </p:cTn>
                  </p:par>
                  <p:par>
                    <p:cTn id="14" fill="hold">
                      <p:stCondLst>
                        <p:cond delay="indefinite"/>
                      </p:stCondLst>
                      <p:childTnLst>
                        <p:par>
                          <p:cTn id="15" fill="hold">
                            <p:stCondLst>
                              <p:cond delay="0"/>
                            </p:stCondLst>
                            <p:childTnLst>
                              <p:par>
                                <p:cTn id="16" presetID="17" presetClass="entr" presetSubtype="1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 calcmode="lin" valueType="num">
                                      <p:cBhvr>
                                        <p:cTn id="18" dur="500" fill="hold"/>
                                        <p:tgtEl>
                                          <p:spTgt spid="9"/>
                                        </p:tgtEl>
                                        <p:attrNameLst>
                                          <p:attrName>ppt_w</p:attrName>
                                        </p:attrNameLst>
                                      </p:cBhvr>
                                      <p:tavLst>
                                        <p:tav tm="0">
                                          <p:val>
                                            <p:fltVal val="0"/>
                                          </p:val>
                                        </p:tav>
                                        <p:tav tm="100000">
                                          <p:val>
                                            <p:strVal val="#ppt_w"/>
                                          </p:val>
                                        </p:tav>
                                      </p:tavLst>
                                    </p:anim>
                                    <p:anim calcmode="lin" valueType="num">
                                      <p:cBhvr>
                                        <p:cTn id="19" dur="500" fill="hold"/>
                                        <p:tgtEl>
                                          <p:spTgt spid="9"/>
                                        </p:tgtEl>
                                        <p:attrNameLst>
                                          <p:attrName>ppt_h</p:attrName>
                                        </p:attrNameLst>
                                      </p:cBhvr>
                                      <p:tavLst>
                                        <p:tav tm="0">
                                          <p:val>
                                            <p:strVal val="#ppt_h"/>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22" presetID="40" presetClass="entr" presetSubtype="0" fill="hold" grpId="0" nodeType="clickEffect">
                                  <p:stCondLst>
                                    <p:cond delay="0"/>
                                  </p:stCondLst>
                                  <p:iterate type="lt">
                                    <p:tmPct val="10000"/>
                                  </p:iterate>
                                  <p:childTnLst>
                                    <p:set>
                                      <p:cBhvr>
                                        <p:cTn id="23" dur="1" fill="hold">
                                          <p:stCondLst>
                                            <p:cond delay="0"/>
                                          </p:stCondLst>
                                        </p:cTn>
                                        <p:tgtEl>
                                          <p:spTgt spid="16"/>
                                        </p:tgtEl>
                                        <p:attrNameLst>
                                          <p:attrName>style.visibility</p:attrName>
                                        </p:attrNameLst>
                                      </p:cBhvr>
                                      <p:to>
                                        <p:strVal val="visible"/>
                                      </p:to>
                                    </p:set>
                                    <p:animEffect transition="in" filter="fade">
                                      <p:cBhvr>
                                        <p:cTn id="24" dur="1000"/>
                                        <p:tgtEl>
                                          <p:spTgt spid="16"/>
                                        </p:tgtEl>
                                      </p:cBhvr>
                                    </p:animEffect>
                                    <p:anim calcmode="lin" valueType="num">
                                      <p:cBhvr>
                                        <p:cTn id="25" dur="1000" fill="hold"/>
                                        <p:tgtEl>
                                          <p:spTgt spid="16"/>
                                        </p:tgtEl>
                                        <p:attrNameLst>
                                          <p:attrName>ppt_x</p:attrName>
                                        </p:attrNameLst>
                                      </p:cBhvr>
                                      <p:tavLst>
                                        <p:tav tm="0">
                                          <p:val>
                                            <p:strVal val="#ppt_x-.1"/>
                                          </p:val>
                                        </p:tav>
                                        <p:tav tm="100000">
                                          <p:val>
                                            <p:strVal val="#ppt_x"/>
                                          </p:val>
                                        </p:tav>
                                      </p:tavLst>
                                    </p:anim>
                                    <p:anim calcmode="lin" valueType="num">
                                      <p:cBhvr>
                                        <p:cTn id="26" dur="1000" fill="hold"/>
                                        <p:tgtEl>
                                          <p:spTgt spid="16"/>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3" presetClass="entr" presetSubtype="1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blinds(horizontal)">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3" presetClass="entr" presetSubtype="10"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blinds(horizontal)">
                                      <p:cBhvr>
                                        <p:cTn id="36" dur="5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47" presetClass="entr" presetSubtype="0" fill="hold" grpId="0"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1000"/>
                                        <p:tgtEl>
                                          <p:spTgt spid="13"/>
                                        </p:tgtEl>
                                      </p:cBhvr>
                                    </p:animEffect>
                                    <p:anim calcmode="lin" valueType="num">
                                      <p:cBhvr>
                                        <p:cTn id="42" dur="1000" fill="hold"/>
                                        <p:tgtEl>
                                          <p:spTgt spid="13"/>
                                        </p:tgtEl>
                                        <p:attrNameLst>
                                          <p:attrName>ppt_x</p:attrName>
                                        </p:attrNameLst>
                                      </p:cBhvr>
                                      <p:tavLst>
                                        <p:tav tm="0">
                                          <p:val>
                                            <p:strVal val="#ppt_x"/>
                                          </p:val>
                                        </p:tav>
                                        <p:tav tm="100000">
                                          <p:val>
                                            <p:strVal val="#ppt_x"/>
                                          </p:val>
                                        </p:tav>
                                      </p:tavLst>
                                    </p:anim>
                                    <p:anim calcmode="lin" valueType="num">
                                      <p:cBhvr>
                                        <p:cTn id="4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13" presetClass="entr" presetSubtype="16"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plus(in)">
                                      <p:cBhvr>
                                        <p:cTn id="48" dur="2000"/>
                                        <p:tgtEl>
                                          <p:spTgt spid="14"/>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21"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barn(inVertical)">
                                      <p:cBhvr>
                                        <p:cTn id="53" dur="500"/>
                                        <p:tgtEl>
                                          <p:spTgt spid="15"/>
                                        </p:tgtEl>
                                      </p:cBhvr>
                                    </p:animEffect>
                                  </p:childTnLst>
                                </p:cTn>
                              </p:par>
                            </p:childTnLst>
                          </p:cTn>
                        </p:par>
                      </p:childTnLst>
                    </p:cTn>
                  </p:par>
                  <p:par>
                    <p:cTn id="54" fill="hold">
                      <p:stCondLst>
                        <p:cond delay="indefinite"/>
                      </p:stCondLst>
                      <p:childTnLst>
                        <p:par>
                          <p:cTn id="55" fill="hold">
                            <p:stCondLst>
                              <p:cond delay="0"/>
                            </p:stCondLst>
                            <p:childTnLst>
                              <p:par>
                                <p:cTn id="56" presetID="4" presetClass="entr" presetSubtype="16" fill="hold" grpId="0" nodeType="clickEffect">
                                  <p:stCondLst>
                                    <p:cond delay="0"/>
                                  </p:stCondLst>
                                  <p:childTnLst>
                                    <p:set>
                                      <p:cBhvr>
                                        <p:cTn id="57" dur="1" fill="hold">
                                          <p:stCondLst>
                                            <p:cond delay="0"/>
                                          </p:stCondLst>
                                        </p:cTn>
                                        <p:tgtEl>
                                          <p:spTgt spid="3">
                                            <p:txEl>
                                              <p:pRg st="0" end="0"/>
                                            </p:txEl>
                                          </p:spTgt>
                                        </p:tgtEl>
                                        <p:attrNameLst>
                                          <p:attrName>style.visibility</p:attrName>
                                        </p:attrNameLst>
                                      </p:cBhvr>
                                      <p:to>
                                        <p:strVal val="visible"/>
                                      </p:to>
                                    </p:set>
                                    <p:animEffect transition="in" filter="box(in)">
                                      <p:cBhvr>
                                        <p:cTn id="58"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9" grpId="0"/>
      <p:bldP spid="9" grpId="1"/>
      <p:bldP spid="16" grpId="0"/>
      <p:bldP spid="16" grpId="1"/>
      <p:bldP spid="11" grpId="0"/>
      <p:bldP spid="11" grpId="1"/>
      <p:bldP spid="13" grpId="0"/>
      <p:bldP spid="13" grpId="1"/>
      <p:bldP spid="15" grpId="0"/>
      <p:bldP spid="15" grpId="1"/>
      <p:bldP spid="3" grpId="0" build="p"/>
      <p:bldP spid="3" grpI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0"/>
            <a:ext cx="3719195" cy="690880"/>
          </a:xfrm>
        </p:spPr>
        <p:txBody>
          <a:bodyPr/>
          <a:p>
            <a:r>
              <a:rPr lang="en-US" altLang="en-GB" sz="2800" b="1">
                <a:latin typeface="Bodoni MT" panose="02070603080606020203" charset="0"/>
                <a:cs typeface="Bodoni MT" panose="02070603080606020203" charset="0"/>
              </a:rPr>
              <a:t>ViT Models Description</a:t>
            </a:r>
            <a:endParaRPr lang="en-US" altLang="en-GB" sz="2800" b="1">
              <a:latin typeface="Bodoni MT" panose="02070603080606020203" charset="0"/>
              <a:cs typeface="Bodoni MT" panose="02070603080606020203" charset="0"/>
            </a:endParaRPr>
          </a:p>
        </p:txBody>
      </p:sp>
      <p:sp>
        <p:nvSpPr>
          <p:cNvPr id="3" name="Content Placeholder 2"/>
          <p:cNvSpPr>
            <a:spLocks noGrp="1"/>
          </p:cNvSpPr>
          <p:nvPr>
            <p:ph sz="half" idx="1"/>
          </p:nvPr>
        </p:nvSpPr>
        <p:spPr>
          <a:xfrm>
            <a:off x="103505" y="690880"/>
            <a:ext cx="5788660" cy="5969635"/>
          </a:xfrm>
        </p:spPr>
        <p:txBody>
          <a:bodyPr>
            <a:noAutofit/>
          </a:bodyPr>
          <a:p>
            <a:pPr marL="0" indent="0">
              <a:buNone/>
            </a:pPr>
            <a:r>
              <a:rPr lang="en-US" altLang="en-GB" sz="2000"/>
              <a:t>All models are </a:t>
            </a:r>
            <a:r>
              <a:rPr lang="en-US" altLang="en-GB" sz="2000" b="1"/>
              <a:t>Vision Transformer (ViT)</a:t>
            </a:r>
            <a:r>
              <a:rPr lang="en-US" altLang="en-GB" sz="2000"/>
              <a:t> variants fine-tuned for lung disease classification using medical imaging data. Each represents a different training phase or optimization stage.</a:t>
            </a:r>
            <a:endParaRPr lang="en-US" altLang="en-GB" sz="2000"/>
          </a:p>
          <a:p>
            <a:pPr marL="0" indent="0">
              <a:buNone/>
            </a:pPr>
            <a:r>
              <a:rPr lang="en-US" altLang="en-GB" sz="2000" b="1"/>
              <a:t>1) best_vit_lung_model.pth</a:t>
            </a:r>
            <a:r>
              <a:rPr lang="en-US" altLang="en-GB" sz="2000"/>
              <a:t> – Final and most optimized ViT model achieving the highest validation accuracy and generalization.</a:t>
            </a:r>
            <a:endParaRPr lang="en-US" altLang="en-GB" sz="2000"/>
          </a:p>
          <a:p>
            <a:pPr marL="0" indent="0">
              <a:buNone/>
            </a:pPr>
            <a:r>
              <a:rPr lang="en-US" altLang="en-GB" sz="2000" b="1"/>
              <a:t>2) vit_best_model_20251018_002840.pth</a:t>
            </a:r>
            <a:r>
              <a:rPr lang="en-US" altLang="en-GB" sz="2000"/>
              <a:t> – Early checkpoint showing promising validation performance during initial training.</a:t>
            </a:r>
            <a:endParaRPr lang="en-US" altLang="en-GB" sz="2000"/>
          </a:p>
          <a:p>
            <a:pPr marL="0" indent="0">
              <a:buNone/>
            </a:pPr>
            <a:r>
              <a:rPr lang="en-US" altLang="en-GB" sz="2000" b="1"/>
              <a:t>3) vit_best_model_20251018_003149.pth</a:t>
            </a:r>
            <a:r>
              <a:rPr lang="en-US" altLang="en-GB" sz="2000"/>
              <a:t> – Intermediate model with enhanced training stability and reduced validation loss.</a:t>
            </a:r>
            <a:endParaRPr lang="en-US" altLang="en-GB" sz="2000"/>
          </a:p>
          <a:p>
            <a:pPr marL="0" indent="0">
              <a:buNone/>
            </a:pPr>
            <a:r>
              <a:rPr lang="en-US" altLang="en-GB" sz="2000" b="1"/>
              <a:t>4) vit_best_model_20251018_003845.pth</a:t>
            </a:r>
            <a:r>
              <a:rPr lang="en-US" altLang="en-GB" sz="2000"/>
              <a:t> – Final refined checkpoint, capturing the best balance between accuracy and loss.</a:t>
            </a:r>
            <a:endParaRPr lang="en-US" altLang="en-GB" sz="2000"/>
          </a:p>
          <a:p>
            <a:pPr marL="0" indent="0">
              <a:buNone/>
            </a:pPr>
            <a:r>
              <a:rPr lang="en-US" altLang="en-GB" sz="2000" b="1"/>
              <a:t>5) vit_lung_model.pth</a:t>
            </a:r>
            <a:r>
              <a:rPr lang="en-US" altLang="en-GB" sz="2000"/>
              <a:t> – Baseline ViT model, trained before applying advanced hyperparameter tuning and optimization</a:t>
            </a:r>
            <a:endParaRPr lang="en-US" altLang="en-GB" sz="2000"/>
          </a:p>
        </p:txBody>
      </p:sp>
      <p:pic>
        <p:nvPicPr>
          <p:cNvPr id="4" name="Content Placeholder 3"/>
          <p:cNvPicPr>
            <a:picLocks noChangeAspect="1"/>
          </p:cNvPicPr>
          <p:nvPr>
            <p:ph sz="half" idx="2"/>
          </p:nvPr>
        </p:nvPicPr>
        <p:blipFill>
          <a:blip r:embed="rId1"/>
          <a:srcRect l="12245" r="12245"/>
          <a:stretch>
            <a:fillRect/>
          </a:stretch>
        </p:blipFill>
        <p:spPr>
          <a:xfrm>
            <a:off x="6884670" y="3117215"/>
            <a:ext cx="3905250" cy="2685415"/>
          </a:xfrm>
        </p:spPr>
      </p:pic>
      <p:pic>
        <p:nvPicPr>
          <p:cNvPr id="5" name="Picture 4"/>
          <p:cNvPicPr>
            <a:picLocks noChangeAspect="1"/>
          </p:cNvPicPr>
          <p:nvPr/>
        </p:nvPicPr>
        <p:blipFill>
          <a:blip r:embed="rId2"/>
          <a:stretch>
            <a:fillRect/>
          </a:stretch>
        </p:blipFill>
        <p:spPr>
          <a:xfrm>
            <a:off x="6885305" y="361315"/>
            <a:ext cx="3904615" cy="1957705"/>
          </a:xfrm>
          <a:prstGeom prst="rect">
            <a:avLst/>
          </a:prstGeom>
        </p:spPr>
      </p:pic>
      <p:sp>
        <p:nvSpPr>
          <p:cNvPr id="6" name="Text Box 5"/>
          <p:cNvSpPr txBox="1"/>
          <p:nvPr/>
        </p:nvSpPr>
        <p:spPr>
          <a:xfrm>
            <a:off x="8624570" y="2393315"/>
            <a:ext cx="424180" cy="583565"/>
          </a:xfrm>
          <a:prstGeom prst="rect">
            <a:avLst/>
          </a:prstGeom>
          <a:noFill/>
        </p:spPr>
        <p:txBody>
          <a:bodyPr wrap="squar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7" name="Text Box 6"/>
          <p:cNvSpPr txBox="1"/>
          <p:nvPr/>
        </p:nvSpPr>
        <p:spPr>
          <a:xfrm>
            <a:off x="6501130" y="5799455"/>
            <a:ext cx="4671060" cy="368300"/>
          </a:xfrm>
          <a:prstGeom prst="rect">
            <a:avLst/>
          </a:prstGeom>
          <a:noFill/>
        </p:spPr>
        <p:txBody>
          <a:bodyPr wrap="square" rtlCol="0">
            <a:spAutoFit/>
          </a:bodyPr>
          <a:p>
            <a:pPr algn="ctr"/>
            <a:r>
              <a:rPr lang="en-US" altLang="en-GB" b="1"/>
              <a:t>Diagram above showing the 5 models used</a:t>
            </a:r>
            <a:endParaRPr lang="en-US" altLang="en-GB" b="1"/>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strVal val="#ppt_w*0.70"/>
                                          </p:val>
                                        </p:tav>
                                        <p:tav tm="100000">
                                          <p:val>
                                            <p:strVal val="#ppt_w"/>
                                          </p:val>
                                        </p:tav>
                                      </p:tavLst>
                                    </p:anim>
                                    <p:anim calcmode="lin" valueType="num">
                                      <p:cBhvr>
                                        <p:cTn id="8" dur="1000" fill="hold"/>
                                        <p:tgtEl>
                                          <p:spTgt spid="2"/>
                                        </p:tgtEl>
                                        <p:attrNameLst>
                                          <p:attrName>ppt_h</p:attrName>
                                        </p:attrNameLst>
                                      </p:cBhvr>
                                      <p:tavLst>
                                        <p:tav tm="0">
                                          <p:val>
                                            <p:strVal val="#ppt_h"/>
                                          </p:val>
                                        </p:tav>
                                        <p:tav tm="100000">
                                          <p:val>
                                            <p:strVal val="#ppt_h"/>
                                          </p:val>
                                        </p:tav>
                                      </p:tavLst>
                                    </p:anim>
                                    <p:animEffect transition="in" filter="fade">
                                      <p:cBhvr>
                                        <p:cTn id="9" dur="10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0" end="0"/>
                                            </p:txEl>
                                          </p:spTgt>
                                        </p:tgtEl>
                                        <p:attrNameLst>
                                          <p:attrName>style.visibility</p:attrName>
                                        </p:attrNameLst>
                                      </p:cBhvr>
                                      <p:to>
                                        <p:strVal val="visible"/>
                                      </p:to>
                                    </p:set>
                                    <p:animEffect transition="in" filter="fade">
                                      <p:cBhvr>
                                        <p:cTn id="14" dur="1000"/>
                                        <p:tgtEl>
                                          <p:spTgt spid="3">
                                            <p:txEl>
                                              <p:pRg st="0" end="0"/>
                                            </p:txEl>
                                          </p:spTgt>
                                        </p:tgtEl>
                                      </p:cBhvr>
                                    </p:animEffect>
                                    <p:anim calcmode="lin" valueType="num">
                                      <p:cBhvr>
                                        <p:cTn id="15"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animEffect transition="in" filter="fade">
                                      <p:cBhvr>
                                        <p:cTn id="21" dur="1000"/>
                                        <p:tgtEl>
                                          <p:spTgt spid="3">
                                            <p:txEl>
                                              <p:pRg st="1" end="1"/>
                                            </p:txEl>
                                          </p:spTgt>
                                        </p:tgtEl>
                                      </p:cBhvr>
                                    </p:animEffect>
                                    <p:anim calcmode="lin" valueType="num">
                                      <p:cBhvr>
                                        <p:cTn id="22"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2" end="2"/>
                                            </p:txEl>
                                          </p:spTgt>
                                        </p:tgtEl>
                                        <p:attrNameLst>
                                          <p:attrName>style.visibility</p:attrName>
                                        </p:attrNameLst>
                                      </p:cBhvr>
                                      <p:to>
                                        <p:strVal val="visible"/>
                                      </p:to>
                                    </p:set>
                                    <p:animEffect transition="in" filter="fade">
                                      <p:cBhvr>
                                        <p:cTn id="28" dur="1000"/>
                                        <p:tgtEl>
                                          <p:spTgt spid="3">
                                            <p:txEl>
                                              <p:pRg st="2" end="2"/>
                                            </p:txEl>
                                          </p:spTgt>
                                        </p:tgtEl>
                                      </p:cBhvr>
                                    </p:animEffect>
                                    <p:anim calcmode="lin" valueType="num">
                                      <p:cBhvr>
                                        <p:cTn id="29"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1000"/>
                                        <p:tgtEl>
                                          <p:spTgt spid="3">
                                            <p:txEl>
                                              <p:pRg st="3" end="3"/>
                                            </p:txEl>
                                          </p:spTgt>
                                        </p:tgtEl>
                                      </p:cBhvr>
                                    </p:animEffect>
                                    <p:anim calcmode="lin" valueType="num">
                                      <p:cBhvr>
                                        <p:cTn id="36"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3">
                                            <p:txEl>
                                              <p:pRg st="4" end="4"/>
                                            </p:txEl>
                                          </p:spTgt>
                                        </p:tgtEl>
                                        <p:attrNameLst>
                                          <p:attrName>style.visibility</p:attrName>
                                        </p:attrNameLst>
                                      </p:cBhvr>
                                      <p:to>
                                        <p:strVal val="visible"/>
                                      </p:to>
                                    </p:set>
                                    <p:animEffect transition="in" filter="fade">
                                      <p:cBhvr>
                                        <p:cTn id="42" dur="1000"/>
                                        <p:tgtEl>
                                          <p:spTgt spid="3">
                                            <p:txEl>
                                              <p:pRg st="4" end="4"/>
                                            </p:txEl>
                                          </p:spTgt>
                                        </p:tgtEl>
                                      </p:cBhvr>
                                    </p:animEffect>
                                    <p:anim calcmode="lin" valueType="num">
                                      <p:cBhvr>
                                        <p:cTn id="4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Effect transition="in" filter="fade">
                                      <p:cBhvr>
                                        <p:cTn id="49" dur="1000"/>
                                        <p:tgtEl>
                                          <p:spTgt spid="3">
                                            <p:txEl>
                                              <p:pRg st="5" end="5"/>
                                            </p:txEl>
                                          </p:spTgt>
                                        </p:tgtEl>
                                      </p:cBhvr>
                                    </p:animEffect>
                                    <p:anim calcmode="lin" valueType="num">
                                      <p:cBhvr>
                                        <p:cTn id="5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2" presetClass="entr" presetSubtype="4"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 calcmode="lin" valueType="num">
                                      <p:cBhvr additive="base">
                                        <p:cTn id="56" dur="500" fill="hold"/>
                                        <p:tgtEl>
                                          <p:spTgt spid="5"/>
                                        </p:tgtEl>
                                        <p:attrNameLst>
                                          <p:attrName>ppt_x</p:attrName>
                                        </p:attrNameLst>
                                      </p:cBhvr>
                                      <p:tavLst>
                                        <p:tav tm="0">
                                          <p:val>
                                            <p:strVal val="#ppt_x"/>
                                          </p:val>
                                        </p:tav>
                                        <p:tav tm="100000">
                                          <p:val>
                                            <p:strVal val="#ppt_x"/>
                                          </p:val>
                                        </p:tav>
                                      </p:tavLst>
                                    </p:anim>
                                    <p:anim calcmode="lin" valueType="num">
                                      <p:cBhvr additive="base">
                                        <p:cTn id="57"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47" presetClass="entr" presetSubtype="0" fill="hold" grpId="0" nodeType="click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1000"/>
                                        <p:tgtEl>
                                          <p:spTgt spid="6"/>
                                        </p:tgtEl>
                                      </p:cBhvr>
                                    </p:animEffect>
                                    <p:anim calcmode="lin" valueType="num">
                                      <p:cBhvr>
                                        <p:cTn id="63" dur="1000" fill="hold"/>
                                        <p:tgtEl>
                                          <p:spTgt spid="6"/>
                                        </p:tgtEl>
                                        <p:attrNameLst>
                                          <p:attrName>ppt_x</p:attrName>
                                        </p:attrNameLst>
                                      </p:cBhvr>
                                      <p:tavLst>
                                        <p:tav tm="0">
                                          <p:val>
                                            <p:strVal val="#ppt_x"/>
                                          </p:val>
                                        </p:tav>
                                        <p:tav tm="100000">
                                          <p:val>
                                            <p:strVal val="#ppt_x"/>
                                          </p:val>
                                        </p:tav>
                                      </p:tavLst>
                                    </p:anim>
                                    <p:anim calcmode="lin" valueType="num">
                                      <p:cBhvr>
                                        <p:cTn id="6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47"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animEffect transition="in" filter="fade">
                                      <p:cBhvr>
                                        <p:cTn id="69" dur="1000"/>
                                        <p:tgtEl>
                                          <p:spTgt spid="4"/>
                                        </p:tgtEl>
                                      </p:cBhvr>
                                    </p:animEffect>
                                    <p:anim calcmode="lin" valueType="num">
                                      <p:cBhvr>
                                        <p:cTn id="70" dur="1000" fill="hold"/>
                                        <p:tgtEl>
                                          <p:spTgt spid="4"/>
                                        </p:tgtEl>
                                        <p:attrNameLst>
                                          <p:attrName>ppt_x</p:attrName>
                                        </p:attrNameLst>
                                      </p:cBhvr>
                                      <p:tavLst>
                                        <p:tav tm="0">
                                          <p:val>
                                            <p:strVal val="#ppt_x"/>
                                          </p:val>
                                        </p:tav>
                                        <p:tav tm="100000">
                                          <p:val>
                                            <p:strVal val="#ppt_x"/>
                                          </p:val>
                                        </p:tav>
                                      </p:tavLst>
                                    </p:anim>
                                    <p:anim calcmode="lin" valueType="num">
                                      <p:cBhvr>
                                        <p:cTn id="71"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2" presetClass="entr" presetSubtype="4" fill="hold" grpId="0" nodeType="clickEffect">
                                  <p:stCondLst>
                                    <p:cond delay="0"/>
                                  </p:stCondLst>
                                  <p:childTnLst>
                                    <p:set>
                                      <p:cBhvr>
                                        <p:cTn id="75" dur="1" fill="hold">
                                          <p:stCondLst>
                                            <p:cond delay="0"/>
                                          </p:stCondLst>
                                        </p:cTn>
                                        <p:tgtEl>
                                          <p:spTgt spid="7"/>
                                        </p:tgtEl>
                                        <p:attrNameLst>
                                          <p:attrName>style.visibility</p:attrName>
                                        </p:attrNameLst>
                                      </p:cBhvr>
                                      <p:to>
                                        <p:strVal val="visible"/>
                                      </p:to>
                                    </p:set>
                                    <p:anim calcmode="lin" valueType="num">
                                      <p:cBhvr additive="base">
                                        <p:cTn id="76" dur="500" fill="hold"/>
                                        <p:tgtEl>
                                          <p:spTgt spid="7"/>
                                        </p:tgtEl>
                                        <p:attrNameLst>
                                          <p:attrName>ppt_x</p:attrName>
                                        </p:attrNameLst>
                                      </p:cBhvr>
                                      <p:tavLst>
                                        <p:tav tm="0">
                                          <p:val>
                                            <p:strVal val="#ppt_x"/>
                                          </p:val>
                                        </p:tav>
                                        <p:tav tm="100000">
                                          <p:val>
                                            <p:strVal val="#ppt_x"/>
                                          </p:val>
                                        </p:tav>
                                      </p:tavLst>
                                    </p:anim>
                                    <p:anim calcmode="lin" valueType="num">
                                      <p:cBhvr additive="base">
                                        <p:cTn id="77"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build="p"/>
      <p:bldP spid="3" grpId="1" build="p"/>
      <p:bldP spid="6" grpId="0"/>
      <p:bldP spid="6" grpId="1"/>
      <p:bldP spid="7" grpId="0"/>
      <p:bldP spid="7" grpId="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579870" y="1513840"/>
            <a:ext cx="4622165" cy="3830320"/>
          </a:xfrm>
        </p:spPr>
        <p:txBody>
          <a:bodyPr>
            <a:normAutofit/>
          </a:bodyPr>
          <a:p>
            <a:pPr algn="l"/>
            <a:r>
              <a:rPr lang="en-US" altLang="en-GB" sz="2000">
                <a:latin typeface="Calisto MT" panose="02040603050505030304" charset="0"/>
                <a:cs typeface="Calisto MT" panose="02040603050505030304" charset="0"/>
              </a:rPr>
              <a:t>We loaded a </a:t>
            </a:r>
            <a:r>
              <a:rPr lang="en-US" altLang="en-GB" sz="2000" b="1">
                <a:latin typeface="Calisto MT" panose="02040603050505030304" charset="0"/>
                <a:cs typeface="Calisto MT" panose="02040603050505030304" charset="0"/>
              </a:rPr>
              <a:t>fine-tuned Vision Transformer (ViT) </a:t>
            </a:r>
            <a:r>
              <a:rPr lang="en-US" altLang="en-GB" sz="2000">
                <a:latin typeface="Calisto MT" panose="02040603050505030304" charset="0"/>
                <a:cs typeface="Calisto MT" panose="02040603050505030304" charset="0"/>
              </a:rPr>
              <a:t>model to classify lung CT images into four categories. Validation images were </a:t>
            </a:r>
            <a:r>
              <a:rPr lang="en-US" altLang="en-GB" sz="2000" b="1">
                <a:latin typeface="Calisto MT" panose="02040603050505030304" charset="0"/>
                <a:cs typeface="Calisto MT" panose="02040603050505030304" charset="0"/>
              </a:rPr>
              <a:t>preprocessed using ViTFeatureExtractor</a:t>
            </a:r>
            <a:r>
              <a:rPr lang="en-US" altLang="en-GB" sz="2000">
                <a:latin typeface="Calisto MT" panose="02040603050505030304" charset="0"/>
                <a:cs typeface="Calisto MT" panose="02040603050505030304" charset="0"/>
              </a:rPr>
              <a:t>, and </a:t>
            </a:r>
            <a:r>
              <a:rPr lang="en-US" altLang="en-GB" sz="2000" b="1">
                <a:latin typeface="Calisto MT" panose="02040603050505030304" charset="0"/>
                <a:cs typeface="Calisto MT" panose="02040603050505030304" charset="0"/>
              </a:rPr>
              <a:t>predictions were generated on the validation set.</a:t>
            </a:r>
            <a:r>
              <a:rPr lang="en-US" altLang="en-GB" sz="2000">
                <a:latin typeface="Calisto MT" panose="02040603050505030304" charset="0"/>
                <a:cs typeface="Calisto MT" panose="02040603050505030304" charset="0"/>
              </a:rPr>
              <a:t> The results were used to compute and print detailed </a:t>
            </a:r>
            <a:r>
              <a:rPr lang="en-US" altLang="en-GB" sz="2000" b="1">
                <a:latin typeface="Calisto MT" panose="02040603050505030304" charset="0"/>
                <a:cs typeface="Calisto MT" panose="02040603050505030304" charset="0"/>
              </a:rPr>
              <a:t>evaluation metrics for performance assessment.</a:t>
            </a:r>
            <a:endParaRPr lang="en-US" altLang="en-GB" sz="2000" b="1">
              <a:latin typeface="Calisto MT" panose="02040603050505030304" charset="0"/>
              <a:cs typeface="Calisto MT" panose="02040603050505030304" charset="0"/>
            </a:endParaRPr>
          </a:p>
        </p:txBody>
      </p:sp>
      <p:pic>
        <p:nvPicPr>
          <p:cNvPr id="5" name="Content Placeholder 4"/>
          <p:cNvPicPr>
            <a:picLocks noChangeAspect="1"/>
          </p:cNvPicPr>
          <p:nvPr>
            <p:ph sz="half" idx="1"/>
          </p:nvPr>
        </p:nvPicPr>
        <p:blipFill>
          <a:blip r:embed="rId1"/>
          <a:stretch>
            <a:fillRect/>
          </a:stretch>
        </p:blipFill>
        <p:spPr>
          <a:xfrm>
            <a:off x="134620" y="654685"/>
            <a:ext cx="5961380" cy="2294890"/>
          </a:xfrm>
          <a:prstGeom prst="rect">
            <a:avLst/>
          </a:prstGeom>
        </p:spPr>
      </p:pic>
      <p:pic>
        <p:nvPicPr>
          <p:cNvPr id="7" name="Content Placeholder 6"/>
          <p:cNvPicPr>
            <a:picLocks noChangeAspect="1"/>
          </p:cNvPicPr>
          <p:nvPr>
            <p:ph sz="half" idx="2"/>
          </p:nvPr>
        </p:nvPicPr>
        <p:blipFill>
          <a:blip r:embed="rId2"/>
          <a:stretch>
            <a:fillRect/>
          </a:stretch>
        </p:blipFill>
        <p:spPr>
          <a:xfrm>
            <a:off x="147955" y="3827780"/>
            <a:ext cx="5948680" cy="2132965"/>
          </a:xfrm>
          <a:prstGeom prst="rect">
            <a:avLst/>
          </a:prstGeom>
        </p:spPr>
      </p:pic>
      <p:sp>
        <p:nvSpPr>
          <p:cNvPr id="8" name="Text Box 7"/>
          <p:cNvSpPr txBox="1"/>
          <p:nvPr/>
        </p:nvSpPr>
        <p:spPr>
          <a:xfrm>
            <a:off x="2714625" y="3143885"/>
            <a:ext cx="392430" cy="583565"/>
          </a:xfrm>
          <a:prstGeom prst="rect">
            <a:avLst/>
          </a:prstGeom>
          <a:noFill/>
        </p:spPr>
        <p:txBody>
          <a:bodyPr wrap="square" rtlCol="0" anchor="t">
            <a:spAutoFit/>
          </a:bodyPr>
          <a:p>
            <a:r>
              <a:rPr lang="en-GB" altLang="en-US" sz="3200">
                <a:latin typeface="Arial" panose="020B0604020202020204" pitchFamily="34" charset="0"/>
                <a:cs typeface="Arial" panose="020B0604020202020204" pitchFamily="34" charset="0"/>
              </a:rPr>
              <a:t>&amp;</a:t>
            </a:r>
            <a:endParaRPr lang="en-GB" altLang="en-US" sz="3200">
              <a:latin typeface="Arial" panose="020B0604020202020204" pitchFamily="34" charset="0"/>
              <a:cs typeface="Arial" panose="020B0604020202020204" pitchFamily="34" charset="0"/>
            </a:endParaRPr>
          </a:p>
        </p:txBody>
      </p:sp>
      <p:sp>
        <p:nvSpPr>
          <p:cNvPr id="9" name="Text Box 8"/>
          <p:cNvSpPr txBox="1"/>
          <p:nvPr/>
        </p:nvSpPr>
        <p:spPr>
          <a:xfrm>
            <a:off x="947420" y="6151880"/>
            <a:ext cx="4064000" cy="368300"/>
          </a:xfrm>
          <a:prstGeom prst="rect">
            <a:avLst/>
          </a:prstGeom>
          <a:noFill/>
        </p:spPr>
        <p:txBody>
          <a:bodyPr wrap="square" rtlCol="0">
            <a:spAutoFit/>
          </a:bodyPr>
          <a:p>
            <a:pPr algn="ctr"/>
            <a:r>
              <a:rPr lang="en-US" altLang="en-GB" b="1"/>
              <a:t>Pseudo Code of the above process</a:t>
            </a:r>
            <a:endParaRPr lang="en-US" altLang="en-GB" b="1"/>
          </a:p>
        </p:txBody>
      </p:sp>
      <p:sp>
        <p:nvSpPr>
          <p:cNvPr id="3" name="Text Box 2"/>
          <p:cNvSpPr txBox="1"/>
          <p:nvPr/>
        </p:nvSpPr>
        <p:spPr>
          <a:xfrm>
            <a:off x="0" y="0"/>
            <a:ext cx="12516485" cy="460375"/>
          </a:xfrm>
          <a:prstGeom prst="rect">
            <a:avLst/>
          </a:prstGeom>
          <a:noFill/>
        </p:spPr>
        <p:txBody>
          <a:bodyPr wrap="square" rtlCol="0">
            <a:spAutoFit/>
          </a:bodyPr>
          <a:p>
            <a:r>
              <a:rPr lang="en-US" altLang="en-GB" sz="2400" b="1">
                <a:latin typeface="Bodoni MT" panose="02070603080606020203" charset="0"/>
                <a:cs typeface="Bodoni MT" panose="02070603080606020203" charset="0"/>
                <a:sym typeface="+mn-ea"/>
              </a:rPr>
              <a:t>Evaluation of Fine-Tuned Vision Transformer (ViT) for Lung Image Classification:</a:t>
            </a:r>
            <a:endParaRPr lang="en-GB" altLang="en-US" sz="2400">
              <a:latin typeface="Bodoni MT" panose="02070603080606020203" charset="0"/>
              <a:cs typeface="Bodoni MT" panose="02070603080606020203" charset="0"/>
            </a:endParaRPr>
          </a:p>
        </p:txBody>
      </p:sp>
    </p:spTree>
  </p:cSld>
  <p:clrMapOvr>
    <a:masterClrMapping/>
  </p:clrMapOvr>
  <mc:AlternateContent xmlns:mc="http://schemas.openxmlformats.org/markup-compatibility/2006">
    <mc:Choice xmlns:p14="http://schemas.microsoft.com/office/powerpoint/2010/main" Requires="p14">
      <p:transition spd="slow" p14:dur="1000">
        <p:wedge/>
      </p:transition>
    </mc:Choice>
    <mc:Fallback>
      <p:transition spd="slow">
        <p:wedg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4"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 to="" calcmode="lin" valueType="num">
                                      <p:cBhvr>
                                        <p:cTn id="12" dur="1" fill="hold"/>
                                        <p:tgtEl>
                                          <p:spTgt spid="5"/>
                                        </p:tgtEl>
                                      </p:cBhvr>
                                    </p:anim>
                                  </p:childTnLst>
                                </p:cTn>
                              </p:par>
                            </p:childTnLst>
                          </p:cTn>
                        </p:par>
                      </p:childTnLst>
                    </p:cTn>
                  </p:par>
                  <p:par>
                    <p:cTn id="13" fill="hold">
                      <p:stCondLst>
                        <p:cond delay="indefinite"/>
                      </p:stCondLst>
                      <p:childTnLst>
                        <p:par>
                          <p:cTn id="14" fill="hold">
                            <p:stCondLst>
                              <p:cond delay="0"/>
                            </p:stCondLst>
                            <p:childTnLst>
                              <p:par>
                                <p:cTn id="15" presetID="24"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 to="" calcmode="lin" valueType="num">
                                      <p:cBhvr>
                                        <p:cTn id="17" dur="1" fill="hold"/>
                                        <p:tgtEl>
                                          <p:spTgt spid="8"/>
                                        </p:tgtEl>
                                      </p:cBhvr>
                                    </p:anim>
                                  </p:childTnLst>
                                </p:cTn>
                              </p:par>
                            </p:childTnLst>
                          </p:cTn>
                        </p:par>
                      </p:childTnLst>
                    </p:cTn>
                  </p:par>
                  <p:par>
                    <p:cTn id="18" fill="hold">
                      <p:stCondLst>
                        <p:cond delay="indefinite"/>
                      </p:stCondLst>
                      <p:childTnLst>
                        <p:par>
                          <p:cTn id="19" fill="hold">
                            <p:stCondLst>
                              <p:cond delay="0"/>
                            </p:stCondLst>
                            <p:childTnLst>
                              <p:par>
                                <p:cTn id="20" presetID="24" presetClass="entr" presetSubtype="0" fill="hold" nodeType="clickEffect">
                                  <p:stCondLst>
                                    <p:cond delay="0"/>
                                  </p:stCondLst>
                                  <p:childTnLst>
                                    <p:set>
                                      <p:cBhvr>
                                        <p:cTn id="21" dur="1" fill="hold">
                                          <p:stCondLst>
                                            <p:cond delay="0"/>
                                          </p:stCondLst>
                                        </p:cTn>
                                        <p:tgtEl>
                                          <p:spTgt spid="7"/>
                                        </p:tgtEl>
                                        <p:attrNameLst>
                                          <p:attrName>style.visibility</p:attrName>
                                        </p:attrNameLst>
                                      </p:cBhvr>
                                      <p:to>
                                        <p:strVal val="visible"/>
                                      </p:to>
                                    </p:set>
                                    <p:anim to="" calcmode="lin" valueType="num">
                                      <p:cBhvr>
                                        <p:cTn id="22" dur="1" fill="hold"/>
                                        <p:tgtEl>
                                          <p:spTgt spid="7"/>
                                        </p:tgtEl>
                                      </p:cBhvr>
                                    </p:anim>
                                  </p:childTnLst>
                                </p:cTn>
                              </p:par>
                            </p:childTnLst>
                          </p:cTn>
                        </p:par>
                      </p:childTnLst>
                    </p:cTn>
                  </p:par>
                  <p:par>
                    <p:cTn id="23" fill="hold">
                      <p:stCondLst>
                        <p:cond delay="indefinite"/>
                      </p:stCondLst>
                      <p:childTnLst>
                        <p:par>
                          <p:cTn id="24" fill="hold">
                            <p:stCondLst>
                              <p:cond delay="0"/>
                            </p:stCondLst>
                            <p:childTnLst>
                              <p:par>
                                <p:cTn id="25" presetID="24"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 to="" calcmode="lin" valueType="num">
                                      <p:cBhvr>
                                        <p:cTn id="27" dur="1" fill="hold"/>
                                        <p:tgtEl>
                                          <p:spTgt spid="9"/>
                                        </p:tgtEl>
                                      </p:cBhvr>
                                    </p:anim>
                                  </p:childTnLst>
                                </p:cTn>
                              </p:par>
                            </p:childTnLst>
                          </p:cTn>
                        </p:par>
                      </p:childTnLst>
                    </p:cTn>
                  </p:par>
                  <p:par>
                    <p:cTn id="28" fill="hold">
                      <p:stCondLst>
                        <p:cond delay="indefinite"/>
                      </p:stCondLst>
                      <p:childTnLst>
                        <p:par>
                          <p:cTn id="29" fill="hold">
                            <p:stCondLst>
                              <p:cond delay="0"/>
                            </p:stCondLst>
                            <p:childTnLst>
                              <p:par>
                                <p:cTn id="30" presetID="16" presetClass="entr" presetSubtype="21"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barn(inVertical)">
                                      <p:cBhvr>
                                        <p:cTn id="3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8" grpId="0"/>
      <p:bldP spid="8" grpId="1"/>
      <p:bldP spid="9" grpId="0"/>
      <p:bldP spid="9" grpId="1"/>
      <p:bldP spid="2" grpId="0"/>
      <p:bldP spid="2" grpId="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5661025"/>
            <a:ext cx="12192000" cy="1155065"/>
          </a:xfrm>
        </p:spPr>
        <p:txBody>
          <a:bodyPr>
            <a:normAutofit/>
          </a:bodyPr>
          <a:p>
            <a:r>
              <a:rPr lang="en-US" altLang="en-GB" sz="1780"/>
              <a:t>This code fine-tunes a pretrained ViT model to </a:t>
            </a:r>
            <a:r>
              <a:rPr lang="en-US" altLang="en-GB" sz="1780" b="1"/>
              <a:t>classify lung CT images</a:t>
            </a:r>
            <a:r>
              <a:rPr lang="en-US" altLang="en-GB" sz="1780"/>
              <a:t> into four categories using </a:t>
            </a:r>
            <a:r>
              <a:rPr lang="en-US" altLang="en-GB" sz="1780" b="1"/>
              <a:t>ViTImageProcessor</a:t>
            </a:r>
            <a:r>
              <a:rPr lang="en-US" altLang="en-GB" sz="1780"/>
              <a:t> for preprocessing. Training includes </a:t>
            </a:r>
            <a:r>
              <a:rPr lang="en-US" altLang="en-GB" sz="1780" b="1"/>
              <a:t>early stopping</a:t>
            </a:r>
            <a:r>
              <a:rPr lang="en-US" altLang="en-GB" sz="1780"/>
              <a:t> and </a:t>
            </a:r>
            <a:r>
              <a:rPr lang="en-US" altLang="en-GB" sz="1780" b="1"/>
              <a:t>saving the best weights.</a:t>
            </a:r>
            <a:r>
              <a:rPr lang="en-US" altLang="en-GB" sz="1780"/>
              <a:t> After training, the model is evaluated using </a:t>
            </a:r>
            <a:r>
              <a:rPr lang="en-US" altLang="en-GB" sz="1780" b="1"/>
              <a:t>accuracy, classification report, and confusion matrix</a:t>
            </a:r>
            <a:r>
              <a:rPr lang="en-US" altLang="en-GB" sz="1780"/>
              <a:t>, with all results saved for analysis.</a:t>
            </a:r>
            <a:endParaRPr lang="en-US" altLang="en-GB" sz="1780"/>
          </a:p>
        </p:txBody>
      </p:sp>
      <p:pic>
        <p:nvPicPr>
          <p:cNvPr id="5" name="Content Placeholder 4"/>
          <p:cNvPicPr>
            <a:picLocks noChangeAspect="1"/>
          </p:cNvPicPr>
          <p:nvPr>
            <p:ph sz="half" idx="1"/>
          </p:nvPr>
        </p:nvPicPr>
        <p:blipFill>
          <a:blip r:embed="rId1"/>
          <a:stretch>
            <a:fillRect/>
          </a:stretch>
        </p:blipFill>
        <p:spPr>
          <a:xfrm>
            <a:off x="68580" y="621665"/>
            <a:ext cx="3377565" cy="4671060"/>
          </a:xfrm>
          <a:prstGeom prst="rect">
            <a:avLst/>
          </a:prstGeom>
        </p:spPr>
      </p:pic>
      <p:pic>
        <p:nvPicPr>
          <p:cNvPr id="6" name="Content Placeholder 5"/>
          <p:cNvPicPr>
            <a:picLocks noChangeAspect="1"/>
          </p:cNvPicPr>
          <p:nvPr>
            <p:ph sz="half" idx="2"/>
          </p:nvPr>
        </p:nvPicPr>
        <p:blipFill>
          <a:blip r:embed="rId2"/>
          <a:stretch>
            <a:fillRect/>
          </a:stretch>
        </p:blipFill>
        <p:spPr>
          <a:xfrm>
            <a:off x="4105275" y="621665"/>
            <a:ext cx="3510280" cy="4671060"/>
          </a:xfrm>
          <a:prstGeom prst="rect">
            <a:avLst/>
          </a:prstGeom>
        </p:spPr>
      </p:pic>
      <p:sp>
        <p:nvSpPr>
          <p:cNvPr id="7" name="Text Box 6"/>
          <p:cNvSpPr txBox="1"/>
          <p:nvPr/>
        </p:nvSpPr>
        <p:spPr>
          <a:xfrm>
            <a:off x="3533775" y="2303780"/>
            <a:ext cx="527685" cy="583565"/>
          </a:xfrm>
          <a:prstGeom prst="rect">
            <a:avLst/>
          </a:prstGeom>
          <a:noFill/>
        </p:spPr>
        <p:txBody>
          <a:bodyPr wrap="square" rtlCol="0" anchor="t">
            <a:spAutoFit/>
          </a:bodyPr>
          <a:p>
            <a:r>
              <a:rPr lang="en-GB" altLang="en-US" sz="3200">
                <a:latin typeface="Arial" panose="020B0604020202020204" pitchFamily="34" charset="0"/>
                <a:cs typeface="Arial" panose="020B0604020202020204" pitchFamily="34" charset="0"/>
              </a:rPr>
              <a:t>&amp;</a:t>
            </a:r>
            <a:endParaRPr lang="en-GB" altLang="en-US" sz="3200">
              <a:latin typeface="Arial" panose="020B0604020202020204" pitchFamily="34" charset="0"/>
              <a:cs typeface="Arial" panose="020B0604020202020204" pitchFamily="34" charset="0"/>
            </a:endParaRPr>
          </a:p>
        </p:txBody>
      </p:sp>
      <p:sp>
        <p:nvSpPr>
          <p:cNvPr id="8" name="Text Box 7"/>
          <p:cNvSpPr txBox="1"/>
          <p:nvPr/>
        </p:nvSpPr>
        <p:spPr>
          <a:xfrm>
            <a:off x="1998980" y="5292725"/>
            <a:ext cx="4064000" cy="368300"/>
          </a:xfrm>
          <a:prstGeom prst="rect">
            <a:avLst/>
          </a:prstGeom>
          <a:noFill/>
        </p:spPr>
        <p:txBody>
          <a:bodyPr wrap="square" rtlCol="0">
            <a:spAutoFit/>
          </a:bodyPr>
          <a:p>
            <a:pPr algn="ctr"/>
            <a:r>
              <a:rPr lang="en-US" altLang="en-GB" b="1"/>
              <a:t>Code Snippet for the above</a:t>
            </a:r>
            <a:endParaRPr lang="en-US" altLang="en-GB" b="1"/>
          </a:p>
        </p:txBody>
      </p:sp>
      <p:pic>
        <p:nvPicPr>
          <p:cNvPr id="9" name="Picture 8"/>
          <p:cNvPicPr>
            <a:picLocks noChangeAspect="1"/>
          </p:cNvPicPr>
          <p:nvPr/>
        </p:nvPicPr>
        <p:blipFill>
          <a:blip r:embed="rId3"/>
          <a:stretch>
            <a:fillRect/>
          </a:stretch>
        </p:blipFill>
        <p:spPr>
          <a:xfrm>
            <a:off x="8362950" y="621665"/>
            <a:ext cx="3684270" cy="3518535"/>
          </a:xfrm>
          <a:prstGeom prst="rect">
            <a:avLst/>
          </a:prstGeom>
        </p:spPr>
      </p:pic>
      <p:sp>
        <p:nvSpPr>
          <p:cNvPr id="10" name="Text Box 9"/>
          <p:cNvSpPr txBox="1"/>
          <p:nvPr>
            <p:custDataLst>
              <p:tags r:id="rId4"/>
            </p:custDataLst>
          </p:nvPr>
        </p:nvSpPr>
        <p:spPr>
          <a:xfrm>
            <a:off x="8372475" y="4197985"/>
            <a:ext cx="3675380" cy="922020"/>
          </a:xfrm>
          <a:prstGeom prst="rect">
            <a:avLst/>
          </a:prstGeom>
          <a:noFill/>
        </p:spPr>
        <p:txBody>
          <a:bodyPr wrap="square" rtlCol="0">
            <a:spAutoFit/>
          </a:bodyPr>
          <a:p>
            <a:pPr algn="ctr"/>
            <a:r>
              <a:rPr lang="en-US" altLang="en-GB" b="1"/>
              <a:t>Training till 10 epochs</a:t>
            </a:r>
            <a:endParaRPr lang="en-US" altLang="en-GB" b="1"/>
          </a:p>
          <a:p>
            <a:pPr algn="ctr"/>
            <a:r>
              <a:rPr lang="en-US" altLang="en-GB" b="1"/>
              <a:t>(note that after 6 epochs the accuracy remains the same)</a:t>
            </a:r>
            <a:endParaRPr lang="en-US" altLang="en-GB" b="1"/>
          </a:p>
        </p:txBody>
      </p:sp>
      <p:sp>
        <p:nvSpPr>
          <p:cNvPr id="11" name="Text Box 10"/>
          <p:cNvSpPr txBox="1"/>
          <p:nvPr/>
        </p:nvSpPr>
        <p:spPr>
          <a:xfrm>
            <a:off x="7659370" y="1997710"/>
            <a:ext cx="713105" cy="583565"/>
          </a:xfrm>
          <a:prstGeom prst="rect">
            <a:avLst/>
          </a:prstGeom>
          <a:noFill/>
        </p:spPr>
        <p:txBody>
          <a:bodyPr wrap="squar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7" name="Text Box 16"/>
          <p:cNvSpPr txBox="1"/>
          <p:nvPr/>
        </p:nvSpPr>
        <p:spPr>
          <a:xfrm>
            <a:off x="11181080" y="3373755"/>
            <a:ext cx="297180" cy="716915"/>
          </a:xfrm>
          <a:prstGeom prst="rect">
            <a:avLst/>
          </a:prstGeom>
          <a:noFill/>
        </p:spPr>
        <p:txBody>
          <a:bodyPr wrap="none" rtlCol="0" anchor="t">
            <a:noAutofit/>
          </a:bodyPr>
          <a:p>
            <a:endParaRPr lang="en-GB" altLang="en-US" sz="2400">
              <a:latin typeface="Arial" panose="020B0604020202020204" pitchFamily="34" charset="0"/>
              <a:cs typeface="Arial" panose="020B0604020202020204" pitchFamily="34" charset="0"/>
            </a:endParaRPr>
          </a:p>
        </p:txBody>
      </p:sp>
      <p:sp>
        <p:nvSpPr>
          <p:cNvPr id="3" name="Text Box 2"/>
          <p:cNvSpPr txBox="1"/>
          <p:nvPr/>
        </p:nvSpPr>
        <p:spPr>
          <a:xfrm>
            <a:off x="0" y="0"/>
            <a:ext cx="11947525" cy="460375"/>
          </a:xfrm>
          <a:prstGeom prst="rect">
            <a:avLst/>
          </a:prstGeom>
          <a:noFill/>
        </p:spPr>
        <p:txBody>
          <a:bodyPr wrap="square" rtlCol="0">
            <a:spAutoFit/>
          </a:bodyPr>
          <a:p>
            <a:r>
              <a:rPr lang="en-US" altLang="en-GB" sz="2400" b="1">
                <a:latin typeface="Bodoni MT" panose="02070603080606020203" charset="0"/>
                <a:cs typeface="Bodoni MT" panose="02070603080606020203" charset="0"/>
                <a:sym typeface="+mn-ea"/>
              </a:rPr>
              <a:t>Fine-Tuning Vision Transformer (ViT) for Lung Image Classification with Early Stopping:</a:t>
            </a:r>
            <a:endParaRPr lang="en-GB" altLang="en-US" sz="2400">
              <a:latin typeface="Bodoni MT" panose="02070603080606020203" charset="0"/>
              <a:cs typeface="Bodoni MT" panose="02070603080606020203" charset="0"/>
            </a:endParaRPr>
          </a:p>
        </p:txBody>
      </p:sp>
    </p:spTree>
  </p:cSld>
  <p:clrMapOvr>
    <a:masterClrMapping/>
  </p:clrMapOvr>
  <mc:AlternateContent xmlns:mc="http://schemas.openxmlformats.org/markup-compatibility/2006">
    <mc:Choice xmlns:p14="http://schemas.microsoft.com/office/powerpoint/2010/main" Requires="p14">
      <p:transition spd="slow" p14:dur="1200">
        <p:dissolve/>
      </p:transition>
    </mc:Choice>
    <mc:Fallback>
      <p:transition spd="slow">
        <p:dissolv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heel(1)">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p:tgtEl>
                                          <p:spTgt spid="7"/>
                                        </p:tgtEl>
                                        <p:attrNameLst>
                                          <p:attrName>ppt_y</p:attrName>
                                        </p:attrNameLst>
                                      </p:cBhvr>
                                      <p:tavLst>
                                        <p:tav tm="0">
                                          <p:val>
                                            <p:strVal val="#ppt_y+#ppt_h*1.125000"/>
                                          </p:val>
                                        </p:tav>
                                        <p:tav tm="100000">
                                          <p:val>
                                            <p:strVal val="#ppt_y"/>
                                          </p:val>
                                        </p:tav>
                                      </p:tavLst>
                                    </p:anim>
                                    <p:animEffect transition="in" filter="wipe(up)">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20"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edge">
                                      <p:cBhvr>
                                        <p:cTn id="23" dur="20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40" presetClass="entr" presetSubtype="0" fill="hold" grpId="0" nodeType="clickEffect">
                                  <p:stCondLst>
                                    <p:cond delay="0"/>
                                  </p:stCondLst>
                                  <p:iterate type="lt">
                                    <p:tmPct val="10000"/>
                                  </p:iterate>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1"/>
                                          </p:val>
                                        </p:tav>
                                        <p:tav tm="100000">
                                          <p:val>
                                            <p:strVal val="#ppt_x"/>
                                          </p:val>
                                        </p:tav>
                                      </p:tavLst>
                                    </p:anim>
                                    <p:anim calcmode="lin" valueType="num">
                                      <p:cBhvr>
                                        <p:cTn id="30" dur="10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extLst>
                                      <p:ext uri="{505F2C04-C923-438B-8C0F-E0CD2BADF298}">
                                        <wppc:dynamicDigit xmlns:wppc="http://www.wps.cn/officeDocument/PresentationCustomData" type="0">
                                          <p:anim to="" calcmode="lin" valueType="num">
                                            <p:cBhvr>
                                              <p:cTn id="40" dur="1000" fill="hold"/>
                                              <p:tgtEl>
                                                <p:spTgt spid="10"/>
                                              </p:tgtEl>
                                              <p:attrNameLst>
                                                <p:attrName>num.show</p:attrName>
                                              </p:attrNameLst>
                                            </p:cBhvr>
                                            <p:tavLst>
                                              <p:tav tm="0">
                                                <p:val>
                                                  <p:fltVal val="0"/>
                                                </p:val>
                                              </p:tav>
                                              <p:tav tm="100000">
                                                <p:val>
                                                  <p:strVal val="#ppt_v"/>
                                                </p:val>
                                              </p:tav>
                                            </p:tavLst>
                                          </p:anim>
                                        </wppc:dynamicDigit>
                                      </p:ext>
                                    </p:extLst>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8"/>
                                        </p:tgtEl>
                                        <p:attrNameLst>
                                          <p:attrName>style.visibility</p:attrName>
                                        </p:attrNameLst>
                                      </p:cBhvr>
                                      <p:to>
                                        <p:strVal val="visible"/>
                                      </p:to>
                                    </p:set>
                                    <p:anim calcmode="lin" valueType="num">
                                      <p:cBhvr additive="base">
                                        <p:cTn id="45" dur="500" fill="hold"/>
                                        <p:tgtEl>
                                          <p:spTgt spid="8"/>
                                        </p:tgtEl>
                                        <p:attrNameLst>
                                          <p:attrName>ppt_x</p:attrName>
                                        </p:attrNameLst>
                                      </p:cBhvr>
                                      <p:tavLst>
                                        <p:tav tm="0">
                                          <p:val>
                                            <p:strVal val="#ppt_x"/>
                                          </p:val>
                                        </p:tav>
                                        <p:tav tm="100000">
                                          <p:val>
                                            <p:strVal val="#ppt_x"/>
                                          </p:val>
                                        </p:tav>
                                      </p:tavLst>
                                    </p:anim>
                                    <p:anim calcmode="lin" valueType="num">
                                      <p:cBhvr additive="base">
                                        <p:cTn id="4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3" presetClass="entr" presetSubtype="0" fill="hold" grpId="0" nodeType="clickEffect">
                                  <p:stCondLst>
                                    <p:cond delay="0"/>
                                  </p:stCondLst>
                                  <p:childTnLst>
                                    <p:set>
                                      <p:cBhvr>
                                        <p:cTn id="50" dur="1" fill="hold">
                                          <p:stCondLst>
                                            <p:cond delay="0"/>
                                          </p:stCondLst>
                                        </p:cTn>
                                        <p:tgtEl>
                                          <p:spTgt spid="2"/>
                                        </p:tgtEl>
                                        <p:attrNameLst>
                                          <p:attrName>style.visibility</p:attrName>
                                        </p:attrNameLst>
                                      </p:cBhvr>
                                      <p:to>
                                        <p:strVal val="visible"/>
                                      </p:to>
                                    </p:set>
                                    <p:animEffect transition="in" filter="fade">
                                      <p:cBhvr>
                                        <p:cTn id="51" dur="100"/>
                                        <p:tgtEl>
                                          <p:spTgt spid="2"/>
                                        </p:tgtEl>
                                      </p:cBhvr>
                                    </p:animEffect>
                                    <p:anim calcmode="lin" valueType="num">
                                      <p:cBhvr>
                                        <p:cTn id="52" dur="400" fill="hold"/>
                                        <p:tgtEl>
                                          <p:spTgt spid="2"/>
                                        </p:tgtEl>
                                        <p:attrNameLst>
                                          <p:attrName>ppt_x</p:attrName>
                                        </p:attrNameLst>
                                      </p:cBhvr>
                                      <p:tavLst>
                                        <p:tav tm="0">
                                          <p:val>
                                            <p:strVal val="#ppt_x"/>
                                          </p:val>
                                        </p:tav>
                                        <p:tav tm="100000">
                                          <p:val>
                                            <p:strVal val="#ppt_x"/>
                                          </p:val>
                                        </p:tav>
                                      </p:tavLst>
                                    </p:anim>
                                    <p:anim calcmode="lin" valueType="num">
                                      <p:cBhvr>
                                        <p:cTn id="53" dur="400" fill="hold"/>
                                        <p:tgtEl>
                                          <p:spTgt spid="2"/>
                                        </p:tgtEl>
                                        <p:attrNameLst>
                                          <p:attrName>ppt_y</p:attrName>
                                        </p:attrNameLst>
                                      </p:cBhvr>
                                      <p:tavLst>
                                        <p:tav tm="0">
                                          <p:val>
                                            <p:strVal val="#ppt_y+0.31"/>
                                          </p:val>
                                        </p:tav>
                                        <p:tav tm="100000">
                                          <p:val>
                                            <p:strVal val="#ppt_y+0.31"/>
                                          </p:val>
                                        </p:tav>
                                      </p:tavLst>
                                    </p:anim>
                                    <p:anim calcmode="lin" valueType="num">
                                      <p:cBhvr>
                                        <p:cTn id="54" dur="600" decel="50000" fill="hold">
                                          <p:stCondLst>
                                            <p:cond delay="400"/>
                                          </p:stCondLst>
                                        </p:cTn>
                                        <p:tgtEl>
                                          <p:spTgt spid="2"/>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55" dur="600" decel="50000" fill="hold">
                                          <p:stCondLst>
                                            <p:cond delay="400"/>
                                          </p:stCondLst>
                                        </p:cTn>
                                        <p:tgtEl>
                                          <p:spTgt spid="2"/>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7" grpId="0"/>
      <p:bldP spid="7" grpId="1"/>
      <p:bldP spid="11" grpId="0"/>
      <p:bldP spid="11" grpId="1"/>
      <p:bldP spid="10" grpId="0"/>
      <p:bldP spid="10" grpId="1"/>
      <p:bldP spid="8" grpId="0"/>
      <p:bldP spid="8" grpId="1"/>
      <p:bldP spid="2" grpId="0"/>
      <p:bldP spid="2" grpId="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p:cNvPicPr>
            <a:picLocks noChangeAspect="1"/>
          </p:cNvPicPr>
          <p:nvPr/>
        </p:nvPicPr>
        <p:blipFill>
          <a:blip r:embed="rId1"/>
          <a:stretch>
            <a:fillRect/>
          </a:stretch>
        </p:blipFill>
        <p:spPr>
          <a:xfrm>
            <a:off x="316865" y="180340"/>
            <a:ext cx="4798060" cy="2195830"/>
          </a:xfrm>
          <a:prstGeom prst="rect">
            <a:avLst/>
          </a:prstGeom>
        </p:spPr>
      </p:pic>
      <p:sp>
        <p:nvSpPr>
          <p:cNvPr id="13" name="Text Box 12"/>
          <p:cNvSpPr txBox="1"/>
          <p:nvPr/>
        </p:nvSpPr>
        <p:spPr>
          <a:xfrm>
            <a:off x="866775" y="2376170"/>
            <a:ext cx="3460115" cy="368300"/>
          </a:xfrm>
          <a:prstGeom prst="rect">
            <a:avLst/>
          </a:prstGeom>
          <a:noFill/>
        </p:spPr>
        <p:txBody>
          <a:bodyPr wrap="square" rtlCol="0">
            <a:spAutoFit/>
          </a:bodyPr>
          <a:p>
            <a:pPr algn="ctr"/>
            <a:r>
              <a:rPr lang="en-US" altLang="en-GB" b="1"/>
              <a:t>Evaluation Metrics Calculated</a:t>
            </a:r>
            <a:endParaRPr lang="en-US" altLang="en-GB" b="1"/>
          </a:p>
        </p:txBody>
      </p:sp>
      <p:pic>
        <p:nvPicPr>
          <p:cNvPr id="15" name="Picture 14"/>
          <p:cNvPicPr>
            <a:picLocks noChangeAspect="1"/>
          </p:cNvPicPr>
          <p:nvPr/>
        </p:nvPicPr>
        <p:blipFill>
          <a:blip r:embed="rId2"/>
          <a:stretch>
            <a:fillRect/>
          </a:stretch>
        </p:blipFill>
        <p:spPr>
          <a:xfrm>
            <a:off x="6904355" y="71755"/>
            <a:ext cx="4500245" cy="2732405"/>
          </a:xfrm>
          <a:prstGeom prst="rect">
            <a:avLst/>
          </a:prstGeom>
          <a:ln w="19050" cmpd="sng">
            <a:solidFill>
              <a:schemeClr val="tx1"/>
            </a:solidFill>
            <a:prstDash val="solid"/>
          </a:ln>
        </p:spPr>
      </p:pic>
      <p:sp>
        <p:nvSpPr>
          <p:cNvPr id="16" name="Text Box 15"/>
          <p:cNvSpPr txBox="1"/>
          <p:nvPr/>
        </p:nvSpPr>
        <p:spPr>
          <a:xfrm>
            <a:off x="7628890" y="2804160"/>
            <a:ext cx="2715260" cy="368300"/>
          </a:xfrm>
          <a:prstGeom prst="rect">
            <a:avLst/>
          </a:prstGeom>
          <a:noFill/>
        </p:spPr>
        <p:txBody>
          <a:bodyPr wrap="square" rtlCol="0">
            <a:spAutoFit/>
          </a:bodyPr>
          <a:p>
            <a:pPr algn="ctr"/>
            <a:r>
              <a:rPr lang="en-US" altLang="en-GB" b="1"/>
              <a:t>Confusion Matrix</a:t>
            </a:r>
            <a:endParaRPr lang="en-US" altLang="en-GB" b="1"/>
          </a:p>
        </p:txBody>
      </p:sp>
      <p:pic>
        <p:nvPicPr>
          <p:cNvPr id="18" name="Picture 17"/>
          <p:cNvPicPr>
            <a:picLocks noChangeAspect="1"/>
          </p:cNvPicPr>
          <p:nvPr/>
        </p:nvPicPr>
        <p:blipFill>
          <a:blip r:embed="rId3"/>
          <a:stretch>
            <a:fillRect/>
          </a:stretch>
        </p:blipFill>
        <p:spPr>
          <a:xfrm>
            <a:off x="6765925" y="3673475"/>
            <a:ext cx="4287520" cy="2578735"/>
          </a:xfrm>
          <a:prstGeom prst="rect">
            <a:avLst/>
          </a:prstGeom>
          <a:ln w="28575" cmpd="sng">
            <a:solidFill>
              <a:schemeClr val="tx1"/>
            </a:solidFill>
            <a:prstDash val="solid"/>
          </a:ln>
        </p:spPr>
      </p:pic>
      <p:sp>
        <p:nvSpPr>
          <p:cNvPr id="19" name="Text Box 18"/>
          <p:cNvSpPr txBox="1"/>
          <p:nvPr/>
        </p:nvSpPr>
        <p:spPr>
          <a:xfrm>
            <a:off x="7158990" y="6354445"/>
            <a:ext cx="3654425" cy="503555"/>
          </a:xfrm>
          <a:prstGeom prst="rect">
            <a:avLst/>
          </a:prstGeom>
          <a:noFill/>
        </p:spPr>
        <p:txBody>
          <a:bodyPr wrap="square" rtlCol="0">
            <a:noAutofit/>
          </a:bodyPr>
          <a:p>
            <a:pPr algn="ctr"/>
            <a:r>
              <a:rPr lang="en-US" altLang="en-GB" b="1"/>
              <a:t>Graph of Training vs Validation Loss</a:t>
            </a:r>
            <a:endParaRPr lang="en-US" altLang="en-GB" b="1"/>
          </a:p>
        </p:txBody>
      </p:sp>
      <p:pic>
        <p:nvPicPr>
          <p:cNvPr id="21" name="Picture 20"/>
          <p:cNvPicPr>
            <a:picLocks noChangeAspect="1"/>
          </p:cNvPicPr>
          <p:nvPr/>
        </p:nvPicPr>
        <p:blipFill>
          <a:blip r:embed="rId4"/>
          <a:stretch>
            <a:fillRect/>
          </a:stretch>
        </p:blipFill>
        <p:spPr>
          <a:xfrm>
            <a:off x="866775" y="3172460"/>
            <a:ext cx="3578225" cy="2783840"/>
          </a:xfrm>
          <a:prstGeom prst="rect">
            <a:avLst/>
          </a:prstGeom>
          <a:ln w="28575" cmpd="thickThin">
            <a:solidFill>
              <a:schemeClr val="tx1"/>
            </a:solidFill>
            <a:prstDash val="solid"/>
          </a:ln>
        </p:spPr>
      </p:pic>
      <p:sp>
        <p:nvSpPr>
          <p:cNvPr id="22" name="Text Box 21"/>
          <p:cNvSpPr txBox="1"/>
          <p:nvPr/>
        </p:nvSpPr>
        <p:spPr>
          <a:xfrm>
            <a:off x="1118870" y="6063615"/>
            <a:ext cx="3019425" cy="645160"/>
          </a:xfrm>
          <a:prstGeom prst="rect">
            <a:avLst/>
          </a:prstGeom>
          <a:noFill/>
        </p:spPr>
        <p:txBody>
          <a:bodyPr wrap="square" rtlCol="0">
            <a:spAutoFit/>
          </a:bodyPr>
          <a:p>
            <a:pPr algn="ctr"/>
            <a:r>
              <a:rPr lang="en-US" altLang="en-GB" b="1"/>
              <a:t>Graph of Validation Accuracy per Epoch</a:t>
            </a:r>
            <a:endParaRPr lang="en-US" altLang="en-GB" b="1"/>
          </a:p>
        </p:txBody>
      </p:sp>
      <p:sp>
        <p:nvSpPr>
          <p:cNvPr id="17" name="Text Box 16"/>
          <p:cNvSpPr txBox="1"/>
          <p:nvPr/>
        </p:nvSpPr>
        <p:spPr>
          <a:xfrm>
            <a:off x="5842000" y="1094105"/>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20" name="Text Box 19"/>
          <p:cNvSpPr txBox="1"/>
          <p:nvPr/>
        </p:nvSpPr>
        <p:spPr>
          <a:xfrm>
            <a:off x="8791575" y="2987675"/>
            <a:ext cx="3860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23" name="Text Box 22"/>
          <p:cNvSpPr txBox="1"/>
          <p:nvPr/>
        </p:nvSpPr>
        <p:spPr>
          <a:xfrm>
            <a:off x="5311140" y="4495165"/>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med" p14:dur="750">
        <p:newsflash/>
      </p:transition>
    </mc:Choice>
    <mc:Fallback>
      <p:transition spd="med">
        <p:newsflash/>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1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strVal val="#ppt_h"/>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9"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 calcmode="lin" valueType="num">
                                      <p:cBhvr>
                                        <p:cTn id="13" dur="1000" fill="hold"/>
                                        <p:tgtEl>
                                          <p:spTgt spid="13"/>
                                        </p:tgtEl>
                                        <p:attrNameLst>
                                          <p:attrName>ppt_x</p:attrName>
                                        </p:attrNameLst>
                                      </p:cBhvr>
                                      <p:tavLst>
                                        <p:tav tm="0">
                                          <p:val>
                                            <p:strVal val="#ppt_x-.2"/>
                                          </p:val>
                                        </p:tav>
                                        <p:tav tm="100000">
                                          <p:val>
                                            <p:strVal val="#ppt_x"/>
                                          </p:val>
                                        </p:tav>
                                      </p:tavLst>
                                    </p:anim>
                                    <p:anim calcmode="lin" valueType="num">
                                      <p:cBhvr>
                                        <p:cTn id="14" dur="1000" fill="hold"/>
                                        <p:tgtEl>
                                          <p:spTgt spid="13"/>
                                        </p:tgtEl>
                                        <p:attrNameLst>
                                          <p:attrName>ppt_y</p:attrName>
                                        </p:attrNameLst>
                                      </p:cBhvr>
                                      <p:tavLst>
                                        <p:tav tm="0">
                                          <p:val>
                                            <p:strVal val="#ppt_y"/>
                                          </p:val>
                                        </p:tav>
                                        <p:tav tm="100000">
                                          <p:val>
                                            <p:strVal val="#ppt_y"/>
                                          </p:val>
                                        </p:tav>
                                      </p:tavLst>
                                    </p:anim>
                                    <p:animEffect transition="in" filter="wipe(right)" prLst="gradientSize: 0.1">
                                      <p:cBhvr>
                                        <p:cTn id="15" dur="10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40" presetClass="entr" presetSubtype="0" fill="hold" grpId="0" nodeType="clickEffect">
                                  <p:stCondLst>
                                    <p:cond delay="0"/>
                                  </p:stCondLst>
                                  <p:iterate type="lt">
                                    <p:tmPct val="10000"/>
                                  </p:iterate>
                                  <p:childTnLst>
                                    <p:set>
                                      <p:cBhvr>
                                        <p:cTn id="19" dur="1" fill="hold">
                                          <p:stCondLst>
                                            <p:cond delay="0"/>
                                          </p:stCondLst>
                                        </p:cTn>
                                        <p:tgtEl>
                                          <p:spTgt spid="17"/>
                                        </p:tgtEl>
                                        <p:attrNameLst>
                                          <p:attrName>style.visibility</p:attrName>
                                        </p:attrNameLst>
                                      </p:cBhvr>
                                      <p:to>
                                        <p:strVal val="visible"/>
                                      </p:to>
                                    </p:set>
                                    <p:animEffect transition="in" filter="fade">
                                      <p:cBhvr>
                                        <p:cTn id="20" dur="1000"/>
                                        <p:tgtEl>
                                          <p:spTgt spid="17"/>
                                        </p:tgtEl>
                                      </p:cBhvr>
                                    </p:animEffect>
                                    <p:anim calcmode="lin" valueType="num">
                                      <p:cBhvr>
                                        <p:cTn id="21" dur="1000" fill="hold"/>
                                        <p:tgtEl>
                                          <p:spTgt spid="17"/>
                                        </p:tgtEl>
                                        <p:attrNameLst>
                                          <p:attrName>ppt_x</p:attrName>
                                        </p:attrNameLst>
                                      </p:cBhvr>
                                      <p:tavLst>
                                        <p:tav tm="0">
                                          <p:val>
                                            <p:strVal val="#ppt_x-.1"/>
                                          </p:val>
                                        </p:tav>
                                        <p:tav tm="100000">
                                          <p:val>
                                            <p:strVal val="#ppt_x"/>
                                          </p:val>
                                        </p:tav>
                                      </p:tavLst>
                                    </p:anim>
                                    <p:anim calcmode="lin" valueType="num">
                                      <p:cBhvr>
                                        <p:cTn id="22" dur="1000" fill="hold"/>
                                        <p:tgtEl>
                                          <p:spTgt spid="17"/>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5" presetClass="entr" presetSubtype="1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checkerboard(across)">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5" presetClass="entr" presetSubtype="1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checkerboard(across)">
                                      <p:cBhvr>
                                        <p:cTn id="32" dur="500"/>
                                        <p:tgtEl>
                                          <p:spTgt spid="16"/>
                                        </p:tgtEl>
                                      </p:cBhvr>
                                    </p:animEffect>
                                  </p:childTnLst>
                                </p:cTn>
                              </p:par>
                            </p:childTnLst>
                          </p:cTn>
                        </p:par>
                      </p:childTnLst>
                    </p:cTn>
                  </p:par>
                  <p:par>
                    <p:cTn id="33" fill="hold">
                      <p:stCondLst>
                        <p:cond delay="indefinite"/>
                      </p:stCondLst>
                      <p:childTnLst>
                        <p:par>
                          <p:cTn id="34" fill="hold">
                            <p:stCondLst>
                              <p:cond delay="0"/>
                            </p:stCondLst>
                            <p:childTnLst>
                              <p:par>
                                <p:cTn id="35" presetID="47"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1000"/>
                                        <p:tgtEl>
                                          <p:spTgt spid="20"/>
                                        </p:tgtEl>
                                      </p:cBhvr>
                                    </p:animEffect>
                                    <p:anim calcmode="lin" valueType="num">
                                      <p:cBhvr>
                                        <p:cTn id="38" dur="1000" fill="hold"/>
                                        <p:tgtEl>
                                          <p:spTgt spid="20"/>
                                        </p:tgtEl>
                                        <p:attrNameLst>
                                          <p:attrName>ppt_x</p:attrName>
                                        </p:attrNameLst>
                                      </p:cBhvr>
                                      <p:tavLst>
                                        <p:tav tm="0">
                                          <p:val>
                                            <p:strVal val="#ppt_x"/>
                                          </p:val>
                                        </p:tav>
                                        <p:tav tm="100000">
                                          <p:val>
                                            <p:strVal val="#ppt_x"/>
                                          </p:val>
                                        </p:tav>
                                      </p:tavLst>
                                    </p:anim>
                                    <p:anim calcmode="lin" valueType="num">
                                      <p:cBhvr>
                                        <p:cTn id="39"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6" presetClass="entr" presetSubtype="16" fill="hold" nodeType="click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circle(in)">
                                      <p:cBhvr>
                                        <p:cTn id="44" dur="2000"/>
                                        <p:tgtEl>
                                          <p:spTgt spid="18"/>
                                        </p:tgtEl>
                                      </p:cBhvr>
                                    </p:animEffect>
                                  </p:childTnLst>
                                </p:cTn>
                              </p:par>
                            </p:childTnLst>
                          </p:cTn>
                        </p:par>
                      </p:childTnLst>
                    </p:cTn>
                  </p:par>
                  <p:par>
                    <p:cTn id="45" fill="hold">
                      <p:stCondLst>
                        <p:cond delay="indefinite"/>
                      </p:stCondLst>
                      <p:childTnLst>
                        <p:par>
                          <p:cTn id="46" fill="hold">
                            <p:stCondLst>
                              <p:cond delay="0"/>
                            </p:stCondLst>
                            <p:childTnLst>
                              <p:par>
                                <p:cTn id="47" presetID="6" presetClass="entr" presetSubtype="16"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circle(in)">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41" presetClass="entr" presetSubtype="0" fill="hold" grpId="0" nodeType="clickEffect">
                                  <p:stCondLst>
                                    <p:cond delay="0"/>
                                  </p:stCondLst>
                                  <p:iterate type="lt">
                                    <p:tmPct val="10000"/>
                                  </p:iterate>
                                  <p:childTnLst>
                                    <p:set>
                                      <p:cBhvr>
                                        <p:cTn id="53" dur="1" fill="hold">
                                          <p:stCondLst>
                                            <p:cond delay="0"/>
                                          </p:stCondLst>
                                        </p:cTn>
                                        <p:tgtEl>
                                          <p:spTgt spid="23"/>
                                        </p:tgtEl>
                                        <p:attrNameLst>
                                          <p:attrName>style.visibility</p:attrName>
                                        </p:attrNameLst>
                                      </p:cBhvr>
                                      <p:to>
                                        <p:strVal val="visible"/>
                                      </p:to>
                                    </p:set>
                                    <p:anim calcmode="lin" valueType="num">
                                      <p:cBhvr>
                                        <p:cTn id="54" dur="500" fill="hold"/>
                                        <p:tgtEl>
                                          <p:spTgt spid="23"/>
                                        </p:tgtEl>
                                        <p:attrNameLst>
                                          <p:attrName>ppt_x</p:attrName>
                                        </p:attrNameLst>
                                      </p:cBhvr>
                                      <p:tavLst>
                                        <p:tav tm="0">
                                          <p:val>
                                            <p:strVal val="#ppt_x"/>
                                          </p:val>
                                        </p:tav>
                                        <p:tav tm="50000">
                                          <p:val>
                                            <p:strVal val="#ppt_x+.1"/>
                                          </p:val>
                                        </p:tav>
                                        <p:tav tm="100000">
                                          <p:val>
                                            <p:strVal val="#ppt_x"/>
                                          </p:val>
                                        </p:tav>
                                      </p:tavLst>
                                    </p:anim>
                                    <p:anim calcmode="lin" valueType="num">
                                      <p:cBhvr>
                                        <p:cTn id="55" dur="500" fill="hold"/>
                                        <p:tgtEl>
                                          <p:spTgt spid="23"/>
                                        </p:tgtEl>
                                        <p:attrNameLst>
                                          <p:attrName>ppt_y</p:attrName>
                                        </p:attrNameLst>
                                      </p:cBhvr>
                                      <p:tavLst>
                                        <p:tav tm="0">
                                          <p:val>
                                            <p:strVal val="#ppt_y"/>
                                          </p:val>
                                        </p:tav>
                                        <p:tav tm="100000">
                                          <p:val>
                                            <p:strVal val="#ppt_y"/>
                                          </p:val>
                                        </p:tav>
                                      </p:tavLst>
                                    </p:anim>
                                    <p:anim calcmode="lin" valueType="num">
                                      <p:cBhvr>
                                        <p:cTn id="56" dur="500" fill="hold"/>
                                        <p:tgtEl>
                                          <p:spTgt spid="23"/>
                                        </p:tgtEl>
                                        <p:attrNameLst>
                                          <p:attrName>ppt_h</p:attrName>
                                        </p:attrNameLst>
                                      </p:cBhvr>
                                      <p:tavLst>
                                        <p:tav tm="0">
                                          <p:val>
                                            <p:strVal val="#ppt_h/10"/>
                                          </p:val>
                                        </p:tav>
                                        <p:tav tm="50000">
                                          <p:val>
                                            <p:strVal val="#ppt_h+.01"/>
                                          </p:val>
                                        </p:tav>
                                        <p:tav tm="100000">
                                          <p:val>
                                            <p:strVal val="#ppt_h"/>
                                          </p:val>
                                        </p:tav>
                                      </p:tavLst>
                                    </p:anim>
                                    <p:anim calcmode="lin" valueType="num">
                                      <p:cBhvr>
                                        <p:cTn id="57" dur="500" fill="hold"/>
                                        <p:tgtEl>
                                          <p:spTgt spid="23"/>
                                        </p:tgtEl>
                                        <p:attrNameLst>
                                          <p:attrName>ppt_w</p:attrName>
                                        </p:attrNameLst>
                                      </p:cBhvr>
                                      <p:tavLst>
                                        <p:tav tm="0">
                                          <p:val>
                                            <p:strVal val="#ppt_w/10"/>
                                          </p:val>
                                        </p:tav>
                                        <p:tav tm="50000">
                                          <p:val>
                                            <p:strVal val="#ppt_w+.01"/>
                                          </p:val>
                                        </p:tav>
                                        <p:tav tm="100000">
                                          <p:val>
                                            <p:strVal val="#ppt_w"/>
                                          </p:val>
                                        </p:tav>
                                      </p:tavLst>
                                    </p:anim>
                                    <p:animEffect transition="in" filter="fade">
                                      <p:cBhvr>
                                        <p:cTn id="58" dur="500" tmFilter="0,0; .5, 1; 1, 1"/>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55" presetClass="entr" presetSubtype="0" fill="hold" nodeType="clickEffect">
                                  <p:stCondLst>
                                    <p:cond delay="0"/>
                                  </p:stCondLst>
                                  <p:childTnLst>
                                    <p:set>
                                      <p:cBhvr>
                                        <p:cTn id="62" dur="1" fill="hold">
                                          <p:stCondLst>
                                            <p:cond delay="0"/>
                                          </p:stCondLst>
                                        </p:cTn>
                                        <p:tgtEl>
                                          <p:spTgt spid="21"/>
                                        </p:tgtEl>
                                        <p:attrNameLst>
                                          <p:attrName>style.visibility</p:attrName>
                                        </p:attrNameLst>
                                      </p:cBhvr>
                                      <p:to>
                                        <p:strVal val="visible"/>
                                      </p:to>
                                    </p:set>
                                    <p:anim calcmode="lin" valueType="num">
                                      <p:cBhvr>
                                        <p:cTn id="63" dur="1000" fill="hold"/>
                                        <p:tgtEl>
                                          <p:spTgt spid="21"/>
                                        </p:tgtEl>
                                        <p:attrNameLst>
                                          <p:attrName>ppt_w</p:attrName>
                                        </p:attrNameLst>
                                      </p:cBhvr>
                                      <p:tavLst>
                                        <p:tav tm="0">
                                          <p:val>
                                            <p:strVal val="#ppt_w*0.70"/>
                                          </p:val>
                                        </p:tav>
                                        <p:tav tm="100000">
                                          <p:val>
                                            <p:strVal val="#ppt_w"/>
                                          </p:val>
                                        </p:tav>
                                      </p:tavLst>
                                    </p:anim>
                                    <p:anim calcmode="lin" valueType="num">
                                      <p:cBhvr>
                                        <p:cTn id="64" dur="1000" fill="hold"/>
                                        <p:tgtEl>
                                          <p:spTgt spid="21"/>
                                        </p:tgtEl>
                                        <p:attrNameLst>
                                          <p:attrName>ppt_h</p:attrName>
                                        </p:attrNameLst>
                                      </p:cBhvr>
                                      <p:tavLst>
                                        <p:tav tm="0">
                                          <p:val>
                                            <p:strVal val="#ppt_h"/>
                                          </p:val>
                                        </p:tav>
                                        <p:tav tm="100000">
                                          <p:val>
                                            <p:strVal val="#ppt_h"/>
                                          </p:val>
                                        </p:tav>
                                      </p:tavLst>
                                    </p:anim>
                                    <p:animEffect transition="in" filter="fade">
                                      <p:cBhvr>
                                        <p:cTn id="65" dur="1000"/>
                                        <p:tgtEl>
                                          <p:spTgt spid="21"/>
                                        </p:tgtEl>
                                      </p:cBhvr>
                                    </p:animEffect>
                                  </p:childTnLst>
                                </p:cTn>
                              </p:par>
                            </p:childTnLst>
                          </p:cTn>
                        </p:par>
                      </p:childTnLst>
                    </p:cTn>
                  </p:par>
                  <p:par>
                    <p:cTn id="66" fill="hold">
                      <p:stCondLst>
                        <p:cond delay="indefinite"/>
                      </p:stCondLst>
                      <p:childTnLst>
                        <p:par>
                          <p:cTn id="67" fill="hold">
                            <p:stCondLst>
                              <p:cond delay="0"/>
                            </p:stCondLst>
                            <p:childTnLst>
                              <p:par>
                                <p:cTn id="68" presetID="55" presetClass="entr" presetSubtype="0" fill="hold" grpId="0" nodeType="clickEffect">
                                  <p:stCondLst>
                                    <p:cond delay="0"/>
                                  </p:stCondLst>
                                  <p:childTnLst>
                                    <p:set>
                                      <p:cBhvr>
                                        <p:cTn id="69" dur="1" fill="hold">
                                          <p:stCondLst>
                                            <p:cond delay="0"/>
                                          </p:stCondLst>
                                        </p:cTn>
                                        <p:tgtEl>
                                          <p:spTgt spid="22"/>
                                        </p:tgtEl>
                                        <p:attrNameLst>
                                          <p:attrName>style.visibility</p:attrName>
                                        </p:attrNameLst>
                                      </p:cBhvr>
                                      <p:to>
                                        <p:strVal val="visible"/>
                                      </p:to>
                                    </p:set>
                                    <p:anim calcmode="lin" valueType="num">
                                      <p:cBhvr>
                                        <p:cTn id="70" dur="1000" fill="hold"/>
                                        <p:tgtEl>
                                          <p:spTgt spid="22"/>
                                        </p:tgtEl>
                                        <p:attrNameLst>
                                          <p:attrName>ppt_w</p:attrName>
                                        </p:attrNameLst>
                                      </p:cBhvr>
                                      <p:tavLst>
                                        <p:tav tm="0">
                                          <p:val>
                                            <p:strVal val="#ppt_w*0.70"/>
                                          </p:val>
                                        </p:tav>
                                        <p:tav tm="100000">
                                          <p:val>
                                            <p:strVal val="#ppt_w"/>
                                          </p:val>
                                        </p:tav>
                                      </p:tavLst>
                                    </p:anim>
                                    <p:anim calcmode="lin" valueType="num">
                                      <p:cBhvr>
                                        <p:cTn id="71" dur="1000" fill="hold"/>
                                        <p:tgtEl>
                                          <p:spTgt spid="22"/>
                                        </p:tgtEl>
                                        <p:attrNameLst>
                                          <p:attrName>ppt_h</p:attrName>
                                        </p:attrNameLst>
                                      </p:cBhvr>
                                      <p:tavLst>
                                        <p:tav tm="0">
                                          <p:val>
                                            <p:strVal val="#ppt_h"/>
                                          </p:val>
                                        </p:tav>
                                        <p:tav tm="100000">
                                          <p:val>
                                            <p:strVal val="#ppt_h"/>
                                          </p:val>
                                        </p:tav>
                                      </p:tavLst>
                                    </p:anim>
                                    <p:animEffect transition="in" filter="fade">
                                      <p:cBhvr>
                                        <p:cTn id="72"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3" grpId="1"/>
      <p:bldP spid="17" grpId="0"/>
      <p:bldP spid="17" grpId="1"/>
      <p:bldP spid="16" grpId="0"/>
      <p:bldP spid="16" grpId="1"/>
      <p:bldP spid="20" grpId="0"/>
      <p:bldP spid="20" grpId="1"/>
      <p:bldP spid="19" grpId="0"/>
      <p:bldP spid="19" grpId="1"/>
      <p:bldP spid="23" grpId="0"/>
      <p:bldP spid="23" grpId="1"/>
      <p:bldP spid="22" grpId="0"/>
      <p:bldP spid="22"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337300" y="713105"/>
            <a:ext cx="5457825" cy="2195195"/>
          </a:xfrm>
        </p:spPr>
        <p:txBody>
          <a:bodyPr>
            <a:normAutofit/>
          </a:bodyPr>
          <a:p>
            <a:r>
              <a:rPr lang="en-US" altLang="en-GB" sz="1780"/>
              <a:t>This code </a:t>
            </a:r>
            <a:r>
              <a:rPr lang="en-US" altLang="en-GB" sz="1780" b="1"/>
              <a:t>fine-tunes</a:t>
            </a:r>
            <a:r>
              <a:rPr lang="en-US" altLang="en-GB" sz="1780"/>
              <a:t> a </a:t>
            </a:r>
            <a:r>
              <a:rPr lang="en-US" altLang="en-GB" sz="1780" b="1"/>
              <a:t>pretrained ViT</a:t>
            </a:r>
            <a:r>
              <a:rPr lang="en-US" altLang="en-GB" sz="1780"/>
              <a:t> to </a:t>
            </a:r>
            <a:r>
              <a:rPr lang="en-US" altLang="en-GB" sz="1780" b="1"/>
              <a:t>classify lung images using K-Fold cross-validation,</a:t>
            </a:r>
            <a:r>
              <a:rPr lang="en-US" altLang="en-GB" sz="1780"/>
              <a:t> training the model on each fold and evaluating it on the corresponding validation subset. </a:t>
            </a:r>
            <a:r>
              <a:rPr lang="en-US" altLang="en-GB" sz="1780" b="1"/>
              <a:t>Fold-wise metrics (accuracy, precision, recall, F1-score)</a:t>
            </a:r>
            <a:r>
              <a:rPr lang="en-US" altLang="en-GB" sz="1780"/>
              <a:t> are computed, averaged across all folds, and saved for robust performance assessment.</a:t>
            </a:r>
            <a:endParaRPr lang="en-US" altLang="en-GB" sz="1780"/>
          </a:p>
        </p:txBody>
      </p:sp>
      <p:pic>
        <p:nvPicPr>
          <p:cNvPr id="5" name="Content Placeholder 4"/>
          <p:cNvPicPr>
            <a:picLocks noChangeAspect="1"/>
          </p:cNvPicPr>
          <p:nvPr>
            <p:ph sz="half" idx="1"/>
          </p:nvPr>
        </p:nvPicPr>
        <p:blipFill>
          <a:blip r:embed="rId1"/>
          <a:stretch>
            <a:fillRect/>
          </a:stretch>
        </p:blipFill>
        <p:spPr>
          <a:xfrm>
            <a:off x="137795" y="554990"/>
            <a:ext cx="5824220" cy="3345815"/>
          </a:xfrm>
          <a:prstGeom prst="rect">
            <a:avLst/>
          </a:prstGeom>
        </p:spPr>
      </p:pic>
      <p:pic>
        <p:nvPicPr>
          <p:cNvPr id="7" name="Content Placeholder 6"/>
          <p:cNvPicPr>
            <a:picLocks noChangeAspect="1"/>
          </p:cNvPicPr>
          <p:nvPr>
            <p:ph sz="half" idx="2"/>
          </p:nvPr>
        </p:nvPicPr>
        <p:blipFill>
          <a:blip r:embed="rId2"/>
          <a:stretch>
            <a:fillRect/>
          </a:stretch>
        </p:blipFill>
        <p:spPr>
          <a:xfrm>
            <a:off x="6151880" y="3263900"/>
            <a:ext cx="5442585" cy="3246120"/>
          </a:xfrm>
          <a:prstGeom prst="rect">
            <a:avLst/>
          </a:prstGeom>
        </p:spPr>
      </p:pic>
      <p:sp>
        <p:nvSpPr>
          <p:cNvPr id="6" name="Text Box 5"/>
          <p:cNvSpPr txBox="1"/>
          <p:nvPr/>
        </p:nvSpPr>
        <p:spPr>
          <a:xfrm>
            <a:off x="1080135" y="4004945"/>
            <a:ext cx="4064000" cy="506095"/>
          </a:xfrm>
          <a:prstGeom prst="rect">
            <a:avLst/>
          </a:prstGeom>
          <a:noFill/>
        </p:spPr>
        <p:txBody>
          <a:bodyPr wrap="square" rtlCol="0">
            <a:noAutofit/>
          </a:bodyPr>
          <a:p>
            <a:r>
              <a:rPr lang="en-US" altLang="en-GB" b="1"/>
              <a:t>Code Snippet of K-Fold Cross Validation</a:t>
            </a:r>
            <a:endParaRPr lang="en-US" altLang="en-GB" b="1"/>
          </a:p>
        </p:txBody>
      </p:sp>
      <p:sp>
        <p:nvSpPr>
          <p:cNvPr id="8" name="Text Box 7"/>
          <p:cNvSpPr txBox="1"/>
          <p:nvPr/>
        </p:nvSpPr>
        <p:spPr>
          <a:xfrm>
            <a:off x="7033895" y="6510020"/>
            <a:ext cx="4064000" cy="347980"/>
          </a:xfrm>
          <a:prstGeom prst="rect">
            <a:avLst/>
          </a:prstGeom>
          <a:noFill/>
        </p:spPr>
        <p:txBody>
          <a:bodyPr wrap="square" rtlCol="0">
            <a:noAutofit/>
          </a:bodyPr>
          <a:p>
            <a:pPr algn="ctr"/>
            <a:r>
              <a:rPr lang="en-US" altLang="en-GB" b="1"/>
              <a:t>Evaluation Metrics </a:t>
            </a:r>
            <a:endParaRPr lang="en-US" altLang="en-GB" b="1"/>
          </a:p>
        </p:txBody>
      </p:sp>
      <p:sp>
        <p:nvSpPr>
          <p:cNvPr id="9" name="Text Box 8"/>
          <p:cNvSpPr txBox="1"/>
          <p:nvPr/>
        </p:nvSpPr>
        <p:spPr>
          <a:xfrm>
            <a:off x="5144135" y="5244465"/>
            <a:ext cx="601980" cy="583565"/>
          </a:xfrm>
          <a:prstGeom prst="rect">
            <a:avLst/>
          </a:prstGeom>
          <a:noFill/>
        </p:spPr>
        <p:txBody>
          <a:bodyPr wrap="square" rtlCol="0" anchor="t">
            <a:spAutoFit/>
          </a:bodyPr>
          <a:p>
            <a:r>
              <a:rPr lang="en-GB" altLang="en-US" sz="3200" b="1">
                <a:latin typeface="Arial" panose="020B0604020202020204" pitchFamily="34" charset="0"/>
                <a:cs typeface="Arial" panose="020B0604020202020204" pitchFamily="34" charset="0"/>
              </a:rPr>
              <a:t>→</a:t>
            </a:r>
            <a:endParaRPr lang="en-GB" altLang="en-US" sz="3200" b="1">
              <a:latin typeface="Arial" panose="020B0604020202020204" pitchFamily="34" charset="0"/>
              <a:cs typeface="Arial" panose="020B0604020202020204" pitchFamily="34" charset="0"/>
            </a:endParaRPr>
          </a:p>
        </p:txBody>
      </p:sp>
      <p:sp>
        <p:nvSpPr>
          <p:cNvPr id="3" name="Text Box 2"/>
          <p:cNvSpPr txBox="1"/>
          <p:nvPr/>
        </p:nvSpPr>
        <p:spPr>
          <a:xfrm>
            <a:off x="0" y="-9525"/>
            <a:ext cx="10889615" cy="460375"/>
          </a:xfrm>
          <a:prstGeom prst="rect">
            <a:avLst/>
          </a:prstGeom>
          <a:noFill/>
        </p:spPr>
        <p:txBody>
          <a:bodyPr wrap="square" rtlCol="0">
            <a:spAutoFit/>
          </a:bodyPr>
          <a:p>
            <a:r>
              <a:rPr lang="en-US" altLang="en-GB" sz="2400" b="1">
                <a:latin typeface="Bodoni MT" panose="02070603080606020203" charset="0"/>
                <a:cs typeface="Bodoni MT" panose="02070603080606020203" charset="0"/>
                <a:sym typeface="+mn-ea"/>
              </a:rPr>
              <a:t>K-Fold Cross-Validation for Fine-Tuning Vision Transformer (ViT) on Lung Images:</a:t>
            </a:r>
            <a:endParaRPr lang="en-US" altLang="en-GB" sz="2400" b="1">
              <a:latin typeface="Bodoni MT" panose="02070603080606020203" charset="0"/>
              <a:cs typeface="Bodoni MT" panose="02070603080606020203" charset="0"/>
              <a:sym typeface="+mn-ea"/>
            </a:endParaRPr>
          </a:p>
        </p:txBody>
      </p:sp>
      <p:sp>
        <p:nvSpPr>
          <p:cNvPr id="10" name="Text Box 9"/>
          <p:cNvSpPr txBox="1"/>
          <p:nvPr/>
        </p:nvSpPr>
        <p:spPr>
          <a:xfrm>
            <a:off x="5011420" y="4920615"/>
            <a:ext cx="3860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8" presetClass="entr" presetSubtype="0" accel="10000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strVal val="#ppt_w*2.5"/>
                                          </p:val>
                                        </p:tav>
                                        <p:tav tm="100000">
                                          <p:val>
                                            <p:strVal val="#ppt_w"/>
                                          </p:val>
                                        </p:tav>
                                      </p:tavLst>
                                    </p:anim>
                                    <p:anim calcmode="lin" valueType="num">
                                      <p:cBhvr>
                                        <p:cTn id="8" dur="500" fill="hold"/>
                                        <p:tgtEl>
                                          <p:spTgt spid="3"/>
                                        </p:tgtEl>
                                        <p:attrNameLst>
                                          <p:attrName>ppt_h</p:attrName>
                                        </p:attrNameLst>
                                      </p:cBhvr>
                                      <p:tavLst>
                                        <p:tav tm="0">
                                          <p:val>
                                            <p:strVal val="#ppt_h*0.01"/>
                                          </p:val>
                                        </p:tav>
                                        <p:tav tm="100000">
                                          <p:val>
                                            <p:strVal val="#ppt_h"/>
                                          </p:val>
                                        </p:tav>
                                      </p:tavLst>
                                    </p:anim>
                                    <p:anim calcmode="lin" valueType="num">
                                      <p:cBhvr>
                                        <p:cTn id="9" dur="500" fill="hold"/>
                                        <p:tgtEl>
                                          <p:spTgt spid="3"/>
                                        </p:tgtEl>
                                        <p:attrNameLst>
                                          <p:attrName>ppt_x</p:attrName>
                                        </p:attrNameLst>
                                      </p:cBhvr>
                                      <p:tavLst>
                                        <p:tav tm="0">
                                          <p:val>
                                            <p:strVal val="#ppt_x"/>
                                          </p:val>
                                        </p:tav>
                                        <p:tav tm="100000">
                                          <p:val>
                                            <p:strVal val="#ppt_x"/>
                                          </p:val>
                                        </p:tav>
                                      </p:tavLst>
                                    </p:anim>
                                    <p:anim calcmode="lin" valueType="num">
                                      <p:cBhvr>
                                        <p:cTn id="10" dur="500" fill="hold"/>
                                        <p:tgtEl>
                                          <p:spTgt spid="3"/>
                                        </p:tgtEl>
                                        <p:attrNameLst>
                                          <p:attrName>ppt_y</p:attrName>
                                        </p:attrNameLst>
                                      </p:cBhvr>
                                      <p:tavLst>
                                        <p:tav tm="0">
                                          <p:val>
                                            <p:strVal val="#ppt_h+1"/>
                                          </p:val>
                                        </p:tav>
                                        <p:tav tm="100000">
                                          <p:val>
                                            <p:strVal val="#ppt_y"/>
                                          </p:val>
                                        </p:tav>
                                      </p:tavLst>
                                    </p:anim>
                                    <p:animEffect transition="in" filter="fade">
                                      <p:cBhvr>
                                        <p:cTn id="11" dur="5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14" presetClass="entr" presetSubtype="1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randombar(horizontal)">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8" presetClass="entr" presetSubtype="1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strips(downLeft)">
                                      <p:cBhvr>
                                        <p:cTn id="21" dur="5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47"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1000"/>
                                        <p:tgtEl>
                                          <p:spTgt spid="10"/>
                                        </p:tgtEl>
                                      </p:cBhvr>
                                    </p:animEffect>
                                    <p:anim calcmode="lin" valueType="num">
                                      <p:cBhvr>
                                        <p:cTn id="27" dur="1000" fill="hold"/>
                                        <p:tgtEl>
                                          <p:spTgt spid="10"/>
                                        </p:tgtEl>
                                        <p:attrNameLst>
                                          <p:attrName>ppt_x</p:attrName>
                                        </p:attrNameLst>
                                      </p:cBhvr>
                                      <p:tavLst>
                                        <p:tav tm="0">
                                          <p:val>
                                            <p:strVal val="#ppt_x"/>
                                          </p:val>
                                        </p:tav>
                                        <p:tav tm="100000">
                                          <p:val>
                                            <p:strVal val="#ppt_x"/>
                                          </p:val>
                                        </p:tav>
                                      </p:tavLst>
                                    </p:anim>
                                    <p:anim calcmode="lin" valueType="num">
                                      <p:cBhvr>
                                        <p:cTn id="2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0" presetClass="entr" presetSubtype="0" fill="hold" grpId="0" nodeType="clickEffect">
                                  <p:stCondLst>
                                    <p:cond delay="0"/>
                                  </p:stCondLst>
                                  <p:iterate type="lt">
                                    <p:tmPct val="10000"/>
                                  </p:iterate>
                                  <p:childTnLst>
                                    <p:set>
                                      <p:cBhvr>
                                        <p:cTn id="32" dur="1" fill="hold">
                                          <p:stCondLst>
                                            <p:cond delay="0"/>
                                          </p:stCondLst>
                                        </p:cTn>
                                        <p:tgtEl>
                                          <p:spTgt spid="9"/>
                                        </p:tgtEl>
                                        <p:attrNameLst>
                                          <p:attrName>style.visibility</p:attrName>
                                        </p:attrNameLst>
                                      </p:cBhvr>
                                      <p:to>
                                        <p:strVal val="visible"/>
                                      </p:to>
                                    </p:set>
                                    <p:animEffect transition="in" filter="fade">
                                      <p:cBhvr>
                                        <p:cTn id="33" dur="1000"/>
                                        <p:tgtEl>
                                          <p:spTgt spid="9"/>
                                        </p:tgtEl>
                                      </p:cBhvr>
                                    </p:animEffect>
                                    <p:anim calcmode="lin" valueType="num">
                                      <p:cBhvr>
                                        <p:cTn id="34" dur="1000" fill="hold"/>
                                        <p:tgtEl>
                                          <p:spTgt spid="9"/>
                                        </p:tgtEl>
                                        <p:attrNameLst>
                                          <p:attrName>ppt_x</p:attrName>
                                        </p:attrNameLst>
                                      </p:cBhvr>
                                      <p:tavLst>
                                        <p:tav tm="0">
                                          <p:val>
                                            <p:strVal val="#ppt_x-.1"/>
                                          </p:val>
                                        </p:tav>
                                        <p:tav tm="100000">
                                          <p:val>
                                            <p:strVal val="#ppt_x"/>
                                          </p:val>
                                        </p:tav>
                                      </p:tavLst>
                                    </p:anim>
                                    <p:anim calcmode="lin" valueType="num">
                                      <p:cBhvr>
                                        <p:cTn id="35" dur="10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5" presetClass="entr" presetSubtype="10" fill="hold" nodeType="clickEffect">
                                  <p:stCondLst>
                                    <p:cond delay="0"/>
                                  </p:stCondLst>
                                  <p:childTnLst>
                                    <p:set>
                                      <p:cBhvr>
                                        <p:cTn id="39" dur="1" fill="hold">
                                          <p:stCondLst>
                                            <p:cond delay="0"/>
                                          </p:stCondLst>
                                        </p:cTn>
                                        <p:tgtEl>
                                          <p:spTgt spid="7"/>
                                        </p:tgtEl>
                                        <p:attrNameLst>
                                          <p:attrName>style.visibility</p:attrName>
                                        </p:attrNameLst>
                                      </p:cBhvr>
                                      <p:to>
                                        <p:strVal val="visible"/>
                                      </p:to>
                                    </p:set>
                                    <p:animEffect transition="in" filter="checkerboard(across)">
                                      <p:cBhvr>
                                        <p:cTn id="40" dur="500"/>
                                        <p:tgtEl>
                                          <p:spTgt spid="7"/>
                                        </p:tgtEl>
                                      </p:cBhvr>
                                    </p:animEffect>
                                  </p:childTnLst>
                                </p:cTn>
                              </p:par>
                            </p:childTnLst>
                          </p:cTn>
                        </p:par>
                      </p:childTnLst>
                    </p:cTn>
                  </p:par>
                  <p:par>
                    <p:cTn id="41" fill="hold">
                      <p:stCondLst>
                        <p:cond delay="indefinite"/>
                      </p:stCondLst>
                      <p:childTnLst>
                        <p:par>
                          <p:cTn id="42" fill="hold">
                            <p:stCondLst>
                              <p:cond delay="0"/>
                            </p:stCondLst>
                            <p:childTnLst>
                              <p:par>
                                <p:cTn id="43" presetID="12" presetClass="entr" presetSubtype="4" fill="hold" grpId="0" nodeType="clickEffect">
                                  <p:stCondLst>
                                    <p:cond delay="0"/>
                                  </p:stCondLst>
                                  <p:childTnLst>
                                    <p:set>
                                      <p:cBhvr>
                                        <p:cTn id="44" dur="1" fill="hold">
                                          <p:stCondLst>
                                            <p:cond delay="0"/>
                                          </p:stCondLst>
                                        </p:cTn>
                                        <p:tgtEl>
                                          <p:spTgt spid="8"/>
                                        </p:tgtEl>
                                        <p:attrNameLst>
                                          <p:attrName>style.visibility</p:attrName>
                                        </p:attrNameLst>
                                      </p:cBhvr>
                                      <p:to>
                                        <p:strVal val="visible"/>
                                      </p:to>
                                    </p:set>
                                    <p:anim calcmode="lin" valueType="num">
                                      <p:cBhvr additive="base">
                                        <p:cTn id="45" dur="500"/>
                                        <p:tgtEl>
                                          <p:spTgt spid="8"/>
                                        </p:tgtEl>
                                        <p:attrNameLst>
                                          <p:attrName>ppt_y</p:attrName>
                                        </p:attrNameLst>
                                      </p:cBhvr>
                                      <p:tavLst>
                                        <p:tav tm="0">
                                          <p:val>
                                            <p:strVal val="#ppt_y+#ppt_h*1.125000"/>
                                          </p:val>
                                        </p:tav>
                                        <p:tav tm="100000">
                                          <p:val>
                                            <p:strVal val="#ppt_y"/>
                                          </p:val>
                                        </p:tav>
                                      </p:tavLst>
                                    </p:anim>
                                    <p:animEffect transition="in" filter="wipe(up)">
                                      <p:cBhvr>
                                        <p:cTn id="46" dur="500"/>
                                        <p:tgtEl>
                                          <p:spTgt spid="8"/>
                                        </p:tgtEl>
                                      </p:cBhvr>
                                    </p:animEffect>
                                  </p:childTnLst>
                                </p:cTn>
                              </p:par>
                            </p:childTnLst>
                          </p:cTn>
                        </p:par>
                      </p:childTnLst>
                    </p:cTn>
                  </p:par>
                  <p:par>
                    <p:cTn id="47" fill="hold">
                      <p:stCondLst>
                        <p:cond delay="indefinite"/>
                      </p:stCondLst>
                      <p:childTnLst>
                        <p:par>
                          <p:cTn id="48" fill="hold">
                            <p:stCondLst>
                              <p:cond delay="0"/>
                            </p:stCondLst>
                            <p:childTnLst>
                              <p:par>
                                <p:cTn id="49" presetID="17" presetClass="entr" presetSubtype="10" fill="hold" grpId="0" nodeType="clickEffect">
                                  <p:stCondLst>
                                    <p:cond delay="0"/>
                                  </p:stCondLst>
                                  <p:childTnLst>
                                    <p:set>
                                      <p:cBhvr>
                                        <p:cTn id="50" dur="1" fill="hold">
                                          <p:stCondLst>
                                            <p:cond delay="0"/>
                                          </p:stCondLst>
                                        </p:cTn>
                                        <p:tgtEl>
                                          <p:spTgt spid="2"/>
                                        </p:tgtEl>
                                        <p:attrNameLst>
                                          <p:attrName>style.visibility</p:attrName>
                                        </p:attrNameLst>
                                      </p:cBhvr>
                                      <p:to>
                                        <p:strVal val="visible"/>
                                      </p:to>
                                    </p:set>
                                    <p:anim calcmode="lin" valueType="num">
                                      <p:cBhvr>
                                        <p:cTn id="51" dur="500" fill="hold"/>
                                        <p:tgtEl>
                                          <p:spTgt spid="2"/>
                                        </p:tgtEl>
                                        <p:attrNameLst>
                                          <p:attrName>ppt_w</p:attrName>
                                        </p:attrNameLst>
                                      </p:cBhvr>
                                      <p:tavLst>
                                        <p:tav tm="0">
                                          <p:val>
                                            <p:fltVal val="0"/>
                                          </p:val>
                                        </p:tav>
                                        <p:tav tm="100000">
                                          <p:val>
                                            <p:strVal val="#ppt_w"/>
                                          </p:val>
                                        </p:tav>
                                      </p:tavLst>
                                    </p:anim>
                                    <p:anim calcmode="lin" valueType="num">
                                      <p:cBhvr>
                                        <p:cTn id="52" dur="500" fill="hold"/>
                                        <p:tgtEl>
                                          <p:spTgt spid="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6" grpId="0"/>
      <p:bldP spid="6" grpId="1"/>
      <p:bldP spid="10" grpId="0"/>
      <p:bldP spid="10" grpId="1"/>
      <p:bldP spid="9" grpId="0"/>
      <p:bldP spid="9" grpId="1"/>
      <p:bldP spid="8" grpId="0"/>
      <p:bldP spid="8" grpId="1"/>
      <p:bldP spid="2" grpId="0"/>
      <p:bldP spid="2"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461010"/>
            <a:ext cx="12192000" cy="976630"/>
          </a:xfrm>
        </p:spPr>
        <p:txBody>
          <a:bodyPr>
            <a:normAutofit fontScale="90000"/>
          </a:bodyPr>
          <a:p>
            <a:pPr algn="just"/>
            <a:r>
              <a:rPr lang="en-US" altLang="en-GB" sz="1780"/>
              <a:t>This Python script trains and evaluates 4 pretrained</a:t>
            </a:r>
            <a:r>
              <a:rPr lang="en-US" altLang="en-GB" sz="1780" b="1"/>
              <a:t> deep learning models — VGG16, ResNet50, DenseNet121 and EfficientNet-B0 — on a 4-class image classification dataset.</a:t>
            </a:r>
            <a:r>
              <a:rPr lang="en-US" altLang="en-GB" sz="1780"/>
              <a:t> It performs </a:t>
            </a:r>
            <a:r>
              <a:rPr lang="en-US" altLang="en-GB" sz="1780" b="1"/>
              <a:t>training, validation, early stopping, and saves performance reports, accuracy/loss curves, and confusion matrices</a:t>
            </a:r>
            <a:r>
              <a:rPr lang="en-US" altLang="en-GB" sz="1780"/>
              <a:t> for each model. Finally, it summarizes </a:t>
            </a:r>
            <a:r>
              <a:rPr lang="en-US" altLang="en-GB" sz="1780" b="1"/>
              <a:t>all model accuracies into a single results file for comparison.</a:t>
            </a:r>
            <a:endParaRPr lang="en-US" altLang="en-GB" sz="1780" b="1"/>
          </a:p>
        </p:txBody>
      </p:sp>
      <p:sp>
        <p:nvSpPr>
          <p:cNvPr id="3" name="Text Box 2"/>
          <p:cNvSpPr txBox="1"/>
          <p:nvPr/>
        </p:nvSpPr>
        <p:spPr>
          <a:xfrm>
            <a:off x="0" y="0"/>
            <a:ext cx="10570845" cy="460375"/>
          </a:xfrm>
          <a:prstGeom prst="rect">
            <a:avLst/>
          </a:prstGeom>
          <a:noFill/>
        </p:spPr>
        <p:txBody>
          <a:bodyPr wrap="square" rtlCol="0">
            <a:spAutoFit/>
          </a:bodyPr>
          <a:p>
            <a:r>
              <a:rPr lang="en-US" altLang="en-GB" sz="2400" b="1">
                <a:latin typeface="Bodoni MT" panose="02070603080606020203" charset="0"/>
                <a:cs typeface="Bodoni MT" panose="02070603080606020203" charset="0"/>
                <a:sym typeface="+mn-ea"/>
              </a:rPr>
              <a:t>Comparative Analysis of CNN and Transformer Models for Image Classification</a:t>
            </a:r>
            <a:endParaRPr lang="en-GB" altLang="en-US" sz="2400">
              <a:latin typeface="Bodoni MT" panose="02070603080606020203" charset="0"/>
              <a:cs typeface="Bodoni MT" panose="02070603080606020203" charset="0"/>
            </a:endParaRPr>
          </a:p>
        </p:txBody>
      </p:sp>
      <p:graphicFrame>
        <p:nvGraphicFramePr>
          <p:cNvPr id="5" name="Table 4"/>
          <p:cNvGraphicFramePr/>
          <p:nvPr>
            <p:custDataLst>
              <p:tags r:id="rId1"/>
            </p:custDataLst>
          </p:nvPr>
        </p:nvGraphicFramePr>
        <p:xfrm>
          <a:off x="337820" y="1509395"/>
          <a:ext cx="11640820" cy="4549140"/>
        </p:xfrm>
        <a:graphic>
          <a:graphicData uri="http://schemas.openxmlformats.org/drawingml/2006/table">
            <a:tbl>
              <a:tblPr firstRow="1" bandRow="1">
                <a:tableStyleId>{5C22544A-7EE6-4342-B048-85BDC9FD1C3A}</a:tableStyleId>
              </a:tblPr>
              <a:tblGrid>
                <a:gridCol w="1536700"/>
                <a:gridCol w="4283710"/>
                <a:gridCol w="2771775"/>
                <a:gridCol w="3048635"/>
              </a:tblGrid>
              <a:tr h="0">
                <a:tc>
                  <a:txBody>
                    <a:bodyPr/>
                    <a:p>
                      <a:pPr>
                        <a:buNone/>
                      </a:pPr>
                      <a:r>
                        <a:rPr lang="en-US" altLang="en-GB"/>
                        <a:t>Model Name</a:t>
                      </a:r>
                      <a:endParaRPr lang="en-US" altLang="en-GB"/>
                    </a:p>
                  </a:txBody>
                  <a:tcPr/>
                </a:tc>
                <a:tc>
                  <a:txBody>
                    <a:bodyPr/>
                    <a:p>
                      <a:pPr>
                        <a:buNone/>
                      </a:pPr>
                      <a:r>
                        <a:rPr lang="en-US" altLang="en-GB"/>
                        <a:t>Typical Strengths</a:t>
                      </a:r>
                      <a:endParaRPr lang="en-US" altLang="en-GB"/>
                    </a:p>
                  </a:txBody>
                  <a:tcPr/>
                </a:tc>
                <a:tc>
                  <a:txBody>
                    <a:bodyPr/>
                    <a:p>
                      <a:pPr>
                        <a:buNone/>
                      </a:pPr>
                      <a:r>
                        <a:rPr lang="en-US" altLang="en-GB"/>
                        <a:t>Typical Weakness</a:t>
                      </a:r>
                      <a:endParaRPr lang="en-US" altLang="en-GB"/>
                    </a:p>
                  </a:txBody>
                  <a:tcPr/>
                </a:tc>
                <a:tc>
                  <a:txBody>
                    <a:bodyPr/>
                    <a:p>
                      <a:pPr>
                        <a:buNone/>
                      </a:pPr>
                      <a:r>
                        <a:rPr lang="en-US" altLang="en-GB"/>
                        <a:t>When to pick it</a:t>
                      </a:r>
                      <a:endParaRPr lang="en-US" altLang="en-GB"/>
                    </a:p>
                  </a:txBody>
                  <a:tcPr/>
                </a:tc>
              </a:tr>
              <a:tr h="1015365">
                <a:tc>
                  <a:txBody>
                    <a:bodyPr/>
                    <a:p>
                      <a:pPr>
                        <a:buNone/>
                      </a:pPr>
                      <a:r>
                        <a:rPr lang="en-US" altLang="en-GB" sz="1400"/>
                        <a:t>VGG16</a:t>
                      </a:r>
                      <a:endParaRPr lang="en-US" altLang="en-GB" sz="1400"/>
                    </a:p>
                  </a:txBody>
                  <a:tcPr/>
                </a:tc>
                <a:tc>
                  <a:txBody>
                    <a:bodyPr/>
                    <a:p>
                      <a:pPr>
                        <a:buNone/>
                      </a:pPr>
                      <a:r>
                        <a:rPr lang="en-US" altLang="en-GB" sz="1400"/>
                        <a:t>Very simple, easy to reason about; good baseline for feature-extractor experiments; widely available checkpoints.</a:t>
                      </a:r>
                      <a:endParaRPr lang="en-US" altLang="en-GB" sz="1400"/>
                    </a:p>
                  </a:txBody>
                  <a:tcPr/>
                </a:tc>
                <a:tc>
                  <a:txBody>
                    <a:bodyPr/>
                    <a:p>
                      <a:pPr>
                        <a:buNone/>
                      </a:pPr>
                      <a:r>
                        <a:rPr lang="en-US" altLang="en-GB" sz="1400"/>
                        <a:t>Very large parameter count </a:t>
                      </a:r>
                      <a:r>
                        <a:rPr lang="en-US" altLang="en-US" sz="1400"/>
                        <a:t>→</a:t>
                      </a:r>
                      <a:r>
                        <a:rPr lang="en-US" altLang="en-GB" sz="1400"/>
                        <a:t> heavy memory &amp; disk; slow to train/infer; easy to overfit on small datasets.</a:t>
                      </a:r>
                      <a:endParaRPr lang="en-US" altLang="en-GB" sz="1400"/>
                    </a:p>
                  </a:txBody>
                  <a:tcPr/>
                </a:tc>
                <a:tc>
                  <a:txBody>
                    <a:bodyPr/>
                    <a:p>
                      <a:pPr>
                        <a:buNone/>
                      </a:pPr>
                      <a:r>
                        <a:rPr lang="en-US" altLang="en-GB" sz="1400"/>
                        <a:t>Use as a baseline or when model simplicity / interpretability matters and compute/storage is not constrained.</a:t>
                      </a:r>
                      <a:endParaRPr lang="en-US" altLang="en-GB" sz="1400"/>
                    </a:p>
                  </a:txBody>
                  <a:tcPr/>
                </a:tc>
              </a:tr>
              <a:tr h="762635">
                <a:tc>
                  <a:txBody>
                    <a:bodyPr/>
                    <a:p>
                      <a:pPr>
                        <a:buNone/>
                      </a:pPr>
                      <a:r>
                        <a:rPr lang="en-US" altLang="en-GB" sz="1400"/>
                        <a:t>ResNet50</a:t>
                      </a:r>
                      <a:endParaRPr lang="en-US" altLang="en-GB" sz="1400"/>
                    </a:p>
                  </a:txBody>
                  <a:tcPr/>
                </a:tc>
                <a:tc>
                  <a:txBody>
                    <a:bodyPr/>
                    <a:p>
                      <a:pPr>
                        <a:buNone/>
                      </a:pPr>
                      <a:r>
                        <a:rPr lang="en-US" altLang="en-GB" sz="1400"/>
                        <a:t>Strong general-purpose feature extractor; residual connections enable stable training for deeper nets; excellent transfer learning performance.</a:t>
                      </a:r>
                      <a:endParaRPr lang="en-US" altLang="en-GB" sz="1400"/>
                    </a:p>
                  </a:txBody>
                  <a:tcPr/>
                </a:tc>
                <a:tc>
                  <a:txBody>
                    <a:bodyPr/>
                    <a:p>
                      <a:pPr>
                        <a:buNone/>
                      </a:pPr>
                      <a:r>
                        <a:rPr lang="en-US" altLang="en-GB" sz="1400"/>
                        <a:t>Heavier than the most efficient nets; not the smallest or fastest option for edge deployment.</a:t>
                      </a:r>
                      <a:endParaRPr lang="en-US" altLang="en-GB" sz="1400"/>
                    </a:p>
                  </a:txBody>
                  <a:tcPr/>
                </a:tc>
                <a:tc>
                  <a:txBody>
                    <a:bodyPr/>
                    <a:p>
                      <a:pPr>
                        <a:buNone/>
                      </a:pPr>
                      <a:r>
                        <a:rPr lang="en-US" altLang="en-GB" sz="1400"/>
                        <a:t>Good default for transfer learning and production tasks where a balance of accuracy and speed is needed.</a:t>
                      </a:r>
                      <a:endParaRPr lang="en-US" altLang="en-GB" sz="1400"/>
                    </a:p>
                  </a:txBody>
                  <a:tcPr/>
                </a:tc>
              </a:tr>
              <a:tr h="1247140">
                <a:tc>
                  <a:txBody>
                    <a:bodyPr/>
                    <a:p>
                      <a:pPr>
                        <a:buNone/>
                      </a:pPr>
                      <a:r>
                        <a:rPr lang="en-US" altLang="en-GB" sz="1400"/>
                        <a:t>DenseNet121</a:t>
                      </a:r>
                      <a:endParaRPr lang="en-US" altLang="en-GB" sz="1400"/>
                    </a:p>
                  </a:txBody>
                  <a:tcPr/>
                </a:tc>
                <a:tc>
                  <a:txBody>
                    <a:bodyPr/>
                    <a:p>
                      <a:pPr>
                        <a:buNone/>
                      </a:pPr>
                      <a:r>
                        <a:rPr lang="en-US" altLang="en-GB" sz="1400"/>
                        <a:t>Parameter-efficient; feature-reuse via dense connections often improves sample efficiency; relatively compact.</a:t>
                      </a:r>
                      <a:endParaRPr lang="en-US" altLang="en-GB" sz="1400"/>
                    </a:p>
                  </a:txBody>
                  <a:tcPr/>
                </a:tc>
                <a:tc>
                  <a:txBody>
                    <a:bodyPr/>
                    <a:p>
                      <a:pPr>
                        <a:buNone/>
                      </a:pPr>
                      <a:r>
                        <a:rPr lang="en-US" altLang="en-GB" sz="1400"/>
                        <a:t>Training memory (RAM) can be higher due to dense concatenations; concatenation overhead may slow some implementations.</a:t>
                      </a:r>
                      <a:endParaRPr lang="en-US" altLang="en-GB" sz="1400"/>
                    </a:p>
                  </a:txBody>
                  <a:tcPr/>
                </a:tc>
                <a:tc>
                  <a:txBody>
                    <a:bodyPr/>
                    <a:p>
                      <a:pPr>
                        <a:buNone/>
                      </a:pPr>
                      <a:r>
                        <a:rPr lang="en-US" altLang="en-GB" sz="1400"/>
                        <a:t>When you need decent accuracy with low parameter count, or limited disk footprint but still good transfer performance.</a:t>
                      </a:r>
                      <a:endParaRPr lang="en-US" altLang="en-GB" sz="1400"/>
                    </a:p>
                  </a:txBody>
                  <a:tcPr/>
                </a:tc>
              </a:tr>
              <a:tr h="640080">
                <a:tc>
                  <a:txBody>
                    <a:bodyPr/>
                    <a:p>
                      <a:pPr>
                        <a:buNone/>
                      </a:pPr>
                      <a:r>
                        <a:rPr lang="en-US" altLang="en-GB" sz="1400"/>
                        <a:t>EfficientNet-B0</a:t>
                      </a:r>
                      <a:endParaRPr lang="en-US" altLang="en-GB" sz="1400"/>
                    </a:p>
                  </a:txBody>
                  <a:tcPr/>
                </a:tc>
                <a:tc>
                  <a:txBody>
                    <a:bodyPr/>
                    <a:p>
                      <a:pPr>
                        <a:buNone/>
                      </a:pPr>
                      <a:r>
                        <a:rPr lang="en-US" altLang="en-GB" sz="1400"/>
                        <a:t>State-of-the-art efficiency for its time — very good accuracy per FLOP/param; excellent for mobile/edge and fast inference.</a:t>
                      </a:r>
                      <a:endParaRPr lang="en-US" altLang="en-GB" sz="1400"/>
                    </a:p>
                  </a:txBody>
                  <a:tcPr/>
                </a:tc>
                <a:tc>
                  <a:txBody>
                    <a:bodyPr/>
                    <a:p>
                      <a:pPr>
                        <a:buNone/>
                      </a:pPr>
                      <a:r>
                        <a:rPr lang="en-US" altLang="en-GB" sz="1400"/>
                        <a:t>Less straightforward to modify (compound scaling rules); slightly more complex architecture; specialized variants may be preferable for extreme accuracy.</a:t>
                      </a:r>
                      <a:endParaRPr lang="en-US" altLang="en-GB" sz="1400"/>
                    </a:p>
                  </a:txBody>
                  <a:tcPr/>
                </a:tc>
                <a:tc>
                  <a:txBody>
                    <a:bodyPr/>
                    <a:p>
                      <a:pPr>
                        <a:buNone/>
                      </a:pPr>
                      <a:r>
                        <a:rPr lang="en-US" altLang="en-GB" sz="1400"/>
                        <a:t>Best when compute / latency / memory are constrained and you still want competitive accuracy. Ideal for edge or large-scale inference.</a:t>
                      </a:r>
                      <a:endParaRPr lang="en-US" altLang="en-GB" sz="1400"/>
                    </a:p>
                  </a:txBody>
                  <a:tcPr/>
                </a:tc>
              </a:tr>
            </a:tbl>
          </a:graphicData>
        </a:graphic>
      </p:graphicFrame>
      <p:sp>
        <p:nvSpPr>
          <p:cNvPr id="6" name="Text Box 5"/>
          <p:cNvSpPr txBox="1"/>
          <p:nvPr/>
        </p:nvSpPr>
        <p:spPr>
          <a:xfrm>
            <a:off x="1612900" y="6130290"/>
            <a:ext cx="9090025" cy="368300"/>
          </a:xfrm>
          <a:prstGeom prst="rect">
            <a:avLst/>
          </a:prstGeom>
          <a:noFill/>
        </p:spPr>
        <p:txBody>
          <a:bodyPr wrap="square" rtlCol="0">
            <a:spAutoFit/>
          </a:bodyPr>
          <a:p>
            <a:r>
              <a:rPr lang="en-US" altLang="en-GB" b="1"/>
              <a:t>The above table shows the comparative Study of the 4 used pretrained models in out project</a:t>
            </a:r>
            <a:endParaRPr lang="en-US" altLang="en-GB" b="1"/>
          </a:p>
        </p:txBody>
      </p:sp>
    </p:spTree>
  </p:cSld>
  <p:clrMapOvr>
    <a:masterClrMapping/>
  </p:clrMapOvr>
  <mc:AlternateContent xmlns:mc="http://schemas.openxmlformats.org/markup-compatibility/2006">
    <mc:Choice xmlns:p14="http://schemas.microsoft.com/office/powerpoint/2010/main" Requires="p14">
      <p:transition spd="slow" p14:dur="1000">
        <p:wheel spokes="8"/>
      </p:transition>
    </mc:Choice>
    <mc:Fallback>
      <p:transition spd="slow">
        <p:wheel spokes="8"/>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heckerboard(across)">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16"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circle(in)">
                                      <p:cBhvr>
                                        <p:cTn id="12" dur="20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4" presetClass="entr" presetSubtype="16"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box(in)">
                                      <p:cBhvr>
                                        <p:cTn id="17" dur="20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2" grpId="0"/>
      <p:bldP spid="2" grpId="1"/>
      <p:bldP spid="6" grpId="0"/>
      <p:bldP spid="6"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0"/>
            <a:ext cx="3597910" cy="471170"/>
          </a:xfrm>
        </p:spPr>
        <p:txBody>
          <a:bodyPr>
            <a:normAutofit fontScale="90000"/>
          </a:bodyPr>
          <a:p>
            <a:r>
              <a:rPr lang="en-US" altLang="en-GB" sz="2665" b="1">
                <a:latin typeface="Bodoni MT" panose="02070603080606020203" charset="0"/>
                <a:cs typeface="Bodoni MT" panose="02070603080606020203" charset="0"/>
              </a:rPr>
              <a:t>densenet121</a:t>
            </a:r>
            <a:endParaRPr lang="en-US" altLang="en-GB" sz="2665" b="1">
              <a:latin typeface="Bodoni MT" panose="02070603080606020203" charset="0"/>
              <a:cs typeface="Bodoni MT" panose="02070603080606020203" charset="0"/>
            </a:endParaRPr>
          </a:p>
        </p:txBody>
      </p:sp>
      <p:pic>
        <p:nvPicPr>
          <p:cNvPr id="6" name="Content Placeholder 5"/>
          <p:cNvPicPr>
            <a:picLocks noChangeAspect="1"/>
          </p:cNvPicPr>
          <p:nvPr>
            <p:ph sz="half" idx="1"/>
          </p:nvPr>
        </p:nvPicPr>
        <p:blipFill>
          <a:blip r:embed="rId1"/>
          <a:stretch>
            <a:fillRect/>
          </a:stretch>
        </p:blipFill>
        <p:spPr>
          <a:xfrm>
            <a:off x="187960" y="471805"/>
            <a:ext cx="4211955" cy="1698625"/>
          </a:xfrm>
          <a:prstGeom prst="rect">
            <a:avLst/>
          </a:prstGeom>
        </p:spPr>
      </p:pic>
      <p:pic>
        <p:nvPicPr>
          <p:cNvPr id="7" name="Content Placeholder 6"/>
          <p:cNvPicPr>
            <a:picLocks noChangeAspect="1"/>
          </p:cNvPicPr>
          <p:nvPr>
            <p:ph sz="half" idx="2"/>
          </p:nvPr>
        </p:nvPicPr>
        <p:blipFill>
          <a:blip r:embed="rId2"/>
          <a:stretch>
            <a:fillRect/>
          </a:stretch>
        </p:blipFill>
        <p:spPr>
          <a:xfrm>
            <a:off x="4999990" y="471170"/>
            <a:ext cx="2876550" cy="1699260"/>
          </a:xfrm>
          <a:prstGeom prst="rect">
            <a:avLst/>
          </a:prstGeom>
        </p:spPr>
      </p:pic>
      <p:pic>
        <p:nvPicPr>
          <p:cNvPr id="8" name="Picture 7"/>
          <p:cNvPicPr>
            <a:picLocks noChangeAspect="1"/>
          </p:cNvPicPr>
          <p:nvPr/>
        </p:nvPicPr>
        <p:blipFill>
          <a:blip r:embed="rId3"/>
          <a:stretch>
            <a:fillRect/>
          </a:stretch>
        </p:blipFill>
        <p:spPr>
          <a:xfrm>
            <a:off x="8248650" y="1541145"/>
            <a:ext cx="3728085" cy="2061210"/>
          </a:xfrm>
          <a:prstGeom prst="rect">
            <a:avLst/>
          </a:prstGeom>
          <a:ln w="28575" cmpd="sng">
            <a:solidFill>
              <a:schemeClr val="tx1"/>
            </a:solidFill>
            <a:prstDash val="solid"/>
          </a:ln>
        </p:spPr>
      </p:pic>
      <p:pic>
        <p:nvPicPr>
          <p:cNvPr id="9" name="Picture 8"/>
          <p:cNvPicPr>
            <a:picLocks noChangeAspect="1"/>
          </p:cNvPicPr>
          <p:nvPr/>
        </p:nvPicPr>
        <p:blipFill>
          <a:blip r:embed="rId4"/>
          <a:stretch>
            <a:fillRect/>
          </a:stretch>
        </p:blipFill>
        <p:spPr>
          <a:xfrm>
            <a:off x="4887595" y="3838575"/>
            <a:ext cx="3596005" cy="2422525"/>
          </a:xfrm>
          <a:prstGeom prst="rect">
            <a:avLst/>
          </a:prstGeom>
          <a:ln w="28575" cmpd="sng">
            <a:solidFill>
              <a:schemeClr val="tx1"/>
            </a:solidFill>
            <a:prstDash val="solid"/>
          </a:ln>
        </p:spPr>
      </p:pic>
      <p:pic>
        <p:nvPicPr>
          <p:cNvPr id="10" name="Picture 9"/>
          <p:cNvPicPr>
            <a:picLocks noChangeAspect="1"/>
          </p:cNvPicPr>
          <p:nvPr/>
        </p:nvPicPr>
        <p:blipFill>
          <a:blip r:embed="rId5"/>
          <a:stretch>
            <a:fillRect/>
          </a:stretch>
        </p:blipFill>
        <p:spPr>
          <a:xfrm>
            <a:off x="119380" y="3602355"/>
            <a:ext cx="4160520" cy="2658745"/>
          </a:xfrm>
          <a:prstGeom prst="rect">
            <a:avLst/>
          </a:prstGeom>
          <a:ln w="28575" cmpd="sng">
            <a:solidFill>
              <a:schemeClr val="tx1"/>
            </a:solidFill>
            <a:prstDash val="solid"/>
          </a:ln>
        </p:spPr>
      </p:pic>
      <p:sp>
        <p:nvSpPr>
          <p:cNvPr id="11" name="Text Box 10"/>
          <p:cNvSpPr txBox="1"/>
          <p:nvPr/>
        </p:nvSpPr>
        <p:spPr>
          <a:xfrm>
            <a:off x="4399915" y="1136650"/>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2" name="Text Box 11"/>
          <p:cNvSpPr txBox="1"/>
          <p:nvPr/>
        </p:nvSpPr>
        <p:spPr>
          <a:xfrm>
            <a:off x="9792335" y="757555"/>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3" name="Text Box 12"/>
          <p:cNvSpPr txBox="1"/>
          <p:nvPr/>
        </p:nvSpPr>
        <p:spPr>
          <a:xfrm>
            <a:off x="10178415" y="998220"/>
            <a:ext cx="3352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4" name="Text Box 13"/>
          <p:cNvSpPr txBox="1"/>
          <p:nvPr/>
        </p:nvSpPr>
        <p:spPr>
          <a:xfrm>
            <a:off x="10131425" y="4613275"/>
            <a:ext cx="382270" cy="473710"/>
          </a:xfrm>
          <a:prstGeom prst="rect">
            <a:avLst/>
          </a:prstGeom>
          <a:noFill/>
        </p:spPr>
        <p:txBody>
          <a:bodyPr wrap="none" rtlCol="0" anchor="t">
            <a:no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5" name="Text Box 14"/>
          <p:cNvSpPr txBox="1"/>
          <p:nvPr/>
        </p:nvSpPr>
        <p:spPr>
          <a:xfrm>
            <a:off x="9868535" y="5086985"/>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6" name="Text Box 15"/>
          <p:cNvSpPr txBox="1"/>
          <p:nvPr/>
        </p:nvSpPr>
        <p:spPr>
          <a:xfrm>
            <a:off x="4279900" y="4865370"/>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7" name="Text Box 16"/>
          <p:cNvSpPr txBox="1"/>
          <p:nvPr/>
        </p:nvSpPr>
        <p:spPr>
          <a:xfrm>
            <a:off x="526415" y="2169795"/>
            <a:ext cx="3159125" cy="337185"/>
          </a:xfrm>
          <a:prstGeom prst="rect">
            <a:avLst/>
          </a:prstGeom>
          <a:noFill/>
        </p:spPr>
        <p:txBody>
          <a:bodyPr wrap="square" rtlCol="0">
            <a:spAutoFit/>
          </a:bodyPr>
          <a:p>
            <a:r>
              <a:rPr lang="en-US" altLang="en-GB" sz="1600" b="1"/>
              <a:t>Performance Metrics of desnet121</a:t>
            </a:r>
            <a:endParaRPr lang="en-US" altLang="en-GB" sz="1600" b="1"/>
          </a:p>
        </p:txBody>
      </p:sp>
      <p:sp>
        <p:nvSpPr>
          <p:cNvPr id="19" name="Text Box 18"/>
          <p:cNvSpPr txBox="1"/>
          <p:nvPr/>
        </p:nvSpPr>
        <p:spPr>
          <a:xfrm>
            <a:off x="5347335" y="2169795"/>
            <a:ext cx="2182495" cy="337185"/>
          </a:xfrm>
          <a:prstGeom prst="rect">
            <a:avLst/>
          </a:prstGeom>
          <a:noFill/>
        </p:spPr>
        <p:txBody>
          <a:bodyPr wrap="square" rtlCol="0">
            <a:spAutoFit/>
          </a:bodyPr>
          <a:p>
            <a:r>
              <a:rPr lang="en-US" altLang="en-GB" sz="1600" b="1"/>
              <a:t>Training till 10 epochs</a:t>
            </a:r>
            <a:endParaRPr lang="en-US" altLang="en-GB" sz="1600" b="1"/>
          </a:p>
        </p:txBody>
      </p:sp>
      <p:sp>
        <p:nvSpPr>
          <p:cNvPr id="20" name="Text Box 19"/>
          <p:cNvSpPr txBox="1"/>
          <p:nvPr/>
        </p:nvSpPr>
        <p:spPr>
          <a:xfrm>
            <a:off x="8682355" y="3684905"/>
            <a:ext cx="2861310" cy="337185"/>
          </a:xfrm>
          <a:prstGeom prst="rect">
            <a:avLst/>
          </a:prstGeom>
          <a:noFill/>
        </p:spPr>
        <p:txBody>
          <a:bodyPr wrap="square" rtlCol="0">
            <a:spAutoFit/>
          </a:bodyPr>
          <a:p>
            <a:r>
              <a:rPr lang="en-US" altLang="en-GB" sz="1600" b="1"/>
              <a:t>Accuracy Curve for desnet121</a:t>
            </a:r>
            <a:endParaRPr lang="en-US" altLang="en-GB" sz="1600" b="1"/>
          </a:p>
        </p:txBody>
      </p:sp>
      <p:sp>
        <p:nvSpPr>
          <p:cNvPr id="21" name="Text Box 20"/>
          <p:cNvSpPr txBox="1"/>
          <p:nvPr/>
        </p:nvSpPr>
        <p:spPr>
          <a:xfrm>
            <a:off x="5479415" y="6336030"/>
            <a:ext cx="2529205" cy="337185"/>
          </a:xfrm>
          <a:prstGeom prst="rect">
            <a:avLst/>
          </a:prstGeom>
          <a:noFill/>
        </p:spPr>
        <p:txBody>
          <a:bodyPr wrap="square" rtlCol="0">
            <a:spAutoFit/>
          </a:bodyPr>
          <a:p>
            <a:r>
              <a:rPr lang="en-US" altLang="en-GB" sz="1600" b="1"/>
              <a:t>Loss Curve for desnet121</a:t>
            </a:r>
            <a:endParaRPr lang="en-US" altLang="en-GB" sz="1600" b="1"/>
          </a:p>
        </p:txBody>
      </p:sp>
      <p:sp>
        <p:nvSpPr>
          <p:cNvPr id="22" name="Text Box 21"/>
          <p:cNvSpPr txBox="1"/>
          <p:nvPr/>
        </p:nvSpPr>
        <p:spPr>
          <a:xfrm>
            <a:off x="526415" y="6336030"/>
            <a:ext cx="3093720" cy="337185"/>
          </a:xfrm>
          <a:prstGeom prst="rect">
            <a:avLst/>
          </a:prstGeom>
          <a:noFill/>
        </p:spPr>
        <p:txBody>
          <a:bodyPr wrap="square" rtlCol="0">
            <a:spAutoFit/>
          </a:bodyPr>
          <a:p>
            <a:r>
              <a:rPr lang="en-US" altLang="en-GB" sz="1600" b="1"/>
              <a:t>Confusion Matrix for desnet121</a:t>
            </a:r>
            <a:endParaRPr lang="en-US" altLang="en-GB" sz="1600" b="1"/>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4"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ipe(down)">
                                      <p:cBhvr>
                                        <p:cTn id="14" dur="500"/>
                                        <p:tgtEl>
                                          <p:spTgt spid="6"/>
                                        </p:tgtEl>
                                      </p:cBhvr>
                                    </p:animEffect>
                                  </p:childTnLst>
                                </p:cTn>
                              </p:par>
                            </p:childTnLst>
                          </p:cTn>
                        </p:par>
                      </p:childTnLst>
                    </p:cTn>
                  </p:par>
                  <p:par>
                    <p:cTn id="15" fill="hold">
                      <p:stCondLst>
                        <p:cond delay="indefinite"/>
                      </p:stCondLst>
                      <p:childTnLst>
                        <p:par>
                          <p:cTn id="16" fill="hold">
                            <p:stCondLst>
                              <p:cond delay="0"/>
                            </p:stCondLst>
                            <p:childTnLst>
                              <p:par>
                                <p:cTn id="17" presetID="13" presetClass="entr" presetSubtype="16"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plus(in)">
                                      <p:cBhvr>
                                        <p:cTn id="19" dur="20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40" presetClass="entr" presetSubtype="0" fill="hold" grpId="0" nodeType="clickEffect">
                                  <p:stCondLst>
                                    <p:cond delay="0"/>
                                  </p:stCondLst>
                                  <p:iterate type="lt">
                                    <p:tmPct val="10000"/>
                                  </p:iterate>
                                  <p:childTnLst>
                                    <p:set>
                                      <p:cBhvr>
                                        <p:cTn id="23" dur="1" fill="hold">
                                          <p:stCondLst>
                                            <p:cond delay="0"/>
                                          </p:stCondLst>
                                        </p:cTn>
                                        <p:tgtEl>
                                          <p:spTgt spid="11"/>
                                        </p:tgtEl>
                                        <p:attrNameLst>
                                          <p:attrName>style.visibility</p:attrName>
                                        </p:attrNameLst>
                                      </p:cBhvr>
                                      <p:to>
                                        <p:strVal val="visible"/>
                                      </p:to>
                                    </p:set>
                                    <p:animEffect transition="in" filter="fade">
                                      <p:cBhvr>
                                        <p:cTn id="24" dur="1000"/>
                                        <p:tgtEl>
                                          <p:spTgt spid="11"/>
                                        </p:tgtEl>
                                      </p:cBhvr>
                                    </p:animEffect>
                                    <p:anim calcmode="lin" valueType="num">
                                      <p:cBhvr>
                                        <p:cTn id="25" dur="1000" fill="hold"/>
                                        <p:tgtEl>
                                          <p:spTgt spid="11"/>
                                        </p:tgtEl>
                                        <p:attrNameLst>
                                          <p:attrName>ppt_x</p:attrName>
                                        </p:attrNameLst>
                                      </p:cBhvr>
                                      <p:tavLst>
                                        <p:tav tm="0">
                                          <p:val>
                                            <p:strVal val="#ppt_x-.1"/>
                                          </p:val>
                                        </p:tav>
                                        <p:tav tm="100000">
                                          <p:val>
                                            <p:strVal val="#ppt_x"/>
                                          </p:val>
                                        </p:tav>
                                      </p:tavLst>
                                    </p:anim>
                                    <p:anim calcmode="lin" valueType="num">
                                      <p:cBhvr>
                                        <p:cTn id="26" dur="10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3" presetClass="entr" presetSubtype="1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blinds(horizontal)">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3" presetClass="entr" presetSubtype="10" fill="hold" grpId="0" nodeType="click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blinds(horizontal)">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40" presetClass="entr" presetSubtype="0" fill="hold" grpId="0" nodeType="clickEffect">
                                  <p:stCondLst>
                                    <p:cond delay="0"/>
                                  </p:stCondLst>
                                  <p:iterate type="lt">
                                    <p:tmPct val="10000"/>
                                  </p:iterate>
                                  <p:childTnLst>
                                    <p:set>
                                      <p:cBhvr>
                                        <p:cTn id="40" dur="1" fill="hold">
                                          <p:stCondLst>
                                            <p:cond delay="0"/>
                                          </p:stCondLst>
                                        </p:cTn>
                                        <p:tgtEl>
                                          <p:spTgt spid="12"/>
                                        </p:tgtEl>
                                        <p:attrNameLst>
                                          <p:attrName>style.visibility</p:attrName>
                                        </p:attrNameLst>
                                      </p:cBhvr>
                                      <p:to>
                                        <p:strVal val="visible"/>
                                      </p:to>
                                    </p:set>
                                    <p:animEffect transition="in" filter="fade">
                                      <p:cBhvr>
                                        <p:cTn id="41" dur="1000"/>
                                        <p:tgtEl>
                                          <p:spTgt spid="12"/>
                                        </p:tgtEl>
                                      </p:cBhvr>
                                    </p:animEffect>
                                    <p:anim calcmode="lin" valueType="num">
                                      <p:cBhvr>
                                        <p:cTn id="42" dur="1000" fill="hold"/>
                                        <p:tgtEl>
                                          <p:spTgt spid="12"/>
                                        </p:tgtEl>
                                        <p:attrNameLst>
                                          <p:attrName>ppt_x</p:attrName>
                                        </p:attrNameLst>
                                      </p:cBhvr>
                                      <p:tavLst>
                                        <p:tav tm="0">
                                          <p:val>
                                            <p:strVal val="#ppt_x-.1"/>
                                          </p:val>
                                        </p:tav>
                                        <p:tav tm="100000">
                                          <p:val>
                                            <p:strVal val="#ppt_x"/>
                                          </p:val>
                                        </p:tav>
                                      </p:tavLst>
                                    </p:anim>
                                    <p:anim calcmode="lin" valueType="num">
                                      <p:cBhvr>
                                        <p:cTn id="43" dur="10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7" presetClass="entr" presetSubtype="0" fill="hold" grpId="0" nodeType="click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1000"/>
                                        <p:tgtEl>
                                          <p:spTgt spid="13"/>
                                        </p:tgtEl>
                                      </p:cBhvr>
                                    </p:animEffect>
                                    <p:anim calcmode="lin" valueType="num">
                                      <p:cBhvr>
                                        <p:cTn id="49" dur="1000" fill="hold"/>
                                        <p:tgtEl>
                                          <p:spTgt spid="13"/>
                                        </p:tgtEl>
                                        <p:attrNameLst>
                                          <p:attrName>ppt_x</p:attrName>
                                        </p:attrNameLst>
                                      </p:cBhvr>
                                      <p:tavLst>
                                        <p:tav tm="0">
                                          <p:val>
                                            <p:strVal val="#ppt_x"/>
                                          </p:val>
                                        </p:tav>
                                        <p:tav tm="100000">
                                          <p:val>
                                            <p:strVal val="#ppt_x"/>
                                          </p:val>
                                        </p:tav>
                                      </p:tavLst>
                                    </p:anim>
                                    <p:anim calcmode="lin" valueType="num">
                                      <p:cBhvr>
                                        <p:cTn id="5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47" presetClass="entr" presetSubtype="0" fill="hold" nodeType="clickEffect">
                                  <p:stCondLst>
                                    <p:cond delay="0"/>
                                  </p:stCondLst>
                                  <p:childTnLst>
                                    <p:set>
                                      <p:cBhvr>
                                        <p:cTn id="54" dur="1" fill="hold">
                                          <p:stCondLst>
                                            <p:cond delay="0"/>
                                          </p:stCondLst>
                                        </p:cTn>
                                        <p:tgtEl>
                                          <p:spTgt spid="8"/>
                                        </p:tgtEl>
                                        <p:attrNameLst>
                                          <p:attrName>style.visibility</p:attrName>
                                        </p:attrNameLst>
                                      </p:cBhvr>
                                      <p:to>
                                        <p:strVal val="visible"/>
                                      </p:to>
                                    </p:set>
                                    <p:animEffect transition="in" filter="fade">
                                      <p:cBhvr>
                                        <p:cTn id="55" dur="1000"/>
                                        <p:tgtEl>
                                          <p:spTgt spid="8"/>
                                        </p:tgtEl>
                                      </p:cBhvr>
                                    </p:animEffect>
                                    <p:anim calcmode="lin" valueType="num">
                                      <p:cBhvr>
                                        <p:cTn id="56" dur="1000" fill="hold"/>
                                        <p:tgtEl>
                                          <p:spTgt spid="8"/>
                                        </p:tgtEl>
                                        <p:attrNameLst>
                                          <p:attrName>ppt_x</p:attrName>
                                        </p:attrNameLst>
                                      </p:cBhvr>
                                      <p:tavLst>
                                        <p:tav tm="0">
                                          <p:val>
                                            <p:strVal val="#ppt_x"/>
                                          </p:val>
                                        </p:tav>
                                        <p:tav tm="100000">
                                          <p:val>
                                            <p:strVal val="#ppt_x"/>
                                          </p:val>
                                        </p:tav>
                                      </p:tavLst>
                                    </p:anim>
                                    <p:anim calcmode="lin" valueType="num">
                                      <p:cBhvr>
                                        <p:cTn id="57"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47" presetClass="entr" presetSubtype="0" fill="hold" grpId="0" nodeType="click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1000"/>
                                        <p:tgtEl>
                                          <p:spTgt spid="20"/>
                                        </p:tgtEl>
                                      </p:cBhvr>
                                    </p:animEffect>
                                    <p:anim calcmode="lin" valueType="num">
                                      <p:cBhvr>
                                        <p:cTn id="63" dur="1000" fill="hold"/>
                                        <p:tgtEl>
                                          <p:spTgt spid="20"/>
                                        </p:tgtEl>
                                        <p:attrNameLst>
                                          <p:attrName>ppt_x</p:attrName>
                                        </p:attrNameLst>
                                      </p:cBhvr>
                                      <p:tavLst>
                                        <p:tav tm="0">
                                          <p:val>
                                            <p:strVal val="#ppt_x"/>
                                          </p:val>
                                        </p:tav>
                                        <p:tav tm="100000">
                                          <p:val>
                                            <p:strVal val="#ppt_x"/>
                                          </p:val>
                                        </p:tav>
                                      </p:tavLst>
                                    </p:anim>
                                    <p:anim calcmode="lin" valueType="num">
                                      <p:cBhvr>
                                        <p:cTn id="64"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47" presetClass="entr" presetSubtype="0" fill="hold" grpId="0" nodeType="click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fade">
                                      <p:cBhvr>
                                        <p:cTn id="69" dur="1000"/>
                                        <p:tgtEl>
                                          <p:spTgt spid="14"/>
                                        </p:tgtEl>
                                      </p:cBhvr>
                                    </p:animEffect>
                                    <p:anim calcmode="lin" valueType="num">
                                      <p:cBhvr>
                                        <p:cTn id="70" dur="1000" fill="hold"/>
                                        <p:tgtEl>
                                          <p:spTgt spid="14"/>
                                        </p:tgtEl>
                                        <p:attrNameLst>
                                          <p:attrName>ppt_x</p:attrName>
                                        </p:attrNameLst>
                                      </p:cBhvr>
                                      <p:tavLst>
                                        <p:tav tm="0">
                                          <p:val>
                                            <p:strVal val="#ppt_x"/>
                                          </p:val>
                                        </p:tav>
                                        <p:tav tm="100000">
                                          <p:val>
                                            <p:strVal val="#ppt_x"/>
                                          </p:val>
                                        </p:tav>
                                      </p:tavLst>
                                    </p:anim>
                                    <p:anim calcmode="lin" valueType="num">
                                      <p:cBhvr>
                                        <p:cTn id="71"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1" presetClass="entr" presetSubtype="0" fill="hold" grpId="0" nodeType="clickEffect">
                                  <p:stCondLst>
                                    <p:cond delay="0"/>
                                  </p:stCondLst>
                                  <p:iterate type="lt">
                                    <p:tmPct val="10000"/>
                                  </p:iterate>
                                  <p:childTnLst>
                                    <p:set>
                                      <p:cBhvr>
                                        <p:cTn id="75" dur="1" fill="hold">
                                          <p:stCondLst>
                                            <p:cond delay="0"/>
                                          </p:stCondLst>
                                        </p:cTn>
                                        <p:tgtEl>
                                          <p:spTgt spid="15"/>
                                        </p:tgtEl>
                                        <p:attrNameLst>
                                          <p:attrName>style.visibility</p:attrName>
                                        </p:attrNameLst>
                                      </p:cBhvr>
                                      <p:to>
                                        <p:strVal val="visible"/>
                                      </p:to>
                                    </p:set>
                                    <p:anim calcmode="lin" valueType="num">
                                      <p:cBhvr>
                                        <p:cTn id="76" dur="500" fill="hold"/>
                                        <p:tgtEl>
                                          <p:spTgt spid="15"/>
                                        </p:tgtEl>
                                        <p:attrNameLst>
                                          <p:attrName>ppt_x</p:attrName>
                                        </p:attrNameLst>
                                      </p:cBhvr>
                                      <p:tavLst>
                                        <p:tav tm="0">
                                          <p:val>
                                            <p:strVal val="#ppt_x"/>
                                          </p:val>
                                        </p:tav>
                                        <p:tav tm="50000">
                                          <p:val>
                                            <p:strVal val="#ppt_x+.1"/>
                                          </p:val>
                                        </p:tav>
                                        <p:tav tm="100000">
                                          <p:val>
                                            <p:strVal val="#ppt_x"/>
                                          </p:val>
                                        </p:tav>
                                      </p:tavLst>
                                    </p:anim>
                                    <p:anim calcmode="lin" valueType="num">
                                      <p:cBhvr>
                                        <p:cTn id="77" dur="500" fill="hold"/>
                                        <p:tgtEl>
                                          <p:spTgt spid="15"/>
                                        </p:tgtEl>
                                        <p:attrNameLst>
                                          <p:attrName>ppt_y</p:attrName>
                                        </p:attrNameLst>
                                      </p:cBhvr>
                                      <p:tavLst>
                                        <p:tav tm="0">
                                          <p:val>
                                            <p:strVal val="#ppt_y"/>
                                          </p:val>
                                        </p:tav>
                                        <p:tav tm="100000">
                                          <p:val>
                                            <p:strVal val="#ppt_y"/>
                                          </p:val>
                                        </p:tav>
                                      </p:tavLst>
                                    </p:anim>
                                    <p:anim calcmode="lin" valueType="num">
                                      <p:cBhvr>
                                        <p:cTn id="78" dur="500" fill="hold"/>
                                        <p:tgtEl>
                                          <p:spTgt spid="15"/>
                                        </p:tgtEl>
                                        <p:attrNameLst>
                                          <p:attrName>ppt_h</p:attrName>
                                        </p:attrNameLst>
                                      </p:cBhvr>
                                      <p:tavLst>
                                        <p:tav tm="0">
                                          <p:val>
                                            <p:strVal val="#ppt_h/10"/>
                                          </p:val>
                                        </p:tav>
                                        <p:tav tm="50000">
                                          <p:val>
                                            <p:strVal val="#ppt_h+.01"/>
                                          </p:val>
                                        </p:tav>
                                        <p:tav tm="100000">
                                          <p:val>
                                            <p:strVal val="#ppt_h"/>
                                          </p:val>
                                        </p:tav>
                                      </p:tavLst>
                                    </p:anim>
                                    <p:anim calcmode="lin" valueType="num">
                                      <p:cBhvr>
                                        <p:cTn id="79" dur="500" fill="hold"/>
                                        <p:tgtEl>
                                          <p:spTgt spid="15"/>
                                        </p:tgtEl>
                                        <p:attrNameLst>
                                          <p:attrName>ppt_w</p:attrName>
                                        </p:attrNameLst>
                                      </p:cBhvr>
                                      <p:tavLst>
                                        <p:tav tm="0">
                                          <p:val>
                                            <p:strVal val="#ppt_w/10"/>
                                          </p:val>
                                        </p:tav>
                                        <p:tav tm="50000">
                                          <p:val>
                                            <p:strVal val="#ppt_w+.01"/>
                                          </p:val>
                                        </p:tav>
                                        <p:tav tm="100000">
                                          <p:val>
                                            <p:strVal val="#ppt_w"/>
                                          </p:val>
                                        </p:tav>
                                      </p:tavLst>
                                    </p:anim>
                                    <p:animEffect transition="in" filter="fade">
                                      <p:cBhvr>
                                        <p:cTn id="80" dur="500" tmFilter="0,0; .5, 1; 1, 1"/>
                                        <p:tgtEl>
                                          <p:spTgt spid="15"/>
                                        </p:tgtEl>
                                      </p:cBhvr>
                                    </p:animEffect>
                                  </p:childTnLst>
                                </p:cTn>
                              </p:par>
                            </p:childTnLst>
                          </p:cTn>
                        </p:par>
                      </p:childTnLst>
                    </p:cTn>
                  </p:par>
                  <p:par>
                    <p:cTn id="81" fill="hold">
                      <p:stCondLst>
                        <p:cond delay="indefinite"/>
                      </p:stCondLst>
                      <p:childTnLst>
                        <p:par>
                          <p:cTn id="82" fill="hold">
                            <p:stCondLst>
                              <p:cond delay="0"/>
                            </p:stCondLst>
                            <p:childTnLst>
                              <p:par>
                                <p:cTn id="83" presetID="23" presetClass="entr" presetSubtype="16" fill="hold" nodeType="clickEffect">
                                  <p:stCondLst>
                                    <p:cond delay="0"/>
                                  </p:stCondLst>
                                  <p:childTnLst>
                                    <p:set>
                                      <p:cBhvr>
                                        <p:cTn id="84" dur="1" fill="hold">
                                          <p:stCondLst>
                                            <p:cond delay="0"/>
                                          </p:stCondLst>
                                        </p:cTn>
                                        <p:tgtEl>
                                          <p:spTgt spid="9"/>
                                        </p:tgtEl>
                                        <p:attrNameLst>
                                          <p:attrName>style.visibility</p:attrName>
                                        </p:attrNameLst>
                                      </p:cBhvr>
                                      <p:to>
                                        <p:strVal val="visible"/>
                                      </p:to>
                                    </p:set>
                                    <p:anim calcmode="lin" valueType="num">
                                      <p:cBhvr>
                                        <p:cTn id="85" dur="500" fill="hold"/>
                                        <p:tgtEl>
                                          <p:spTgt spid="9"/>
                                        </p:tgtEl>
                                        <p:attrNameLst>
                                          <p:attrName>ppt_w</p:attrName>
                                        </p:attrNameLst>
                                      </p:cBhvr>
                                      <p:tavLst>
                                        <p:tav tm="0">
                                          <p:val>
                                            <p:fltVal val="0"/>
                                          </p:val>
                                        </p:tav>
                                        <p:tav tm="100000">
                                          <p:val>
                                            <p:strVal val="#ppt_w"/>
                                          </p:val>
                                        </p:tav>
                                      </p:tavLst>
                                    </p:anim>
                                    <p:anim calcmode="lin" valueType="num">
                                      <p:cBhvr>
                                        <p:cTn id="86"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9" presetID="23" presetClass="entr" presetSubtype="16" fill="hold" grpId="0" nodeType="clickEffect">
                                  <p:stCondLst>
                                    <p:cond delay="0"/>
                                  </p:stCondLst>
                                  <p:childTnLst>
                                    <p:set>
                                      <p:cBhvr>
                                        <p:cTn id="90" dur="1" fill="hold">
                                          <p:stCondLst>
                                            <p:cond delay="0"/>
                                          </p:stCondLst>
                                        </p:cTn>
                                        <p:tgtEl>
                                          <p:spTgt spid="21"/>
                                        </p:tgtEl>
                                        <p:attrNameLst>
                                          <p:attrName>style.visibility</p:attrName>
                                        </p:attrNameLst>
                                      </p:cBhvr>
                                      <p:to>
                                        <p:strVal val="visible"/>
                                      </p:to>
                                    </p:set>
                                    <p:anim calcmode="lin" valueType="num">
                                      <p:cBhvr>
                                        <p:cTn id="91" dur="500" fill="hold"/>
                                        <p:tgtEl>
                                          <p:spTgt spid="21"/>
                                        </p:tgtEl>
                                        <p:attrNameLst>
                                          <p:attrName>ppt_w</p:attrName>
                                        </p:attrNameLst>
                                      </p:cBhvr>
                                      <p:tavLst>
                                        <p:tav tm="0">
                                          <p:val>
                                            <p:fltVal val="0"/>
                                          </p:val>
                                        </p:tav>
                                        <p:tav tm="100000">
                                          <p:val>
                                            <p:strVal val="#ppt_w"/>
                                          </p:val>
                                        </p:tav>
                                      </p:tavLst>
                                    </p:anim>
                                    <p:anim calcmode="lin" valueType="num">
                                      <p:cBhvr>
                                        <p:cTn id="92" dur="500" fill="hold"/>
                                        <p:tgtEl>
                                          <p:spTgt spid="21"/>
                                        </p:tgtEl>
                                        <p:attrNameLst>
                                          <p:attrName>ppt_h</p:attrName>
                                        </p:attrNameLst>
                                      </p:cBhvr>
                                      <p:tavLst>
                                        <p:tav tm="0">
                                          <p:val>
                                            <p:fltVal val="0"/>
                                          </p:val>
                                        </p:tav>
                                        <p:tav tm="100000">
                                          <p:val>
                                            <p:strVal val="#ppt_h"/>
                                          </p:val>
                                        </p:tav>
                                      </p:tavLst>
                                    </p:anim>
                                  </p:childTnLst>
                                </p:cTn>
                              </p:par>
                            </p:childTnLst>
                          </p:cTn>
                        </p:par>
                      </p:childTnLst>
                    </p:cTn>
                  </p:par>
                  <p:par>
                    <p:cTn id="93" fill="hold">
                      <p:stCondLst>
                        <p:cond delay="indefinite"/>
                      </p:stCondLst>
                      <p:childTnLst>
                        <p:par>
                          <p:cTn id="94" fill="hold">
                            <p:stCondLst>
                              <p:cond delay="0"/>
                            </p:stCondLst>
                            <p:childTnLst>
                              <p:par>
                                <p:cTn id="95" presetID="41" presetClass="entr" presetSubtype="0" fill="hold" grpId="0" nodeType="clickEffect">
                                  <p:stCondLst>
                                    <p:cond delay="0"/>
                                  </p:stCondLst>
                                  <p:iterate type="lt">
                                    <p:tmPct val="10000"/>
                                  </p:iterate>
                                  <p:childTnLst>
                                    <p:set>
                                      <p:cBhvr>
                                        <p:cTn id="96" dur="1" fill="hold">
                                          <p:stCondLst>
                                            <p:cond delay="0"/>
                                          </p:stCondLst>
                                        </p:cTn>
                                        <p:tgtEl>
                                          <p:spTgt spid="16"/>
                                        </p:tgtEl>
                                        <p:attrNameLst>
                                          <p:attrName>style.visibility</p:attrName>
                                        </p:attrNameLst>
                                      </p:cBhvr>
                                      <p:to>
                                        <p:strVal val="visible"/>
                                      </p:to>
                                    </p:set>
                                    <p:anim calcmode="lin" valueType="num">
                                      <p:cBhvr>
                                        <p:cTn id="97" dur="500" fill="hold"/>
                                        <p:tgtEl>
                                          <p:spTgt spid="16"/>
                                        </p:tgtEl>
                                        <p:attrNameLst>
                                          <p:attrName>ppt_x</p:attrName>
                                        </p:attrNameLst>
                                      </p:cBhvr>
                                      <p:tavLst>
                                        <p:tav tm="0">
                                          <p:val>
                                            <p:strVal val="#ppt_x"/>
                                          </p:val>
                                        </p:tav>
                                        <p:tav tm="50000">
                                          <p:val>
                                            <p:strVal val="#ppt_x+.1"/>
                                          </p:val>
                                        </p:tav>
                                        <p:tav tm="100000">
                                          <p:val>
                                            <p:strVal val="#ppt_x"/>
                                          </p:val>
                                        </p:tav>
                                      </p:tavLst>
                                    </p:anim>
                                    <p:anim calcmode="lin" valueType="num">
                                      <p:cBhvr>
                                        <p:cTn id="98" dur="500" fill="hold"/>
                                        <p:tgtEl>
                                          <p:spTgt spid="16"/>
                                        </p:tgtEl>
                                        <p:attrNameLst>
                                          <p:attrName>ppt_y</p:attrName>
                                        </p:attrNameLst>
                                      </p:cBhvr>
                                      <p:tavLst>
                                        <p:tav tm="0">
                                          <p:val>
                                            <p:strVal val="#ppt_y"/>
                                          </p:val>
                                        </p:tav>
                                        <p:tav tm="100000">
                                          <p:val>
                                            <p:strVal val="#ppt_y"/>
                                          </p:val>
                                        </p:tav>
                                      </p:tavLst>
                                    </p:anim>
                                    <p:anim calcmode="lin" valueType="num">
                                      <p:cBhvr>
                                        <p:cTn id="99" dur="500" fill="hold"/>
                                        <p:tgtEl>
                                          <p:spTgt spid="16"/>
                                        </p:tgtEl>
                                        <p:attrNameLst>
                                          <p:attrName>ppt_h</p:attrName>
                                        </p:attrNameLst>
                                      </p:cBhvr>
                                      <p:tavLst>
                                        <p:tav tm="0">
                                          <p:val>
                                            <p:strVal val="#ppt_h/10"/>
                                          </p:val>
                                        </p:tav>
                                        <p:tav tm="50000">
                                          <p:val>
                                            <p:strVal val="#ppt_h+.01"/>
                                          </p:val>
                                        </p:tav>
                                        <p:tav tm="100000">
                                          <p:val>
                                            <p:strVal val="#ppt_h"/>
                                          </p:val>
                                        </p:tav>
                                      </p:tavLst>
                                    </p:anim>
                                    <p:anim calcmode="lin" valueType="num">
                                      <p:cBhvr>
                                        <p:cTn id="100" dur="500" fill="hold"/>
                                        <p:tgtEl>
                                          <p:spTgt spid="16"/>
                                        </p:tgtEl>
                                        <p:attrNameLst>
                                          <p:attrName>ppt_w</p:attrName>
                                        </p:attrNameLst>
                                      </p:cBhvr>
                                      <p:tavLst>
                                        <p:tav tm="0">
                                          <p:val>
                                            <p:strVal val="#ppt_w/10"/>
                                          </p:val>
                                        </p:tav>
                                        <p:tav tm="50000">
                                          <p:val>
                                            <p:strVal val="#ppt_w+.01"/>
                                          </p:val>
                                        </p:tav>
                                        <p:tav tm="100000">
                                          <p:val>
                                            <p:strVal val="#ppt_w"/>
                                          </p:val>
                                        </p:tav>
                                      </p:tavLst>
                                    </p:anim>
                                    <p:animEffect transition="in" filter="fade">
                                      <p:cBhvr>
                                        <p:cTn id="101" dur="500" tmFilter="0,0; .5, 1; 1, 1"/>
                                        <p:tgtEl>
                                          <p:spTgt spid="16"/>
                                        </p:tgtEl>
                                      </p:cBhvr>
                                    </p:animEffect>
                                  </p:childTnLst>
                                </p:cTn>
                              </p:par>
                            </p:childTnLst>
                          </p:cTn>
                        </p:par>
                      </p:childTnLst>
                    </p:cTn>
                  </p:par>
                  <p:par>
                    <p:cTn id="102" fill="hold">
                      <p:stCondLst>
                        <p:cond delay="indefinite"/>
                      </p:stCondLst>
                      <p:childTnLst>
                        <p:par>
                          <p:cTn id="103" fill="hold">
                            <p:stCondLst>
                              <p:cond delay="0"/>
                            </p:stCondLst>
                            <p:childTnLst>
                              <p:par>
                                <p:cTn id="104" presetID="54" presetClass="entr" presetSubtype="0" accel="100000" fill="hold" nodeType="clickEffect">
                                  <p:stCondLst>
                                    <p:cond delay="0"/>
                                  </p:stCondLst>
                                  <p:childTnLst>
                                    <p:set>
                                      <p:cBhvr>
                                        <p:cTn id="105" dur="1" fill="hold">
                                          <p:stCondLst>
                                            <p:cond delay="0"/>
                                          </p:stCondLst>
                                        </p:cTn>
                                        <p:tgtEl>
                                          <p:spTgt spid="10"/>
                                        </p:tgtEl>
                                        <p:attrNameLst>
                                          <p:attrName>style.visibility</p:attrName>
                                        </p:attrNameLst>
                                      </p:cBhvr>
                                      <p:to>
                                        <p:strVal val="visible"/>
                                      </p:to>
                                    </p:set>
                                    <p:anim calcmode="lin" valueType="num">
                                      <p:cBhvr>
                                        <p:cTn id="106" dur="500" fill="hold"/>
                                        <p:tgtEl>
                                          <p:spTgt spid="10"/>
                                        </p:tgtEl>
                                        <p:attrNameLst>
                                          <p:attrName>ppt_w</p:attrName>
                                        </p:attrNameLst>
                                      </p:cBhvr>
                                      <p:tavLst>
                                        <p:tav tm="0">
                                          <p:val>
                                            <p:strVal val="#ppt_w*0.05"/>
                                          </p:val>
                                        </p:tav>
                                        <p:tav tm="100000">
                                          <p:val>
                                            <p:strVal val="#ppt_w"/>
                                          </p:val>
                                        </p:tav>
                                      </p:tavLst>
                                    </p:anim>
                                    <p:anim calcmode="lin" valueType="num">
                                      <p:cBhvr>
                                        <p:cTn id="107" dur="500" fill="hold"/>
                                        <p:tgtEl>
                                          <p:spTgt spid="10"/>
                                        </p:tgtEl>
                                        <p:attrNameLst>
                                          <p:attrName>ppt_h</p:attrName>
                                        </p:attrNameLst>
                                      </p:cBhvr>
                                      <p:tavLst>
                                        <p:tav tm="0">
                                          <p:val>
                                            <p:strVal val="#ppt_h"/>
                                          </p:val>
                                        </p:tav>
                                        <p:tav tm="100000">
                                          <p:val>
                                            <p:strVal val="#ppt_h"/>
                                          </p:val>
                                        </p:tav>
                                      </p:tavLst>
                                    </p:anim>
                                    <p:anim calcmode="lin" valueType="num">
                                      <p:cBhvr>
                                        <p:cTn id="108" dur="500" fill="hold"/>
                                        <p:tgtEl>
                                          <p:spTgt spid="10"/>
                                        </p:tgtEl>
                                        <p:attrNameLst>
                                          <p:attrName>ppt_x</p:attrName>
                                        </p:attrNameLst>
                                      </p:cBhvr>
                                      <p:tavLst>
                                        <p:tav tm="0">
                                          <p:val>
                                            <p:strVal val="#ppt_x-.2"/>
                                          </p:val>
                                        </p:tav>
                                        <p:tav tm="100000">
                                          <p:val>
                                            <p:strVal val="#ppt_x"/>
                                          </p:val>
                                        </p:tav>
                                      </p:tavLst>
                                    </p:anim>
                                    <p:anim calcmode="lin" valueType="num">
                                      <p:cBhvr>
                                        <p:cTn id="109" dur="500" fill="hold"/>
                                        <p:tgtEl>
                                          <p:spTgt spid="10"/>
                                        </p:tgtEl>
                                        <p:attrNameLst>
                                          <p:attrName>ppt_y</p:attrName>
                                        </p:attrNameLst>
                                      </p:cBhvr>
                                      <p:tavLst>
                                        <p:tav tm="0">
                                          <p:val>
                                            <p:strVal val="#ppt_y"/>
                                          </p:val>
                                        </p:tav>
                                        <p:tav tm="100000">
                                          <p:val>
                                            <p:strVal val="#ppt_y"/>
                                          </p:val>
                                        </p:tav>
                                      </p:tavLst>
                                    </p:anim>
                                    <p:animEffect transition="in" filter="fade">
                                      <p:cBhvr>
                                        <p:cTn id="110" dur="500"/>
                                        <p:tgtEl>
                                          <p:spTgt spid="10"/>
                                        </p:tgtEl>
                                      </p:cBhvr>
                                    </p:animEffect>
                                  </p:childTnLst>
                                </p:cTn>
                              </p:par>
                            </p:childTnLst>
                          </p:cTn>
                        </p:par>
                      </p:childTnLst>
                    </p:cTn>
                  </p:par>
                  <p:par>
                    <p:cTn id="111" fill="hold">
                      <p:stCondLst>
                        <p:cond delay="indefinite"/>
                      </p:stCondLst>
                      <p:childTnLst>
                        <p:par>
                          <p:cTn id="112" fill="hold">
                            <p:stCondLst>
                              <p:cond delay="0"/>
                            </p:stCondLst>
                            <p:childTnLst>
                              <p:par>
                                <p:cTn id="113" presetID="37" presetClass="entr" presetSubtype="0" fill="hold" grpId="0" nodeType="clickEffect">
                                  <p:stCondLst>
                                    <p:cond delay="0"/>
                                  </p:stCondLst>
                                  <p:childTnLst>
                                    <p:set>
                                      <p:cBhvr>
                                        <p:cTn id="114" dur="1" fill="hold">
                                          <p:stCondLst>
                                            <p:cond delay="0"/>
                                          </p:stCondLst>
                                        </p:cTn>
                                        <p:tgtEl>
                                          <p:spTgt spid="22"/>
                                        </p:tgtEl>
                                        <p:attrNameLst>
                                          <p:attrName>style.visibility</p:attrName>
                                        </p:attrNameLst>
                                      </p:cBhvr>
                                      <p:to>
                                        <p:strVal val="visible"/>
                                      </p:to>
                                    </p:set>
                                    <p:animEffect transition="in" filter="fade">
                                      <p:cBhvr>
                                        <p:cTn id="115" dur="1000"/>
                                        <p:tgtEl>
                                          <p:spTgt spid="22"/>
                                        </p:tgtEl>
                                      </p:cBhvr>
                                    </p:animEffect>
                                    <p:anim calcmode="lin" valueType="num">
                                      <p:cBhvr>
                                        <p:cTn id="116" dur="1000" fill="hold"/>
                                        <p:tgtEl>
                                          <p:spTgt spid="22"/>
                                        </p:tgtEl>
                                        <p:attrNameLst>
                                          <p:attrName>ppt_x</p:attrName>
                                        </p:attrNameLst>
                                      </p:cBhvr>
                                      <p:tavLst>
                                        <p:tav tm="0">
                                          <p:val>
                                            <p:strVal val="#ppt_x"/>
                                          </p:val>
                                        </p:tav>
                                        <p:tav tm="100000">
                                          <p:val>
                                            <p:strVal val="#ppt_x"/>
                                          </p:val>
                                        </p:tav>
                                      </p:tavLst>
                                    </p:anim>
                                    <p:anim calcmode="lin" valueType="num">
                                      <p:cBhvr>
                                        <p:cTn id="117" dur="900" decel="100000" fill="hold"/>
                                        <p:tgtEl>
                                          <p:spTgt spid="22"/>
                                        </p:tgtEl>
                                        <p:attrNameLst>
                                          <p:attrName>ppt_y</p:attrName>
                                        </p:attrNameLst>
                                      </p:cBhvr>
                                      <p:tavLst>
                                        <p:tav tm="0">
                                          <p:val>
                                            <p:strVal val="#ppt_y+1"/>
                                          </p:val>
                                        </p:tav>
                                        <p:tav tm="100000">
                                          <p:val>
                                            <p:strVal val="#ppt_y-.03"/>
                                          </p:val>
                                        </p:tav>
                                      </p:tavLst>
                                    </p:anim>
                                    <p:anim calcmode="lin" valueType="num">
                                      <p:cBhvr>
                                        <p:cTn id="118" dur="100" accel="100000" fill="hold">
                                          <p:stCondLst>
                                            <p:cond delay="90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17" grpId="0"/>
      <p:bldP spid="17" grpId="1"/>
      <p:bldP spid="11" grpId="0"/>
      <p:bldP spid="11" grpId="1"/>
      <p:bldP spid="19" grpId="0"/>
      <p:bldP spid="19" grpId="1"/>
      <p:bldP spid="12" grpId="0"/>
      <p:bldP spid="12" grpId="1"/>
      <p:bldP spid="13" grpId="0"/>
      <p:bldP spid="13" grpId="1"/>
      <p:bldP spid="20" grpId="0"/>
      <p:bldP spid="20" grpId="1"/>
      <p:bldP spid="14" grpId="0"/>
      <p:bldP spid="14" grpId="1"/>
      <p:bldP spid="15" grpId="0"/>
      <p:bldP spid="15" grpId="1"/>
      <p:bldP spid="21" grpId="0"/>
      <p:bldP spid="21" grpId="1"/>
      <p:bldP spid="16" grpId="0"/>
      <p:bldP spid="16" grpId="1"/>
      <p:bldP spid="22" grpId="0"/>
      <p:bldP spid="22"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0"/>
            <a:ext cx="3943985" cy="381000"/>
          </a:xfrm>
        </p:spPr>
        <p:txBody>
          <a:bodyPr>
            <a:noAutofit/>
          </a:bodyPr>
          <a:p>
            <a:r>
              <a:rPr lang="en-US" altLang="en-GB" sz="2400" b="1">
                <a:latin typeface="Bodoni MT" panose="02070603080606020203" charset="0"/>
                <a:cs typeface="Bodoni MT" panose="02070603080606020203" charset="0"/>
              </a:rPr>
              <a:t>efficientnet_b0</a:t>
            </a:r>
            <a:endParaRPr lang="en-US" altLang="en-GB" sz="2400" b="1">
              <a:latin typeface="Bodoni MT" panose="02070603080606020203" charset="0"/>
              <a:cs typeface="Bodoni MT" panose="02070603080606020203" charset="0"/>
            </a:endParaRPr>
          </a:p>
        </p:txBody>
      </p:sp>
      <p:pic>
        <p:nvPicPr>
          <p:cNvPr id="5" name="Content Placeholder 4"/>
          <p:cNvPicPr>
            <a:picLocks noChangeAspect="1"/>
          </p:cNvPicPr>
          <p:nvPr>
            <p:ph sz="half" idx="1"/>
          </p:nvPr>
        </p:nvPicPr>
        <p:blipFill>
          <a:blip r:embed="rId1"/>
          <a:stretch>
            <a:fillRect/>
          </a:stretch>
        </p:blipFill>
        <p:spPr>
          <a:xfrm>
            <a:off x="125730" y="467995"/>
            <a:ext cx="4255770" cy="2002155"/>
          </a:xfrm>
          <a:prstGeom prst="rect">
            <a:avLst/>
          </a:prstGeom>
        </p:spPr>
      </p:pic>
      <p:pic>
        <p:nvPicPr>
          <p:cNvPr id="6" name="Content Placeholder 5"/>
          <p:cNvPicPr>
            <a:picLocks noChangeAspect="1"/>
          </p:cNvPicPr>
          <p:nvPr>
            <p:ph sz="half" idx="2"/>
          </p:nvPr>
        </p:nvPicPr>
        <p:blipFill>
          <a:blip r:embed="rId2"/>
          <a:stretch>
            <a:fillRect/>
          </a:stretch>
        </p:blipFill>
        <p:spPr>
          <a:xfrm>
            <a:off x="5052060" y="460375"/>
            <a:ext cx="3106420" cy="2023110"/>
          </a:xfrm>
          <a:prstGeom prst="rect">
            <a:avLst/>
          </a:prstGeom>
        </p:spPr>
      </p:pic>
      <p:pic>
        <p:nvPicPr>
          <p:cNvPr id="7" name="Picture 6"/>
          <p:cNvPicPr>
            <a:picLocks noChangeAspect="1"/>
          </p:cNvPicPr>
          <p:nvPr/>
        </p:nvPicPr>
        <p:blipFill>
          <a:blip r:embed="rId3"/>
          <a:stretch>
            <a:fillRect/>
          </a:stretch>
        </p:blipFill>
        <p:spPr>
          <a:xfrm>
            <a:off x="8752840" y="1997710"/>
            <a:ext cx="3233420" cy="2576830"/>
          </a:xfrm>
          <a:prstGeom prst="rect">
            <a:avLst/>
          </a:prstGeom>
          <a:ln w="28575" cmpd="sng">
            <a:solidFill>
              <a:schemeClr val="tx1"/>
            </a:solidFill>
            <a:prstDash val="solid"/>
          </a:ln>
        </p:spPr>
      </p:pic>
      <p:pic>
        <p:nvPicPr>
          <p:cNvPr id="8" name="Picture 7"/>
          <p:cNvPicPr>
            <a:picLocks noChangeAspect="1"/>
          </p:cNvPicPr>
          <p:nvPr/>
        </p:nvPicPr>
        <p:blipFill>
          <a:blip r:embed="rId4"/>
          <a:stretch>
            <a:fillRect/>
          </a:stretch>
        </p:blipFill>
        <p:spPr>
          <a:xfrm>
            <a:off x="5109210" y="3867785"/>
            <a:ext cx="3042285" cy="2446655"/>
          </a:xfrm>
          <a:prstGeom prst="rect">
            <a:avLst/>
          </a:prstGeom>
          <a:ln w="28575" cmpd="sng">
            <a:solidFill>
              <a:schemeClr val="tx1"/>
            </a:solidFill>
            <a:prstDash val="solid"/>
          </a:ln>
        </p:spPr>
      </p:pic>
      <p:pic>
        <p:nvPicPr>
          <p:cNvPr id="9" name="Picture 8"/>
          <p:cNvPicPr>
            <a:picLocks noChangeAspect="1"/>
          </p:cNvPicPr>
          <p:nvPr/>
        </p:nvPicPr>
        <p:blipFill>
          <a:blip r:embed="rId5"/>
          <a:stretch>
            <a:fillRect/>
          </a:stretch>
        </p:blipFill>
        <p:spPr>
          <a:xfrm>
            <a:off x="618490" y="3649345"/>
            <a:ext cx="3211830" cy="2637155"/>
          </a:xfrm>
          <a:prstGeom prst="rect">
            <a:avLst/>
          </a:prstGeom>
          <a:ln w="28575" cmpd="sng">
            <a:solidFill>
              <a:schemeClr val="tx1"/>
            </a:solidFill>
            <a:prstDash val="solid"/>
          </a:ln>
        </p:spPr>
      </p:pic>
      <p:sp>
        <p:nvSpPr>
          <p:cNvPr id="11" name="Text Box 10"/>
          <p:cNvSpPr txBox="1"/>
          <p:nvPr/>
        </p:nvSpPr>
        <p:spPr>
          <a:xfrm>
            <a:off x="4410075" y="1287780"/>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2" name="Text Box 11"/>
          <p:cNvSpPr txBox="1"/>
          <p:nvPr/>
        </p:nvSpPr>
        <p:spPr>
          <a:xfrm>
            <a:off x="9749790" y="919480"/>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3" name="Text Box 12"/>
          <p:cNvSpPr txBox="1"/>
          <p:nvPr/>
        </p:nvSpPr>
        <p:spPr>
          <a:xfrm>
            <a:off x="10027285" y="1151255"/>
            <a:ext cx="3352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4" name="Text Box 13"/>
          <p:cNvSpPr txBox="1"/>
          <p:nvPr/>
        </p:nvSpPr>
        <p:spPr>
          <a:xfrm>
            <a:off x="10027285" y="5192395"/>
            <a:ext cx="3352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5" name="Text Box 14"/>
          <p:cNvSpPr txBox="1"/>
          <p:nvPr/>
        </p:nvSpPr>
        <p:spPr>
          <a:xfrm>
            <a:off x="9749790" y="5549265"/>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6" name="Text Box 15"/>
          <p:cNvSpPr txBox="1"/>
          <p:nvPr/>
        </p:nvSpPr>
        <p:spPr>
          <a:xfrm>
            <a:off x="4092575" y="4888865"/>
            <a:ext cx="487680" cy="460375"/>
          </a:xfrm>
          <a:prstGeom prst="rect">
            <a:avLst/>
          </a:prstGeom>
          <a:noFill/>
        </p:spPr>
        <p:txBody>
          <a:bodyPr wrap="none" rtlCol="0" anchor="t">
            <a:spAutoFit/>
          </a:bodyPr>
          <a:p>
            <a:r>
              <a:rPr lang="en-GB" altLang="en-US" sz="2400">
                <a:latin typeface="Arial" panose="020B0604020202020204" pitchFamily="34" charset="0"/>
                <a:cs typeface="Arial" panose="020B0604020202020204" pitchFamily="34" charset="0"/>
              </a:rPr>
              <a:t>←</a:t>
            </a:r>
            <a:endParaRPr lang="en-GB" altLang="en-US" sz="2400">
              <a:latin typeface="Arial" panose="020B0604020202020204" pitchFamily="34" charset="0"/>
              <a:cs typeface="Arial" panose="020B0604020202020204" pitchFamily="34" charset="0"/>
            </a:endParaRPr>
          </a:p>
        </p:txBody>
      </p:sp>
      <p:sp>
        <p:nvSpPr>
          <p:cNvPr id="17" name="Text Box 16"/>
          <p:cNvSpPr txBox="1"/>
          <p:nvPr/>
        </p:nvSpPr>
        <p:spPr>
          <a:xfrm>
            <a:off x="125730" y="2470150"/>
            <a:ext cx="4064000" cy="368300"/>
          </a:xfrm>
          <a:prstGeom prst="rect">
            <a:avLst/>
          </a:prstGeom>
          <a:noFill/>
        </p:spPr>
        <p:txBody>
          <a:bodyPr wrap="square" rtlCol="0">
            <a:spAutoFit/>
          </a:bodyPr>
          <a:p>
            <a:r>
              <a:rPr lang="en-US" altLang="en-GB" b="1"/>
              <a:t>Performance Metrics of efficientnet_b0</a:t>
            </a:r>
            <a:endParaRPr lang="en-US" altLang="en-GB" b="1"/>
          </a:p>
        </p:txBody>
      </p:sp>
      <p:sp>
        <p:nvSpPr>
          <p:cNvPr id="18" name="Text Box 17"/>
          <p:cNvSpPr txBox="1"/>
          <p:nvPr/>
        </p:nvSpPr>
        <p:spPr>
          <a:xfrm>
            <a:off x="5524500" y="2483485"/>
            <a:ext cx="2414270" cy="368300"/>
          </a:xfrm>
          <a:prstGeom prst="rect">
            <a:avLst/>
          </a:prstGeom>
          <a:noFill/>
        </p:spPr>
        <p:txBody>
          <a:bodyPr wrap="square" rtlCol="0">
            <a:spAutoFit/>
          </a:bodyPr>
          <a:p>
            <a:r>
              <a:rPr lang="en-US" altLang="en-GB" b="1"/>
              <a:t>Training for 12 epochs</a:t>
            </a:r>
            <a:endParaRPr lang="en-US" altLang="en-GB" b="1"/>
          </a:p>
        </p:txBody>
      </p:sp>
      <p:sp>
        <p:nvSpPr>
          <p:cNvPr id="19" name="Text Box 18"/>
          <p:cNvSpPr txBox="1"/>
          <p:nvPr/>
        </p:nvSpPr>
        <p:spPr>
          <a:xfrm>
            <a:off x="8680450" y="4574540"/>
            <a:ext cx="3500120" cy="368300"/>
          </a:xfrm>
          <a:prstGeom prst="rect">
            <a:avLst/>
          </a:prstGeom>
          <a:noFill/>
        </p:spPr>
        <p:txBody>
          <a:bodyPr wrap="square" rtlCol="0">
            <a:spAutoFit/>
          </a:bodyPr>
          <a:p>
            <a:r>
              <a:rPr lang="en-US" altLang="en-GB" b="1"/>
              <a:t>Accuracy Curve for efficientnet_b0</a:t>
            </a:r>
            <a:endParaRPr lang="en-US" altLang="en-GB" b="1"/>
          </a:p>
        </p:txBody>
      </p:sp>
      <p:sp>
        <p:nvSpPr>
          <p:cNvPr id="20" name="Text Box 19"/>
          <p:cNvSpPr txBox="1"/>
          <p:nvPr/>
        </p:nvSpPr>
        <p:spPr>
          <a:xfrm>
            <a:off x="5222875" y="6314440"/>
            <a:ext cx="3018155" cy="368300"/>
          </a:xfrm>
          <a:prstGeom prst="rect">
            <a:avLst/>
          </a:prstGeom>
          <a:noFill/>
        </p:spPr>
        <p:txBody>
          <a:bodyPr wrap="square" rtlCol="0">
            <a:spAutoFit/>
          </a:bodyPr>
          <a:p>
            <a:r>
              <a:rPr lang="en-US" altLang="en-GB" b="1"/>
              <a:t>Loss Curve for efficientnet_b0</a:t>
            </a:r>
            <a:endParaRPr lang="en-US" altLang="en-GB" b="1"/>
          </a:p>
        </p:txBody>
      </p:sp>
      <p:sp>
        <p:nvSpPr>
          <p:cNvPr id="21" name="Text Box 20"/>
          <p:cNvSpPr txBox="1"/>
          <p:nvPr/>
        </p:nvSpPr>
        <p:spPr>
          <a:xfrm>
            <a:off x="306705" y="6431280"/>
            <a:ext cx="3883025" cy="368300"/>
          </a:xfrm>
          <a:prstGeom prst="rect">
            <a:avLst/>
          </a:prstGeom>
          <a:noFill/>
        </p:spPr>
        <p:txBody>
          <a:bodyPr wrap="square" rtlCol="0">
            <a:spAutoFit/>
          </a:bodyPr>
          <a:p>
            <a:r>
              <a:rPr lang="en-US" altLang="en-GB" b="1"/>
              <a:t>Confusion Matrix for efficientnet_b0</a:t>
            </a:r>
            <a:endParaRPr lang="en-US" altLang="en-GB" b="1"/>
          </a:p>
        </p:txBody>
      </p:sp>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0" presetClass="entr" presetSubtype="0" fill="hold" grpId="0" nodeType="click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1"/>
                                          </p:val>
                                        </p:tav>
                                        <p:tav tm="100000">
                                          <p:val>
                                            <p:strVal val="#ppt_x"/>
                                          </p:val>
                                        </p:tav>
                                      </p:tavLst>
                                    </p:anim>
                                    <p:anim calcmode="lin" valueType="num">
                                      <p:cBhvr>
                                        <p:cTn id="9" dur="10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9" presetClass="entr" presetSubtype="0" fill="hold"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dissolve">
                                      <p:cBhvr>
                                        <p:cTn id="14" dur="500"/>
                                        <p:tgtEl>
                                          <p:spTgt spid="5"/>
                                        </p:tgtEl>
                                      </p:cBhvr>
                                    </p:animEffec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dissolve">
                                      <p:cBhvr>
                                        <p:cTn id="19" dur="5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40" presetClass="entr" presetSubtype="0" fill="hold" grpId="0" nodeType="clickEffect">
                                  <p:stCondLst>
                                    <p:cond delay="0"/>
                                  </p:stCondLst>
                                  <p:iterate type="lt">
                                    <p:tmPct val="10000"/>
                                  </p:iterate>
                                  <p:childTnLst>
                                    <p:set>
                                      <p:cBhvr>
                                        <p:cTn id="23" dur="1" fill="hold">
                                          <p:stCondLst>
                                            <p:cond delay="0"/>
                                          </p:stCondLst>
                                        </p:cTn>
                                        <p:tgtEl>
                                          <p:spTgt spid="11"/>
                                        </p:tgtEl>
                                        <p:attrNameLst>
                                          <p:attrName>style.visibility</p:attrName>
                                        </p:attrNameLst>
                                      </p:cBhvr>
                                      <p:to>
                                        <p:strVal val="visible"/>
                                      </p:to>
                                    </p:set>
                                    <p:animEffect transition="in" filter="fade">
                                      <p:cBhvr>
                                        <p:cTn id="24" dur="1000"/>
                                        <p:tgtEl>
                                          <p:spTgt spid="11"/>
                                        </p:tgtEl>
                                      </p:cBhvr>
                                    </p:animEffect>
                                    <p:anim calcmode="lin" valueType="num">
                                      <p:cBhvr>
                                        <p:cTn id="25" dur="1000" fill="hold"/>
                                        <p:tgtEl>
                                          <p:spTgt spid="11"/>
                                        </p:tgtEl>
                                        <p:attrNameLst>
                                          <p:attrName>ppt_x</p:attrName>
                                        </p:attrNameLst>
                                      </p:cBhvr>
                                      <p:tavLst>
                                        <p:tav tm="0">
                                          <p:val>
                                            <p:strVal val="#ppt_x-.1"/>
                                          </p:val>
                                        </p:tav>
                                        <p:tav tm="100000">
                                          <p:val>
                                            <p:strVal val="#ppt_x"/>
                                          </p:val>
                                        </p:tav>
                                      </p:tavLst>
                                    </p:anim>
                                    <p:anim calcmode="lin" valueType="num">
                                      <p:cBhvr>
                                        <p:cTn id="26" dur="10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5" presetClass="entr" presetSubtype="1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checkerboard(across)">
                                      <p:cBhvr>
                                        <p:cTn id="31" dur="500"/>
                                        <p:tgtEl>
                                          <p:spTgt spid="6"/>
                                        </p:tgtEl>
                                      </p:cBhvr>
                                    </p:animEffect>
                                  </p:childTnLst>
                                </p:cTn>
                              </p:par>
                            </p:childTnLst>
                          </p:cTn>
                        </p:par>
                      </p:childTnLst>
                    </p:cTn>
                  </p:par>
                  <p:par>
                    <p:cTn id="32" fill="hold">
                      <p:stCondLst>
                        <p:cond delay="indefinite"/>
                      </p:stCondLst>
                      <p:childTnLst>
                        <p:par>
                          <p:cTn id="33" fill="hold">
                            <p:stCondLst>
                              <p:cond delay="0"/>
                            </p:stCondLst>
                            <p:childTnLst>
                              <p:par>
                                <p:cTn id="34" presetID="5" presetClass="entr" presetSubtype="10" fill="hold" grpId="0" nodeType="click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checkerboard(across)">
                                      <p:cBhvr>
                                        <p:cTn id="36" dur="5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40" presetClass="entr" presetSubtype="0" fill="hold" grpId="0" nodeType="clickEffect">
                                  <p:stCondLst>
                                    <p:cond delay="0"/>
                                  </p:stCondLst>
                                  <p:iterate type="lt">
                                    <p:tmPct val="10000"/>
                                  </p:iterate>
                                  <p:childTnLst>
                                    <p:set>
                                      <p:cBhvr>
                                        <p:cTn id="40" dur="1" fill="hold">
                                          <p:stCondLst>
                                            <p:cond delay="0"/>
                                          </p:stCondLst>
                                        </p:cTn>
                                        <p:tgtEl>
                                          <p:spTgt spid="12"/>
                                        </p:tgtEl>
                                        <p:attrNameLst>
                                          <p:attrName>style.visibility</p:attrName>
                                        </p:attrNameLst>
                                      </p:cBhvr>
                                      <p:to>
                                        <p:strVal val="visible"/>
                                      </p:to>
                                    </p:set>
                                    <p:animEffect transition="in" filter="fade">
                                      <p:cBhvr>
                                        <p:cTn id="41" dur="1000"/>
                                        <p:tgtEl>
                                          <p:spTgt spid="12"/>
                                        </p:tgtEl>
                                      </p:cBhvr>
                                    </p:animEffect>
                                    <p:anim calcmode="lin" valueType="num">
                                      <p:cBhvr>
                                        <p:cTn id="42" dur="1000" fill="hold"/>
                                        <p:tgtEl>
                                          <p:spTgt spid="12"/>
                                        </p:tgtEl>
                                        <p:attrNameLst>
                                          <p:attrName>ppt_x</p:attrName>
                                        </p:attrNameLst>
                                      </p:cBhvr>
                                      <p:tavLst>
                                        <p:tav tm="0">
                                          <p:val>
                                            <p:strVal val="#ppt_x-.1"/>
                                          </p:val>
                                        </p:tav>
                                        <p:tav tm="100000">
                                          <p:val>
                                            <p:strVal val="#ppt_x"/>
                                          </p:val>
                                        </p:tav>
                                      </p:tavLst>
                                    </p:anim>
                                    <p:anim calcmode="lin" valueType="num">
                                      <p:cBhvr>
                                        <p:cTn id="43" dur="10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7" presetClass="entr" presetSubtype="0" fill="hold" grpId="0" nodeType="click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1000"/>
                                        <p:tgtEl>
                                          <p:spTgt spid="13"/>
                                        </p:tgtEl>
                                      </p:cBhvr>
                                    </p:animEffect>
                                    <p:anim calcmode="lin" valueType="num">
                                      <p:cBhvr>
                                        <p:cTn id="49" dur="1000" fill="hold"/>
                                        <p:tgtEl>
                                          <p:spTgt spid="13"/>
                                        </p:tgtEl>
                                        <p:attrNameLst>
                                          <p:attrName>ppt_x</p:attrName>
                                        </p:attrNameLst>
                                      </p:cBhvr>
                                      <p:tavLst>
                                        <p:tav tm="0">
                                          <p:val>
                                            <p:strVal val="#ppt_x"/>
                                          </p:val>
                                        </p:tav>
                                        <p:tav tm="100000">
                                          <p:val>
                                            <p:strVal val="#ppt_x"/>
                                          </p:val>
                                        </p:tav>
                                      </p:tavLst>
                                    </p:anim>
                                    <p:anim calcmode="lin" valueType="num">
                                      <p:cBhvr>
                                        <p:cTn id="5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3" presetClass="entr" presetSubtype="16" fill="hold" nodeType="clickEffect">
                                  <p:stCondLst>
                                    <p:cond delay="0"/>
                                  </p:stCondLst>
                                  <p:childTnLst>
                                    <p:set>
                                      <p:cBhvr>
                                        <p:cTn id="54" dur="1" fill="hold">
                                          <p:stCondLst>
                                            <p:cond delay="0"/>
                                          </p:stCondLst>
                                        </p:cTn>
                                        <p:tgtEl>
                                          <p:spTgt spid="7"/>
                                        </p:tgtEl>
                                        <p:attrNameLst>
                                          <p:attrName>style.visibility</p:attrName>
                                        </p:attrNameLst>
                                      </p:cBhvr>
                                      <p:to>
                                        <p:strVal val="visible"/>
                                      </p:to>
                                    </p:set>
                                    <p:animEffect transition="in" filter="plus(in)">
                                      <p:cBhvr>
                                        <p:cTn id="55" dur="2000"/>
                                        <p:tgtEl>
                                          <p:spTgt spid="7"/>
                                        </p:tgtEl>
                                      </p:cBhvr>
                                    </p:animEffect>
                                  </p:childTnLst>
                                </p:cTn>
                              </p:par>
                            </p:childTnLst>
                          </p:cTn>
                        </p:par>
                      </p:childTnLst>
                    </p:cTn>
                  </p:par>
                  <p:par>
                    <p:cTn id="56" fill="hold">
                      <p:stCondLst>
                        <p:cond delay="indefinite"/>
                      </p:stCondLst>
                      <p:childTnLst>
                        <p:par>
                          <p:cTn id="57" fill="hold">
                            <p:stCondLst>
                              <p:cond delay="0"/>
                            </p:stCondLst>
                            <p:childTnLst>
                              <p:par>
                                <p:cTn id="58" presetID="13" presetClass="entr" presetSubtype="16" fill="hold" grpId="0"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plus(in)">
                                      <p:cBhvr>
                                        <p:cTn id="60" dur="2000"/>
                                        <p:tgtEl>
                                          <p:spTgt spid="19"/>
                                        </p:tgtEl>
                                      </p:cBhvr>
                                    </p:animEffect>
                                  </p:childTnLst>
                                </p:cTn>
                              </p:par>
                            </p:childTnLst>
                          </p:cTn>
                        </p:par>
                      </p:childTnLst>
                    </p:cTn>
                  </p:par>
                  <p:par>
                    <p:cTn id="61" fill="hold">
                      <p:stCondLst>
                        <p:cond delay="indefinite"/>
                      </p:stCondLst>
                      <p:childTnLst>
                        <p:par>
                          <p:cTn id="62" fill="hold">
                            <p:stCondLst>
                              <p:cond delay="0"/>
                            </p:stCondLst>
                            <p:childTnLst>
                              <p:par>
                                <p:cTn id="63" presetID="47" presetClass="entr" presetSubtype="0" fill="hold" grpId="0" nodeType="click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1000"/>
                                        <p:tgtEl>
                                          <p:spTgt spid="14"/>
                                        </p:tgtEl>
                                      </p:cBhvr>
                                    </p:animEffect>
                                    <p:anim calcmode="lin" valueType="num">
                                      <p:cBhvr>
                                        <p:cTn id="66" dur="1000" fill="hold"/>
                                        <p:tgtEl>
                                          <p:spTgt spid="14"/>
                                        </p:tgtEl>
                                        <p:attrNameLst>
                                          <p:attrName>ppt_x</p:attrName>
                                        </p:attrNameLst>
                                      </p:cBhvr>
                                      <p:tavLst>
                                        <p:tav tm="0">
                                          <p:val>
                                            <p:strVal val="#ppt_x"/>
                                          </p:val>
                                        </p:tav>
                                        <p:tav tm="100000">
                                          <p:val>
                                            <p:strVal val="#ppt_x"/>
                                          </p:val>
                                        </p:tav>
                                      </p:tavLst>
                                    </p:anim>
                                    <p:anim calcmode="lin" valueType="num">
                                      <p:cBhvr>
                                        <p:cTn id="67"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41" presetClass="entr" presetSubtype="0" fill="hold" grpId="0" nodeType="clickEffect">
                                  <p:stCondLst>
                                    <p:cond delay="0"/>
                                  </p:stCondLst>
                                  <p:iterate type="lt">
                                    <p:tmPct val="10000"/>
                                  </p:iterate>
                                  <p:childTnLst>
                                    <p:set>
                                      <p:cBhvr>
                                        <p:cTn id="71" dur="1" fill="hold">
                                          <p:stCondLst>
                                            <p:cond delay="0"/>
                                          </p:stCondLst>
                                        </p:cTn>
                                        <p:tgtEl>
                                          <p:spTgt spid="15"/>
                                        </p:tgtEl>
                                        <p:attrNameLst>
                                          <p:attrName>style.visibility</p:attrName>
                                        </p:attrNameLst>
                                      </p:cBhvr>
                                      <p:to>
                                        <p:strVal val="visible"/>
                                      </p:to>
                                    </p:set>
                                    <p:anim calcmode="lin" valueType="num">
                                      <p:cBhvr>
                                        <p:cTn id="72" dur="500" fill="hold"/>
                                        <p:tgtEl>
                                          <p:spTgt spid="15"/>
                                        </p:tgtEl>
                                        <p:attrNameLst>
                                          <p:attrName>ppt_x</p:attrName>
                                        </p:attrNameLst>
                                      </p:cBhvr>
                                      <p:tavLst>
                                        <p:tav tm="0">
                                          <p:val>
                                            <p:strVal val="#ppt_x"/>
                                          </p:val>
                                        </p:tav>
                                        <p:tav tm="50000">
                                          <p:val>
                                            <p:strVal val="#ppt_x+.1"/>
                                          </p:val>
                                        </p:tav>
                                        <p:tav tm="100000">
                                          <p:val>
                                            <p:strVal val="#ppt_x"/>
                                          </p:val>
                                        </p:tav>
                                      </p:tavLst>
                                    </p:anim>
                                    <p:anim calcmode="lin" valueType="num">
                                      <p:cBhvr>
                                        <p:cTn id="73" dur="500" fill="hold"/>
                                        <p:tgtEl>
                                          <p:spTgt spid="15"/>
                                        </p:tgtEl>
                                        <p:attrNameLst>
                                          <p:attrName>ppt_y</p:attrName>
                                        </p:attrNameLst>
                                      </p:cBhvr>
                                      <p:tavLst>
                                        <p:tav tm="0">
                                          <p:val>
                                            <p:strVal val="#ppt_y"/>
                                          </p:val>
                                        </p:tav>
                                        <p:tav tm="100000">
                                          <p:val>
                                            <p:strVal val="#ppt_y"/>
                                          </p:val>
                                        </p:tav>
                                      </p:tavLst>
                                    </p:anim>
                                    <p:anim calcmode="lin" valueType="num">
                                      <p:cBhvr>
                                        <p:cTn id="74" dur="500" fill="hold"/>
                                        <p:tgtEl>
                                          <p:spTgt spid="15"/>
                                        </p:tgtEl>
                                        <p:attrNameLst>
                                          <p:attrName>ppt_h</p:attrName>
                                        </p:attrNameLst>
                                      </p:cBhvr>
                                      <p:tavLst>
                                        <p:tav tm="0">
                                          <p:val>
                                            <p:strVal val="#ppt_h/10"/>
                                          </p:val>
                                        </p:tav>
                                        <p:tav tm="50000">
                                          <p:val>
                                            <p:strVal val="#ppt_h+.01"/>
                                          </p:val>
                                        </p:tav>
                                        <p:tav tm="100000">
                                          <p:val>
                                            <p:strVal val="#ppt_h"/>
                                          </p:val>
                                        </p:tav>
                                      </p:tavLst>
                                    </p:anim>
                                    <p:anim calcmode="lin" valueType="num">
                                      <p:cBhvr>
                                        <p:cTn id="75" dur="500" fill="hold"/>
                                        <p:tgtEl>
                                          <p:spTgt spid="15"/>
                                        </p:tgtEl>
                                        <p:attrNameLst>
                                          <p:attrName>ppt_w</p:attrName>
                                        </p:attrNameLst>
                                      </p:cBhvr>
                                      <p:tavLst>
                                        <p:tav tm="0">
                                          <p:val>
                                            <p:strVal val="#ppt_w/10"/>
                                          </p:val>
                                        </p:tav>
                                        <p:tav tm="50000">
                                          <p:val>
                                            <p:strVal val="#ppt_w+.01"/>
                                          </p:val>
                                        </p:tav>
                                        <p:tav tm="100000">
                                          <p:val>
                                            <p:strVal val="#ppt_w"/>
                                          </p:val>
                                        </p:tav>
                                      </p:tavLst>
                                    </p:anim>
                                    <p:animEffect transition="in" filter="fade">
                                      <p:cBhvr>
                                        <p:cTn id="76" dur="500" tmFilter="0,0; .5, 1; 1, 1"/>
                                        <p:tgtEl>
                                          <p:spTgt spid="15"/>
                                        </p:tgtEl>
                                      </p:cBhvr>
                                    </p:animEffect>
                                  </p:childTnLst>
                                </p:cTn>
                              </p:par>
                            </p:childTnLst>
                          </p:cTn>
                        </p:par>
                      </p:childTnLst>
                    </p:cTn>
                  </p:par>
                  <p:par>
                    <p:cTn id="77" fill="hold">
                      <p:stCondLst>
                        <p:cond delay="indefinite"/>
                      </p:stCondLst>
                      <p:childTnLst>
                        <p:par>
                          <p:cTn id="78" fill="hold">
                            <p:stCondLst>
                              <p:cond delay="0"/>
                            </p:stCondLst>
                            <p:childTnLst>
                              <p:par>
                                <p:cTn id="79" presetID="54" presetClass="entr" presetSubtype="0" accel="100000" fill="hold" nodeType="clickEffect">
                                  <p:stCondLst>
                                    <p:cond delay="0"/>
                                  </p:stCondLst>
                                  <p:childTnLst>
                                    <p:set>
                                      <p:cBhvr>
                                        <p:cTn id="80" dur="1" fill="hold">
                                          <p:stCondLst>
                                            <p:cond delay="0"/>
                                          </p:stCondLst>
                                        </p:cTn>
                                        <p:tgtEl>
                                          <p:spTgt spid="8"/>
                                        </p:tgtEl>
                                        <p:attrNameLst>
                                          <p:attrName>style.visibility</p:attrName>
                                        </p:attrNameLst>
                                      </p:cBhvr>
                                      <p:to>
                                        <p:strVal val="visible"/>
                                      </p:to>
                                    </p:set>
                                    <p:anim calcmode="lin" valueType="num">
                                      <p:cBhvr>
                                        <p:cTn id="81" dur="500" fill="hold"/>
                                        <p:tgtEl>
                                          <p:spTgt spid="8"/>
                                        </p:tgtEl>
                                        <p:attrNameLst>
                                          <p:attrName>ppt_w</p:attrName>
                                        </p:attrNameLst>
                                      </p:cBhvr>
                                      <p:tavLst>
                                        <p:tav tm="0">
                                          <p:val>
                                            <p:strVal val="#ppt_w*0.05"/>
                                          </p:val>
                                        </p:tav>
                                        <p:tav tm="100000">
                                          <p:val>
                                            <p:strVal val="#ppt_w"/>
                                          </p:val>
                                        </p:tav>
                                      </p:tavLst>
                                    </p:anim>
                                    <p:anim calcmode="lin" valueType="num">
                                      <p:cBhvr>
                                        <p:cTn id="82" dur="500" fill="hold"/>
                                        <p:tgtEl>
                                          <p:spTgt spid="8"/>
                                        </p:tgtEl>
                                        <p:attrNameLst>
                                          <p:attrName>ppt_h</p:attrName>
                                        </p:attrNameLst>
                                      </p:cBhvr>
                                      <p:tavLst>
                                        <p:tav tm="0">
                                          <p:val>
                                            <p:strVal val="#ppt_h"/>
                                          </p:val>
                                        </p:tav>
                                        <p:tav tm="100000">
                                          <p:val>
                                            <p:strVal val="#ppt_h"/>
                                          </p:val>
                                        </p:tav>
                                      </p:tavLst>
                                    </p:anim>
                                    <p:anim calcmode="lin" valueType="num">
                                      <p:cBhvr>
                                        <p:cTn id="83" dur="500" fill="hold"/>
                                        <p:tgtEl>
                                          <p:spTgt spid="8"/>
                                        </p:tgtEl>
                                        <p:attrNameLst>
                                          <p:attrName>ppt_x</p:attrName>
                                        </p:attrNameLst>
                                      </p:cBhvr>
                                      <p:tavLst>
                                        <p:tav tm="0">
                                          <p:val>
                                            <p:strVal val="#ppt_x-.2"/>
                                          </p:val>
                                        </p:tav>
                                        <p:tav tm="100000">
                                          <p:val>
                                            <p:strVal val="#ppt_x"/>
                                          </p:val>
                                        </p:tav>
                                      </p:tavLst>
                                    </p:anim>
                                    <p:anim calcmode="lin" valueType="num">
                                      <p:cBhvr>
                                        <p:cTn id="84" dur="500" fill="hold"/>
                                        <p:tgtEl>
                                          <p:spTgt spid="8"/>
                                        </p:tgtEl>
                                        <p:attrNameLst>
                                          <p:attrName>ppt_y</p:attrName>
                                        </p:attrNameLst>
                                      </p:cBhvr>
                                      <p:tavLst>
                                        <p:tav tm="0">
                                          <p:val>
                                            <p:strVal val="#ppt_y"/>
                                          </p:val>
                                        </p:tav>
                                        <p:tav tm="100000">
                                          <p:val>
                                            <p:strVal val="#ppt_y"/>
                                          </p:val>
                                        </p:tav>
                                      </p:tavLst>
                                    </p:anim>
                                    <p:animEffect transition="in" filter="fade">
                                      <p:cBhvr>
                                        <p:cTn id="85" dur="500"/>
                                        <p:tgtEl>
                                          <p:spTgt spid="8"/>
                                        </p:tgtEl>
                                      </p:cBhvr>
                                    </p:animEffect>
                                  </p:childTnLst>
                                </p:cTn>
                              </p:par>
                            </p:childTnLst>
                          </p:cTn>
                        </p:par>
                      </p:childTnLst>
                    </p:cTn>
                  </p:par>
                  <p:par>
                    <p:cTn id="86" fill="hold">
                      <p:stCondLst>
                        <p:cond delay="indefinite"/>
                      </p:stCondLst>
                      <p:childTnLst>
                        <p:par>
                          <p:cTn id="87" fill="hold">
                            <p:stCondLst>
                              <p:cond delay="0"/>
                            </p:stCondLst>
                            <p:childTnLst>
                              <p:par>
                                <p:cTn id="88" presetID="54" presetClass="entr" presetSubtype="0" accel="100000" fill="hold" grpId="0" nodeType="clickEffect">
                                  <p:stCondLst>
                                    <p:cond delay="0"/>
                                  </p:stCondLst>
                                  <p:childTnLst>
                                    <p:set>
                                      <p:cBhvr>
                                        <p:cTn id="89" dur="1" fill="hold">
                                          <p:stCondLst>
                                            <p:cond delay="0"/>
                                          </p:stCondLst>
                                        </p:cTn>
                                        <p:tgtEl>
                                          <p:spTgt spid="20"/>
                                        </p:tgtEl>
                                        <p:attrNameLst>
                                          <p:attrName>style.visibility</p:attrName>
                                        </p:attrNameLst>
                                      </p:cBhvr>
                                      <p:to>
                                        <p:strVal val="visible"/>
                                      </p:to>
                                    </p:set>
                                    <p:anim calcmode="lin" valueType="num">
                                      <p:cBhvr>
                                        <p:cTn id="90" dur="500" fill="hold"/>
                                        <p:tgtEl>
                                          <p:spTgt spid="20"/>
                                        </p:tgtEl>
                                        <p:attrNameLst>
                                          <p:attrName>ppt_w</p:attrName>
                                        </p:attrNameLst>
                                      </p:cBhvr>
                                      <p:tavLst>
                                        <p:tav tm="0">
                                          <p:val>
                                            <p:strVal val="#ppt_w*0.05"/>
                                          </p:val>
                                        </p:tav>
                                        <p:tav tm="100000">
                                          <p:val>
                                            <p:strVal val="#ppt_w"/>
                                          </p:val>
                                        </p:tav>
                                      </p:tavLst>
                                    </p:anim>
                                    <p:anim calcmode="lin" valueType="num">
                                      <p:cBhvr>
                                        <p:cTn id="91" dur="500" fill="hold"/>
                                        <p:tgtEl>
                                          <p:spTgt spid="20"/>
                                        </p:tgtEl>
                                        <p:attrNameLst>
                                          <p:attrName>ppt_h</p:attrName>
                                        </p:attrNameLst>
                                      </p:cBhvr>
                                      <p:tavLst>
                                        <p:tav tm="0">
                                          <p:val>
                                            <p:strVal val="#ppt_h"/>
                                          </p:val>
                                        </p:tav>
                                        <p:tav tm="100000">
                                          <p:val>
                                            <p:strVal val="#ppt_h"/>
                                          </p:val>
                                        </p:tav>
                                      </p:tavLst>
                                    </p:anim>
                                    <p:anim calcmode="lin" valueType="num">
                                      <p:cBhvr>
                                        <p:cTn id="92" dur="500" fill="hold"/>
                                        <p:tgtEl>
                                          <p:spTgt spid="20"/>
                                        </p:tgtEl>
                                        <p:attrNameLst>
                                          <p:attrName>ppt_x</p:attrName>
                                        </p:attrNameLst>
                                      </p:cBhvr>
                                      <p:tavLst>
                                        <p:tav tm="0">
                                          <p:val>
                                            <p:strVal val="#ppt_x-.2"/>
                                          </p:val>
                                        </p:tav>
                                        <p:tav tm="100000">
                                          <p:val>
                                            <p:strVal val="#ppt_x"/>
                                          </p:val>
                                        </p:tav>
                                      </p:tavLst>
                                    </p:anim>
                                    <p:anim calcmode="lin" valueType="num">
                                      <p:cBhvr>
                                        <p:cTn id="93" dur="500" fill="hold"/>
                                        <p:tgtEl>
                                          <p:spTgt spid="20"/>
                                        </p:tgtEl>
                                        <p:attrNameLst>
                                          <p:attrName>ppt_y</p:attrName>
                                        </p:attrNameLst>
                                      </p:cBhvr>
                                      <p:tavLst>
                                        <p:tav tm="0">
                                          <p:val>
                                            <p:strVal val="#ppt_y"/>
                                          </p:val>
                                        </p:tav>
                                        <p:tav tm="100000">
                                          <p:val>
                                            <p:strVal val="#ppt_y"/>
                                          </p:val>
                                        </p:tav>
                                      </p:tavLst>
                                    </p:anim>
                                    <p:animEffect transition="in" filter="fade">
                                      <p:cBhvr>
                                        <p:cTn id="94" dur="500"/>
                                        <p:tgtEl>
                                          <p:spTgt spid="20"/>
                                        </p:tgtEl>
                                      </p:cBhvr>
                                    </p:animEffect>
                                  </p:childTnLst>
                                </p:cTn>
                              </p:par>
                            </p:childTnLst>
                          </p:cTn>
                        </p:par>
                      </p:childTnLst>
                    </p:cTn>
                  </p:par>
                  <p:par>
                    <p:cTn id="95" fill="hold">
                      <p:stCondLst>
                        <p:cond delay="indefinite"/>
                      </p:stCondLst>
                      <p:childTnLst>
                        <p:par>
                          <p:cTn id="96" fill="hold">
                            <p:stCondLst>
                              <p:cond delay="0"/>
                            </p:stCondLst>
                            <p:childTnLst>
                              <p:par>
                                <p:cTn id="97" presetID="41" presetClass="entr" presetSubtype="0" fill="hold" grpId="0" nodeType="clickEffect">
                                  <p:stCondLst>
                                    <p:cond delay="0"/>
                                  </p:stCondLst>
                                  <p:iterate type="lt">
                                    <p:tmPct val="10000"/>
                                  </p:iterate>
                                  <p:childTnLst>
                                    <p:set>
                                      <p:cBhvr>
                                        <p:cTn id="98" dur="1" fill="hold">
                                          <p:stCondLst>
                                            <p:cond delay="0"/>
                                          </p:stCondLst>
                                        </p:cTn>
                                        <p:tgtEl>
                                          <p:spTgt spid="16"/>
                                        </p:tgtEl>
                                        <p:attrNameLst>
                                          <p:attrName>style.visibility</p:attrName>
                                        </p:attrNameLst>
                                      </p:cBhvr>
                                      <p:to>
                                        <p:strVal val="visible"/>
                                      </p:to>
                                    </p:set>
                                    <p:anim calcmode="lin" valueType="num">
                                      <p:cBhvr>
                                        <p:cTn id="99" dur="500" fill="hold"/>
                                        <p:tgtEl>
                                          <p:spTgt spid="16"/>
                                        </p:tgtEl>
                                        <p:attrNameLst>
                                          <p:attrName>ppt_x</p:attrName>
                                        </p:attrNameLst>
                                      </p:cBhvr>
                                      <p:tavLst>
                                        <p:tav tm="0">
                                          <p:val>
                                            <p:strVal val="#ppt_x"/>
                                          </p:val>
                                        </p:tav>
                                        <p:tav tm="50000">
                                          <p:val>
                                            <p:strVal val="#ppt_x+.1"/>
                                          </p:val>
                                        </p:tav>
                                        <p:tav tm="100000">
                                          <p:val>
                                            <p:strVal val="#ppt_x"/>
                                          </p:val>
                                        </p:tav>
                                      </p:tavLst>
                                    </p:anim>
                                    <p:anim calcmode="lin" valueType="num">
                                      <p:cBhvr>
                                        <p:cTn id="100" dur="500" fill="hold"/>
                                        <p:tgtEl>
                                          <p:spTgt spid="16"/>
                                        </p:tgtEl>
                                        <p:attrNameLst>
                                          <p:attrName>ppt_y</p:attrName>
                                        </p:attrNameLst>
                                      </p:cBhvr>
                                      <p:tavLst>
                                        <p:tav tm="0">
                                          <p:val>
                                            <p:strVal val="#ppt_y"/>
                                          </p:val>
                                        </p:tav>
                                        <p:tav tm="100000">
                                          <p:val>
                                            <p:strVal val="#ppt_y"/>
                                          </p:val>
                                        </p:tav>
                                      </p:tavLst>
                                    </p:anim>
                                    <p:anim calcmode="lin" valueType="num">
                                      <p:cBhvr>
                                        <p:cTn id="101" dur="500" fill="hold"/>
                                        <p:tgtEl>
                                          <p:spTgt spid="16"/>
                                        </p:tgtEl>
                                        <p:attrNameLst>
                                          <p:attrName>ppt_h</p:attrName>
                                        </p:attrNameLst>
                                      </p:cBhvr>
                                      <p:tavLst>
                                        <p:tav tm="0">
                                          <p:val>
                                            <p:strVal val="#ppt_h/10"/>
                                          </p:val>
                                        </p:tav>
                                        <p:tav tm="50000">
                                          <p:val>
                                            <p:strVal val="#ppt_h+.01"/>
                                          </p:val>
                                        </p:tav>
                                        <p:tav tm="100000">
                                          <p:val>
                                            <p:strVal val="#ppt_h"/>
                                          </p:val>
                                        </p:tav>
                                      </p:tavLst>
                                    </p:anim>
                                    <p:anim calcmode="lin" valueType="num">
                                      <p:cBhvr>
                                        <p:cTn id="102" dur="500" fill="hold"/>
                                        <p:tgtEl>
                                          <p:spTgt spid="16"/>
                                        </p:tgtEl>
                                        <p:attrNameLst>
                                          <p:attrName>ppt_w</p:attrName>
                                        </p:attrNameLst>
                                      </p:cBhvr>
                                      <p:tavLst>
                                        <p:tav tm="0">
                                          <p:val>
                                            <p:strVal val="#ppt_w/10"/>
                                          </p:val>
                                        </p:tav>
                                        <p:tav tm="50000">
                                          <p:val>
                                            <p:strVal val="#ppt_w+.01"/>
                                          </p:val>
                                        </p:tav>
                                        <p:tav tm="100000">
                                          <p:val>
                                            <p:strVal val="#ppt_w"/>
                                          </p:val>
                                        </p:tav>
                                      </p:tavLst>
                                    </p:anim>
                                    <p:animEffect transition="in" filter="fade">
                                      <p:cBhvr>
                                        <p:cTn id="103" dur="500" tmFilter="0,0; .5, 1; 1, 1"/>
                                        <p:tgtEl>
                                          <p:spTgt spid="16"/>
                                        </p:tgtEl>
                                      </p:cBhvr>
                                    </p:animEffect>
                                  </p:childTnLst>
                                </p:cTn>
                              </p:par>
                            </p:childTnLst>
                          </p:cTn>
                        </p:par>
                      </p:childTnLst>
                    </p:cTn>
                  </p:par>
                  <p:par>
                    <p:cTn id="104" fill="hold">
                      <p:stCondLst>
                        <p:cond delay="indefinite"/>
                      </p:stCondLst>
                      <p:childTnLst>
                        <p:par>
                          <p:cTn id="105" fill="hold">
                            <p:stCondLst>
                              <p:cond delay="0"/>
                            </p:stCondLst>
                            <p:childTnLst>
                              <p:par>
                                <p:cTn id="106" presetID="29" presetClass="entr" presetSubtype="0" fill="hold" nodeType="clickEffect">
                                  <p:stCondLst>
                                    <p:cond delay="0"/>
                                  </p:stCondLst>
                                  <p:childTnLst>
                                    <p:set>
                                      <p:cBhvr>
                                        <p:cTn id="107" dur="1" fill="hold">
                                          <p:stCondLst>
                                            <p:cond delay="0"/>
                                          </p:stCondLst>
                                        </p:cTn>
                                        <p:tgtEl>
                                          <p:spTgt spid="9"/>
                                        </p:tgtEl>
                                        <p:attrNameLst>
                                          <p:attrName>style.visibility</p:attrName>
                                        </p:attrNameLst>
                                      </p:cBhvr>
                                      <p:to>
                                        <p:strVal val="visible"/>
                                      </p:to>
                                    </p:set>
                                    <p:anim calcmode="lin" valueType="num">
                                      <p:cBhvr>
                                        <p:cTn id="108" dur="1000" fill="hold"/>
                                        <p:tgtEl>
                                          <p:spTgt spid="9"/>
                                        </p:tgtEl>
                                        <p:attrNameLst>
                                          <p:attrName>ppt_x</p:attrName>
                                        </p:attrNameLst>
                                      </p:cBhvr>
                                      <p:tavLst>
                                        <p:tav tm="0">
                                          <p:val>
                                            <p:strVal val="#ppt_x-.2"/>
                                          </p:val>
                                        </p:tav>
                                        <p:tav tm="100000">
                                          <p:val>
                                            <p:strVal val="#ppt_x"/>
                                          </p:val>
                                        </p:tav>
                                      </p:tavLst>
                                    </p:anim>
                                    <p:anim calcmode="lin" valueType="num">
                                      <p:cBhvr>
                                        <p:cTn id="109" dur="1000" fill="hold"/>
                                        <p:tgtEl>
                                          <p:spTgt spid="9"/>
                                        </p:tgtEl>
                                        <p:attrNameLst>
                                          <p:attrName>ppt_y</p:attrName>
                                        </p:attrNameLst>
                                      </p:cBhvr>
                                      <p:tavLst>
                                        <p:tav tm="0">
                                          <p:val>
                                            <p:strVal val="#ppt_y"/>
                                          </p:val>
                                        </p:tav>
                                        <p:tav tm="100000">
                                          <p:val>
                                            <p:strVal val="#ppt_y"/>
                                          </p:val>
                                        </p:tav>
                                      </p:tavLst>
                                    </p:anim>
                                    <p:animEffect transition="in" filter="wipe(right)" prLst="gradientSize: 0.1">
                                      <p:cBhvr>
                                        <p:cTn id="110" dur="1000"/>
                                        <p:tgtEl>
                                          <p:spTgt spid="9"/>
                                        </p:tgtEl>
                                      </p:cBhvr>
                                    </p:animEffect>
                                  </p:childTnLst>
                                </p:cTn>
                              </p:par>
                            </p:childTnLst>
                          </p:cTn>
                        </p:par>
                      </p:childTnLst>
                    </p:cTn>
                  </p:par>
                  <p:par>
                    <p:cTn id="111" fill="hold">
                      <p:stCondLst>
                        <p:cond delay="indefinite"/>
                      </p:stCondLst>
                      <p:childTnLst>
                        <p:par>
                          <p:cTn id="112" fill="hold">
                            <p:stCondLst>
                              <p:cond delay="0"/>
                            </p:stCondLst>
                            <p:childTnLst>
                              <p:par>
                                <p:cTn id="113" presetID="29" presetClass="entr" presetSubtype="0" fill="hold" grpId="0" nodeType="clickEffect">
                                  <p:stCondLst>
                                    <p:cond delay="0"/>
                                  </p:stCondLst>
                                  <p:childTnLst>
                                    <p:set>
                                      <p:cBhvr>
                                        <p:cTn id="114" dur="1" fill="hold">
                                          <p:stCondLst>
                                            <p:cond delay="0"/>
                                          </p:stCondLst>
                                        </p:cTn>
                                        <p:tgtEl>
                                          <p:spTgt spid="21"/>
                                        </p:tgtEl>
                                        <p:attrNameLst>
                                          <p:attrName>style.visibility</p:attrName>
                                        </p:attrNameLst>
                                      </p:cBhvr>
                                      <p:to>
                                        <p:strVal val="visible"/>
                                      </p:to>
                                    </p:set>
                                    <p:anim calcmode="lin" valueType="num">
                                      <p:cBhvr>
                                        <p:cTn id="115" dur="1000" fill="hold"/>
                                        <p:tgtEl>
                                          <p:spTgt spid="21"/>
                                        </p:tgtEl>
                                        <p:attrNameLst>
                                          <p:attrName>ppt_x</p:attrName>
                                        </p:attrNameLst>
                                      </p:cBhvr>
                                      <p:tavLst>
                                        <p:tav tm="0">
                                          <p:val>
                                            <p:strVal val="#ppt_x-.2"/>
                                          </p:val>
                                        </p:tav>
                                        <p:tav tm="100000">
                                          <p:val>
                                            <p:strVal val="#ppt_x"/>
                                          </p:val>
                                        </p:tav>
                                      </p:tavLst>
                                    </p:anim>
                                    <p:anim calcmode="lin" valueType="num">
                                      <p:cBhvr>
                                        <p:cTn id="116" dur="1000" fill="hold"/>
                                        <p:tgtEl>
                                          <p:spTgt spid="21"/>
                                        </p:tgtEl>
                                        <p:attrNameLst>
                                          <p:attrName>ppt_y</p:attrName>
                                        </p:attrNameLst>
                                      </p:cBhvr>
                                      <p:tavLst>
                                        <p:tav tm="0">
                                          <p:val>
                                            <p:strVal val="#ppt_y"/>
                                          </p:val>
                                        </p:tav>
                                        <p:tav tm="100000">
                                          <p:val>
                                            <p:strVal val="#ppt_y"/>
                                          </p:val>
                                        </p:tav>
                                      </p:tavLst>
                                    </p:anim>
                                    <p:animEffect transition="in" filter="wipe(right)" prLst="gradientSize: 0.1">
                                      <p:cBhvr>
                                        <p:cTn id="117"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17" grpId="0"/>
      <p:bldP spid="17" grpId="1"/>
      <p:bldP spid="11" grpId="0"/>
      <p:bldP spid="11" grpId="1"/>
      <p:bldP spid="18" grpId="0"/>
      <p:bldP spid="18" grpId="1"/>
      <p:bldP spid="12" grpId="0"/>
      <p:bldP spid="12" grpId="1"/>
      <p:bldP spid="13" grpId="0"/>
      <p:bldP spid="13" grpId="1"/>
      <p:bldP spid="19" grpId="0"/>
      <p:bldP spid="19" grpId="1"/>
      <p:bldP spid="14" grpId="0"/>
      <p:bldP spid="14" grpId="1"/>
      <p:bldP spid="15" grpId="0"/>
      <p:bldP spid="15" grpId="1"/>
      <p:bldP spid="20" grpId="0"/>
      <p:bldP spid="20" grpId="1"/>
      <p:bldP spid="16" grpId="0"/>
      <p:bldP spid="16" grpId="1"/>
      <p:bldP spid="21" grpId="0"/>
      <p:bldP spid="21"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0"/>
            <a:ext cx="2440305" cy="402590"/>
          </a:xfrm>
        </p:spPr>
        <p:txBody>
          <a:bodyPr>
            <a:noAutofit/>
          </a:bodyPr>
          <a:p>
            <a:r>
              <a:rPr lang="en-US" altLang="en-GB" sz="2400" b="1">
                <a:latin typeface="Bodoni MT" panose="02070603080606020203" charset="0"/>
                <a:cs typeface="Bodoni MT" panose="02070603080606020203" charset="0"/>
              </a:rPr>
              <a:t>resnet50</a:t>
            </a:r>
            <a:endParaRPr lang="en-US" altLang="en-GB" sz="2400" b="1">
              <a:latin typeface="Bodoni MT" panose="02070603080606020203" charset="0"/>
              <a:cs typeface="Bodoni MT" panose="02070603080606020203" charset="0"/>
            </a:endParaRPr>
          </a:p>
        </p:txBody>
      </p:sp>
      <p:pic>
        <p:nvPicPr>
          <p:cNvPr id="5" name="Content Placeholder 4"/>
          <p:cNvPicPr>
            <a:picLocks noChangeAspect="1"/>
          </p:cNvPicPr>
          <p:nvPr>
            <p:ph sz="half" idx="1"/>
          </p:nvPr>
        </p:nvPicPr>
        <p:blipFill>
          <a:blip r:embed="rId1"/>
          <a:stretch>
            <a:fillRect/>
          </a:stretch>
        </p:blipFill>
        <p:spPr>
          <a:xfrm>
            <a:off x="223520" y="402590"/>
            <a:ext cx="4342130" cy="2430145"/>
          </a:xfrm>
          <a:prstGeom prst="rect">
            <a:avLst/>
          </a:prstGeom>
        </p:spPr>
      </p:pic>
      <p:pic>
        <p:nvPicPr>
          <p:cNvPr id="6" name="Content Placeholder 5"/>
          <p:cNvPicPr>
            <a:picLocks noChangeAspect="1"/>
          </p:cNvPicPr>
          <p:nvPr>
            <p:ph sz="half" idx="2"/>
          </p:nvPr>
        </p:nvPicPr>
        <p:blipFill>
          <a:blip r:embed="rId2"/>
          <a:stretch>
            <a:fillRect/>
          </a:stretch>
        </p:blipFill>
        <p:spPr>
          <a:xfrm>
            <a:off x="5278755" y="402590"/>
            <a:ext cx="2926080" cy="2430145"/>
          </a:xfrm>
          <a:prstGeom prst="rect">
            <a:avLst/>
          </a:prstGeom>
        </p:spPr>
      </p:pic>
      <p:pic>
        <p:nvPicPr>
          <p:cNvPr id="7" name="Picture 6"/>
          <p:cNvPicPr>
            <a:picLocks noChangeAspect="1"/>
          </p:cNvPicPr>
          <p:nvPr/>
        </p:nvPicPr>
        <p:blipFill>
          <a:blip r:embed="rId3"/>
          <a:stretch>
            <a:fillRect/>
          </a:stretch>
        </p:blipFill>
        <p:spPr>
          <a:xfrm>
            <a:off x="8398510" y="2303780"/>
            <a:ext cx="3627120" cy="2249805"/>
          </a:xfrm>
          <a:prstGeom prst="rect">
            <a:avLst/>
          </a:prstGeom>
          <a:ln w="28575" cmpd="sng">
            <a:solidFill>
              <a:schemeClr val="tx1"/>
            </a:solidFill>
            <a:prstDash val="solid"/>
          </a:ln>
        </p:spPr>
      </p:pic>
      <p:pic>
        <p:nvPicPr>
          <p:cNvPr id="8" name="Picture 7"/>
          <p:cNvPicPr>
            <a:picLocks noChangeAspect="1"/>
          </p:cNvPicPr>
          <p:nvPr/>
        </p:nvPicPr>
        <p:blipFill>
          <a:blip r:embed="rId4"/>
          <a:stretch>
            <a:fillRect/>
          </a:stretch>
        </p:blipFill>
        <p:spPr>
          <a:xfrm>
            <a:off x="4442460" y="4104005"/>
            <a:ext cx="3547745" cy="2217420"/>
          </a:xfrm>
          <a:prstGeom prst="rect">
            <a:avLst/>
          </a:prstGeom>
          <a:ln w="28575" cmpd="sng">
            <a:solidFill>
              <a:schemeClr val="tx1"/>
            </a:solidFill>
            <a:prstDash val="solid"/>
          </a:ln>
        </p:spPr>
      </p:pic>
      <p:pic>
        <p:nvPicPr>
          <p:cNvPr id="9" name="Picture 8"/>
          <p:cNvPicPr>
            <a:picLocks noChangeAspect="1"/>
          </p:cNvPicPr>
          <p:nvPr/>
        </p:nvPicPr>
        <p:blipFill>
          <a:blip r:embed="rId5"/>
          <a:stretch>
            <a:fillRect/>
          </a:stretch>
        </p:blipFill>
        <p:spPr>
          <a:xfrm>
            <a:off x="381000" y="3463925"/>
            <a:ext cx="2857500" cy="2857500"/>
          </a:xfrm>
          <a:prstGeom prst="rect">
            <a:avLst/>
          </a:prstGeom>
          <a:ln w="28575" cmpd="sng">
            <a:solidFill>
              <a:schemeClr val="tx1"/>
            </a:solidFill>
            <a:prstDash val="solid"/>
          </a:ln>
        </p:spPr>
      </p:pic>
      <p:sp>
        <p:nvSpPr>
          <p:cNvPr id="10" name="Text Box 9"/>
          <p:cNvSpPr txBox="1"/>
          <p:nvPr/>
        </p:nvSpPr>
        <p:spPr>
          <a:xfrm>
            <a:off x="4657090" y="1433830"/>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1" name="Text Box 10"/>
          <p:cNvSpPr txBox="1"/>
          <p:nvPr/>
        </p:nvSpPr>
        <p:spPr>
          <a:xfrm>
            <a:off x="9558655" y="1034415"/>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2" name="Text Box 11"/>
          <p:cNvSpPr txBox="1"/>
          <p:nvPr/>
        </p:nvSpPr>
        <p:spPr>
          <a:xfrm>
            <a:off x="10019030" y="1503045"/>
            <a:ext cx="3860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3" name="Text Box 12"/>
          <p:cNvSpPr txBox="1"/>
          <p:nvPr/>
        </p:nvSpPr>
        <p:spPr>
          <a:xfrm>
            <a:off x="10019030" y="4984750"/>
            <a:ext cx="3860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4" name="Text Box 13"/>
          <p:cNvSpPr txBox="1"/>
          <p:nvPr/>
        </p:nvSpPr>
        <p:spPr>
          <a:xfrm>
            <a:off x="9623425" y="5325745"/>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5" name="Text Box 14"/>
          <p:cNvSpPr txBox="1"/>
          <p:nvPr/>
        </p:nvSpPr>
        <p:spPr>
          <a:xfrm>
            <a:off x="3712210" y="4920615"/>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6" name="Text Box 15"/>
          <p:cNvSpPr txBox="1"/>
          <p:nvPr/>
        </p:nvSpPr>
        <p:spPr>
          <a:xfrm>
            <a:off x="702945" y="2832735"/>
            <a:ext cx="3383280" cy="368300"/>
          </a:xfrm>
          <a:prstGeom prst="rect">
            <a:avLst/>
          </a:prstGeom>
          <a:noFill/>
        </p:spPr>
        <p:txBody>
          <a:bodyPr wrap="square" rtlCol="0">
            <a:spAutoFit/>
          </a:bodyPr>
          <a:p>
            <a:r>
              <a:rPr lang="en-US" altLang="en-GB" b="1"/>
              <a:t>Performance Metrics of resnet50</a:t>
            </a:r>
            <a:endParaRPr lang="en-US" altLang="en-GB" b="1"/>
          </a:p>
        </p:txBody>
      </p:sp>
      <p:sp>
        <p:nvSpPr>
          <p:cNvPr id="17" name="Text Box 16"/>
          <p:cNvSpPr txBox="1"/>
          <p:nvPr/>
        </p:nvSpPr>
        <p:spPr>
          <a:xfrm>
            <a:off x="5597525" y="2832735"/>
            <a:ext cx="2508250" cy="368300"/>
          </a:xfrm>
          <a:prstGeom prst="rect">
            <a:avLst/>
          </a:prstGeom>
          <a:noFill/>
        </p:spPr>
        <p:txBody>
          <a:bodyPr wrap="square" rtlCol="0">
            <a:spAutoFit/>
          </a:bodyPr>
          <a:p>
            <a:r>
              <a:rPr lang="en-US" altLang="en-GB" b="1"/>
              <a:t>Training till 12 epochs</a:t>
            </a:r>
            <a:endParaRPr lang="en-US" altLang="en-GB" b="1"/>
          </a:p>
        </p:txBody>
      </p:sp>
      <p:sp>
        <p:nvSpPr>
          <p:cNvPr id="18" name="Text Box 17"/>
          <p:cNvSpPr txBox="1"/>
          <p:nvPr/>
        </p:nvSpPr>
        <p:spPr>
          <a:xfrm>
            <a:off x="8749665" y="4552315"/>
            <a:ext cx="2924810" cy="368300"/>
          </a:xfrm>
          <a:prstGeom prst="rect">
            <a:avLst/>
          </a:prstGeom>
          <a:noFill/>
        </p:spPr>
        <p:txBody>
          <a:bodyPr wrap="square" rtlCol="0">
            <a:spAutoFit/>
          </a:bodyPr>
          <a:p>
            <a:r>
              <a:rPr lang="en-US" altLang="en-GB" b="1"/>
              <a:t>Accuracy Curve of resnet50</a:t>
            </a:r>
            <a:endParaRPr lang="en-US" altLang="en-GB" b="1"/>
          </a:p>
        </p:txBody>
      </p:sp>
      <p:sp>
        <p:nvSpPr>
          <p:cNvPr id="19" name="Text Box 18"/>
          <p:cNvSpPr txBox="1"/>
          <p:nvPr/>
        </p:nvSpPr>
        <p:spPr>
          <a:xfrm>
            <a:off x="4995545" y="6321425"/>
            <a:ext cx="2441575" cy="368300"/>
          </a:xfrm>
          <a:prstGeom prst="rect">
            <a:avLst/>
          </a:prstGeom>
          <a:noFill/>
        </p:spPr>
        <p:txBody>
          <a:bodyPr wrap="square" rtlCol="0">
            <a:spAutoFit/>
          </a:bodyPr>
          <a:p>
            <a:r>
              <a:rPr lang="en-US" altLang="en-GB" b="1"/>
              <a:t>Loss Curve of resnet50</a:t>
            </a:r>
            <a:endParaRPr lang="en-US" altLang="en-GB" b="1"/>
          </a:p>
        </p:txBody>
      </p:sp>
      <p:sp>
        <p:nvSpPr>
          <p:cNvPr id="20" name="Text Box 19"/>
          <p:cNvSpPr txBox="1"/>
          <p:nvPr/>
        </p:nvSpPr>
        <p:spPr>
          <a:xfrm>
            <a:off x="229235" y="6410325"/>
            <a:ext cx="3009265" cy="368300"/>
          </a:xfrm>
          <a:prstGeom prst="rect">
            <a:avLst/>
          </a:prstGeom>
          <a:noFill/>
        </p:spPr>
        <p:txBody>
          <a:bodyPr wrap="square" rtlCol="0">
            <a:spAutoFit/>
          </a:bodyPr>
          <a:p>
            <a:r>
              <a:rPr lang="en-US" altLang="en-GB" b="1"/>
              <a:t>Confusion Matrix of resnet50</a:t>
            </a:r>
            <a:endParaRPr lang="en-US" altLang="en-GB" b="1"/>
          </a:p>
        </p:txBody>
      </p:sp>
    </p:spTree>
  </p:cSld>
  <p:clrMapOvr>
    <a:masterClrMapping/>
  </p:clrMapOvr>
  <mc:AlternateContent xmlns:mc="http://schemas.openxmlformats.org/markup-compatibility/2006">
    <mc:Choice xmlns:p14="http://schemas.microsoft.com/office/powerpoint/2010/main" Requires="p14">
      <p:transition spd="slow" p14:dur="1000">
        <p:wheel spokes="8"/>
      </p:transition>
    </mc:Choice>
    <mc:Fallback>
      <p:transition spd="slow">
        <p:wheel spokes="8"/>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4" presetClass="entr" presetSubtype="0" accel="10000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strVal val="#ppt_w*0.05"/>
                                          </p:val>
                                        </p:tav>
                                        <p:tav tm="100000">
                                          <p:val>
                                            <p:strVal val="#ppt_w"/>
                                          </p:val>
                                        </p:tav>
                                      </p:tavLst>
                                    </p:anim>
                                    <p:anim calcmode="lin" valueType="num">
                                      <p:cBhvr>
                                        <p:cTn id="8" dur="500" fill="hold"/>
                                        <p:tgtEl>
                                          <p:spTgt spid="2"/>
                                        </p:tgtEl>
                                        <p:attrNameLst>
                                          <p:attrName>ppt_h</p:attrName>
                                        </p:attrNameLst>
                                      </p:cBhvr>
                                      <p:tavLst>
                                        <p:tav tm="0">
                                          <p:val>
                                            <p:strVal val="#ppt_h"/>
                                          </p:val>
                                        </p:tav>
                                        <p:tav tm="100000">
                                          <p:val>
                                            <p:strVal val="#ppt_h"/>
                                          </p:val>
                                        </p:tav>
                                      </p:tavLst>
                                    </p:anim>
                                    <p:anim calcmode="lin" valueType="num">
                                      <p:cBhvr>
                                        <p:cTn id="9" dur="500" fill="hold"/>
                                        <p:tgtEl>
                                          <p:spTgt spid="2"/>
                                        </p:tgtEl>
                                        <p:attrNameLst>
                                          <p:attrName>ppt_x</p:attrName>
                                        </p:attrNameLst>
                                      </p:cBhvr>
                                      <p:tavLst>
                                        <p:tav tm="0">
                                          <p:val>
                                            <p:strVal val="#ppt_x-.2"/>
                                          </p:val>
                                        </p:tav>
                                        <p:tav tm="100000">
                                          <p:val>
                                            <p:strVal val="#ppt_x"/>
                                          </p:val>
                                        </p:tav>
                                      </p:tavLst>
                                    </p:anim>
                                    <p:anim calcmode="lin" valueType="num">
                                      <p:cBhvr>
                                        <p:cTn id="10" dur="500" fill="hold"/>
                                        <p:tgtEl>
                                          <p:spTgt spid="2"/>
                                        </p:tgtEl>
                                        <p:attrNameLst>
                                          <p:attrName>ppt_y</p:attrName>
                                        </p:attrNameLst>
                                      </p:cBhvr>
                                      <p:tavLst>
                                        <p:tav tm="0">
                                          <p:val>
                                            <p:strVal val="#ppt_y"/>
                                          </p:val>
                                        </p:tav>
                                        <p:tav tm="100000">
                                          <p:val>
                                            <p:strVal val="#ppt_y"/>
                                          </p:val>
                                        </p:tav>
                                      </p:tavLst>
                                    </p:anim>
                                    <p:animEffect transition="in" filter="fade">
                                      <p:cBhvr>
                                        <p:cTn id="11" dur="5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9"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1000" fill="hold"/>
                                        <p:tgtEl>
                                          <p:spTgt spid="5"/>
                                        </p:tgtEl>
                                        <p:attrNameLst>
                                          <p:attrName>ppt_x</p:attrName>
                                        </p:attrNameLst>
                                      </p:cBhvr>
                                      <p:tavLst>
                                        <p:tav tm="0">
                                          <p:val>
                                            <p:strVal val="#ppt_x-.2"/>
                                          </p:val>
                                        </p:tav>
                                        <p:tav tm="100000">
                                          <p:val>
                                            <p:strVal val="#ppt_x"/>
                                          </p:val>
                                        </p:tav>
                                      </p:tavLst>
                                    </p:anim>
                                    <p:anim calcmode="lin" valueType="num">
                                      <p:cBhvr>
                                        <p:cTn id="17" dur="1000" fill="hold"/>
                                        <p:tgtEl>
                                          <p:spTgt spid="5"/>
                                        </p:tgtEl>
                                        <p:attrNameLst>
                                          <p:attrName>ppt_y</p:attrName>
                                        </p:attrNameLst>
                                      </p:cBhvr>
                                      <p:tavLst>
                                        <p:tav tm="0">
                                          <p:val>
                                            <p:strVal val="#ppt_y"/>
                                          </p:val>
                                        </p:tav>
                                        <p:tav tm="100000">
                                          <p:val>
                                            <p:strVal val="#ppt_y"/>
                                          </p:val>
                                        </p:tav>
                                      </p:tavLst>
                                    </p:anim>
                                    <p:animEffect transition="in" filter="wipe(right)" prLst="gradientSize: 0.1">
                                      <p:cBhvr>
                                        <p:cTn id="18" dur="10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29"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p:cTn id="23" dur="1000" fill="hold"/>
                                        <p:tgtEl>
                                          <p:spTgt spid="16"/>
                                        </p:tgtEl>
                                        <p:attrNameLst>
                                          <p:attrName>ppt_x</p:attrName>
                                        </p:attrNameLst>
                                      </p:cBhvr>
                                      <p:tavLst>
                                        <p:tav tm="0">
                                          <p:val>
                                            <p:strVal val="#ppt_x-.2"/>
                                          </p:val>
                                        </p:tav>
                                        <p:tav tm="100000">
                                          <p:val>
                                            <p:strVal val="#ppt_x"/>
                                          </p:val>
                                        </p:tav>
                                      </p:tavLst>
                                    </p:anim>
                                    <p:anim calcmode="lin" valueType="num">
                                      <p:cBhvr>
                                        <p:cTn id="24" dur="1000" fill="hold"/>
                                        <p:tgtEl>
                                          <p:spTgt spid="16"/>
                                        </p:tgtEl>
                                        <p:attrNameLst>
                                          <p:attrName>ppt_y</p:attrName>
                                        </p:attrNameLst>
                                      </p:cBhvr>
                                      <p:tavLst>
                                        <p:tav tm="0">
                                          <p:val>
                                            <p:strVal val="#ppt_y"/>
                                          </p:val>
                                        </p:tav>
                                        <p:tav tm="100000">
                                          <p:val>
                                            <p:strVal val="#ppt_y"/>
                                          </p:val>
                                        </p:tav>
                                      </p:tavLst>
                                    </p:anim>
                                    <p:animEffect transition="in" filter="wipe(right)" prLst="gradientSize: 0.1">
                                      <p:cBhvr>
                                        <p:cTn id="25" dur="10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40" presetClass="entr" presetSubtype="0" fill="hold" grpId="0" nodeType="clickEffect">
                                  <p:stCondLst>
                                    <p:cond delay="0"/>
                                  </p:stCondLst>
                                  <p:iterate type="lt">
                                    <p:tmPct val="10000"/>
                                  </p:iterate>
                                  <p:childTnLst>
                                    <p:set>
                                      <p:cBhvr>
                                        <p:cTn id="29" dur="1" fill="hold">
                                          <p:stCondLst>
                                            <p:cond delay="0"/>
                                          </p:stCondLst>
                                        </p:cTn>
                                        <p:tgtEl>
                                          <p:spTgt spid="10"/>
                                        </p:tgtEl>
                                        <p:attrNameLst>
                                          <p:attrName>style.visibility</p:attrName>
                                        </p:attrNameLst>
                                      </p:cBhvr>
                                      <p:to>
                                        <p:strVal val="visible"/>
                                      </p:to>
                                    </p:set>
                                    <p:animEffect transition="in" filter="fade">
                                      <p:cBhvr>
                                        <p:cTn id="30" dur="1000"/>
                                        <p:tgtEl>
                                          <p:spTgt spid="10"/>
                                        </p:tgtEl>
                                      </p:cBhvr>
                                    </p:animEffect>
                                    <p:anim calcmode="lin" valueType="num">
                                      <p:cBhvr>
                                        <p:cTn id="31" dur="1000" fill="hold"/>
                                        <p:tgtEl>
                                          <p:spTgt spid="10"/>
                                        </p:tgtEl>
                                        <p:attrNameLst>
                                          <p:attrName>ppt_x</p:attrName>
                                        </p:attrNameLst>
                                      </p:cBhvr>
                                      <p:tavLst>
                                        <p:tav tm="0">
                                          <p:val>
                                            <p:strVal val="#ppt_x-.1"/>
                                          </p:val>
                                        </p:tav>
                                        <p:tav tm="100000">
                                          <p:val>
                                            <p:strVal val="#ppt_x"/>
                                          </p:val>
                                        </p:tav>
                                      </p:tavLst>
                                    </p:anim>
                                    <p:anim calcmode="lin" valueType="num">
                                      <p:cBhvr>
                                        <p:cTn id="32" dur="10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7" presetClass="entr" presetSubtype="0" fill="hold" nodeType="click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fade">
                                      <p:cBhvr>
                                        <p:cTn id="37" dur="1000"/>
                                        <p:tgtEl>
                                          <p:spTgt spid="6"/>
                                        </p:tgtEl>
                                      </p:cBhvr>
                                    </p:animEffect>
                                    <p:anim calcmode="lin" valueType="num">
                                      <p:cBhvr>
                                        <p:cTn id="38" dur="1000" fill="hold"/>
                                        <p:tgtEl>
                                          <p:spTgt spid="6"/>
                                        </p:tgtEl>
                                        <p:attrNameLst>
                                          <p:attrName>ppt_x</p:attrName>
                                        </p:attrNameLst>
                                      </p:cBhvr>
                                      <p:tavLst>
                                        <p:tav tm="0">
                                          <p:val>
                                            <p:strVal val="#ppt_x"/>
                                          </p:val>
                                        </p:tav>
                                        <p:tav tm="100000">
                                          <p:val>
                                            <p:strVal val="#ppt_x"/>
                                          </p:val>
                                        </p:tav>
                                      </p:tavLst>
                                    </p:anim>
                                    <p:anim calcmode="lin" valueType="num">
                                      <p:cBhvr>
                                        <p:cTn id="3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17"/>
                                        </p:tgtEl>
                                        <p:attrNameLst>
                                          <p:attrName>style.visibility</p:attrName>
                                        </p:attrNameLst>
                                      </p:cBhvr>
                                      <p:to>
                                        <p:strVal val="visible"/>
                                      </p:to>
                                    </p:set>
                                    <p:anim calcmode="lin" valueType="num">
                                      <p:cBhvr additive="base">
                                        <p:cTn id="44" dur="500"/>
                                        <p:tgtEl>
                                          <p:spTgt spid="17"/>
                                        </p:tgtEl>
                                        <p:attrNameLst>
                                          <p:attrName>ppt_y</p:attrName>
                                        </p:attrNameLst>
                                      </p:cBhvr>
                                      <p:tavLst>
                                        <p:tav tm="0">
                                          <p:val>
                                            <p:strVal val="#ppt_y+#ppt_h*1.125000"/>
                                          </p:val>
                                        </p:tav>
                                        <p:tav tm="100000">
                                          <p:val>
                                            <p:strVal val="#ppt_y"/>
                                          </p:val>
                                        </p:tav>
                                      </p:tavLst>
                                    </p:anim>
                                    <p:animEffect transition="in" filter="wipe(up)">
                                      <p:cBhvr>
                                        <p:cTn id="45" dur="500"/>
                                        <p:tgtEl>
                                          <p:spTgt spid="17"/>
                                        </p:tgtEl>
                                      </p:cBhvr>
                                    </p:animEffect>
                                  </p:childTnLst>
                                </p:cTn>
                              </p:par>
                            </p:childTnLst>
                          </p:cTn>
                        </p:par>
                      </p:childTnLst>
                    </p:cTn>
                  </p:par>
                  <p:par>
                    <p:cTn id="46" fill="hold">
                      <p:stCondLst>
                        <p:cond delay="indefinite"/>
                      </p:stCondLst>
                      <p:childTnLst>
                        <p:par>
                          <p:cTn id="47" fill="hold">
                            <p:stCondLst>
                              <p:cond delay="0"/>
                            </p:stCondLst>
                            <p:childTnLst>
                              <p:par>
                                <p:cTn id="48" presetID="40" presetClass="entr" presetSubtype="0" fill="hold" grpId="0" nodeType="clickEffect">
                                  <p:stCondLst>
                                    <p:cond delay="0"/>
                                  </p:stCondLst>
                                  <p:iterate type="lt">
                                    <p:tmPct val="10000"/>
                                  </p:iterate>
                                  <p:childTnLst>
                                    <p:set>
                                      <p:cBhvr>
                                        <p:cTn id="49" dur="1" fill="hold">
                                          <p:stCondLst>
                                            <p:cond delay="0"/>
                                          </p:stCondLst>
                                        </p:cTn>
                                        <p:tgtEl>
                                          <p:spTgt spid="11"/>
                                        </p:tgtEl>
                                        <p:attrNameLst>
                                          <p:attrName>style.visibility</p:attrName>
                                        </p:attrNameLst>
                                      </p:cBhvr>
                                      <p:to>
                                        <p:strVal val="visible"/>
                                      </p:to>
                                    </p:set>
                                    <p:animEffect transition="in" filter="fade">
                                      <p:cBhvr>
                                        <p:cTn id="50" dur="1000"/>
                                        <p:tgtEl>
                                          <p:spTgt spid="11"/>
                                        </p:tgtEl>
                                      </p:cBhvr>
                                    </p:animEffect>
                                    <p:anim calcmode="lin" valueType="num">
                                      <p:cBhvr>
                                        <p:cTn id="51" dur="1000" fill="hold"/>
                                        <p:tgtEl>
                                          <p:spTgt spid="11"/>
                                        </p:tgtEl>
                                        <p:attrNameLst>
                                          <p:attrName>ppt_x</p:attrName>
                                        </p:attrNameLst>
                                      </p:cBhvr>
                                      <p:tavLst>
                                        <p:tav tm="0">
                                          <p:val>
                                            <p:strVal val="#ppt_x-.1"/>
                                          </p:val>
                                        </p:tav>
                                        <p:tav tm="100000">
                                          <p:val>
                                            <p:strVal val="#ppt_x"/>
                                          </p:val>
                                        </p:tav>
                                      </p:tavLst>
                                    </p:anim>
                                    <p:anim calcmode="lin" valueType="num">
                                      <p:cBhvr>
                                        <p:cTn id="52" dur="10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7" presetClass="entr" presetSubtype="0" fill="hold" grpId="0" nodeType="click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1000"/>
                                        <p:tgtEl>
                                          <p:spTgt spid="12"/>
                                        </p:tgtEl>
                                      </p:cBhvr>
                                    </p:animEffect>
                                    <p:anim calcmode="lin" valueType="num">
                                      <p:cBhvr>
                                        <p:cTn id="58" dur="1000" fill="hold"/>
                                        <p:tgtEl>
                                          <p:spTgt spid="12"/>
                                        </p:tgtEl>
                                        <p:attrNameLst>
                                          <p:attrName>ppt_x</p:attrName>
                                        </p:attrNameLst>
                                      </p:cBhvr>
                                      <p:tavLst>
                                        <p:tav tm="0">
                                          <p:val>
                                            <p:strVal val="#ppt_x"/>
                                          </p:val>
                                        </p:tav>
                                        <p:tav tm="100000">
                                          <p:val>
                                            <p:strVal val="#ppt_x"/>
                                          </p:val>
                                        </p:tav>
                                      </p:tavLst>
                                    </p:anim>
                                    <p:anim calcmode="lin" valueType="num">
                                      <p:cBhvr>
                                        <p:cTn id="5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60" fill="hold">
                      <p:stCondLst>
                        <p:cond delay="indefinite"/>
                      </p:stCondLst>
                      <p:childTnLst>
                        <p:par>
                          <p:cTn id="61" fill="hold">
                            <p:stCondLst>
                              <p:cond delay="0"/>
                            </p:stCondLst>
                            <p:childTnLst>
                              <p:par>
                                <p:cTn id="62" presetID="5" presetClass="entr" presetSubtype="10" fill="hold" nodeType="clickEffect">
                                  <p:stCondLst>
                                    <p:cond delay="0"/>
                                  </p:stCondLst>
                                  <p:childTnLst>
                                    <p:set>
                                      <p:cBhvr>
                                        <p:cTn id="63" dur="1" fill="hold">
                                          <p:stCondLst>
                                            <p:cond delay="0"/>
                                          </p:stCondLst>
                                        </p:cTn>
                                        <p:tgtEl>
                                          <p:spTgt spid="7"/>
                                        </p:tgtEl>
                                        <p:attrNameLst>
                                          <p:attrName>style.visibility</p:attrName>
                                        </p:attrNameLst>
                                      </p:cBhvr>
                                      <p:to>
                                        <p:strVal val="visible"/>
                                      </p:to>
                                    </p:set>
                                    <p:animEffect transition="in" filter="checkerboard(across)">
                                      <p:cBhvr>
                                        <p:cTn id="64" dur="500"/>
                                        <p:tgtEl>
                                          <p:spTgt spid="7"/>
                                        </p:tgtEl>
                                      </p:cBhvr>
                                    </p:animEffect>
                                  </p:childTnLst>
                                </p:cTn>
                              </p:par>
                            </p:childTnLst>
                          </p:cTn>
                        </p:par>
                      </p:childTnLst>
                    </p:cTn>
                  </p:par>
                  <p:par>
                    <p:cTn id="65" fill="hold">
                      <p:stCondLst>
                        <p:cond delay="indefinite"/>
                      </p:stCondLst>
                      <p:childTnLst>
                        <p:par>
                          <p:cTn id="66" fill="hold">
                            <p:stCondLst>
                              <p:cond delay="0"/>
                            </p:stCondLst>
                            <p:childTnLst>
                              <p:par>
                                <p:cTn id="67" presetID="5" presetClass="entr" presetSubtype="10" fill="hold" grpId="0" nodeType="click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checkerboard(across)">
                                      <p:cBhvr>
                                        <p:cTn id="69" dur="500"/>
                                        <p:tgtEl>
                                          <p:spTgt spid="18"/>
                                        </p:tgtEl>
                                      </p:cBhvr>
                                    </p:animEffect>
                                  </p:childTnLst>
                                </p:cTn>
                              </p:par>
                            </p:childTnLst>
                          </p:cTn>
                        </p:par>
                      </p:childTnLst>
                    </p:cTn>
                  </p:par>
                  <p:par>
                    <p:cTn id="70" fill="hold">
                      <p:stCondLst>
                        <p:cond delay="indefinite"/>
                      </p:stCondLst>
                      <p:childTnLst>
                        <p:par>
                          <p:cTn id="71" fill="hold">
                            <p:stCondLst>
                              <p:cond delay="0"/>
                            </p:stCondLst>
                            <p:childTnLst>
                              <p:par>
                                <p:cTn id="72" presetID="47" presetClass="entr" presetSubtype="0" fill="hold" grpId="0" nodeType="clickEffect">
                                  <p:stCondLst>
                                    <p:cond delay="0"/>
                                  </p:stCondLst>
                                  <p:childTnLst>
                                    <p:set>
                                      <p:cBhvr>
                                        <p:cTn id="73" dur="1" fill="hold">
                                          <p:stCondLst>
                                            <p:cond delay="0"/>
                                          </p:stCondLst>
                                        </p:cTn>
                                        <p:tgtEl>
                                          <p:spTgt spid="13"/>
                                        </p:tgtEl>
                                        <p:attrNameLst>
                                          <p:attrName>style.visibility</p:attrName>
                                        </p:attrNameLst>
                                      </p:cBhvr>
                                      <p:to>
                                        <p:strVal val="visible"/>
                                      </p:to>
                                    </p:set>
                                    <p:animEffect transition="in" filter="fade">
                                      <p:cBhvr>
                                        <p:cTn id="74" dur="1000"/>
                                        <p:tgtEl>
                                          <p:spTgt spid="13"/>
                                        </p:tgtEl>
                                      </p:cBhvr>
                                    </p:animEffect>
                                    <p:anim calcmode="lin" valueType="num">
                                      <p:cBhvr>
                                        <p:cTn id="75" dur="1000" fill="hold"/>
                                        <p:tgtEl>
                                          <p:spTgt spid="13"/>
                                        </p:tgtEl>
                                        <p:attrNameLst>
                                          <p:attrName>ppt_x</p:attrName>
                                        </p:attrNameLst>
                                      </p:cBhvr>
                                      <p:tavLst>
                                        <p:tav tm="0">
                                          <p:val>
                                            <p:strVal val="#ppt_x"/>
                                          </p:val>
                                        </p:tav>
                                        <p:tav tm="100000">
                                          <p:val>
                                            <p:strVal val="#ppt_x"/>
                                          </p:val>
                                        </p:tav>
                                      </p:tavLst>
                                    </p:anim>
                                    <p:anim calcmode="lin" valueType="num">
                                      <p:cBhvr>
                                        <p:cTn id="76"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41" presetClass="entr" presetSubtype="0" fill="hold" grpId="0" nodeType="clickEffect">
                                  <p:stCondLst>
                                    <p:cond delay="0"/>
                                  </p:stCondLst>
                                  <p:iterate type="lt">
                                    <p:tmPct val="10000"/>
                                  </p:iterate>
                                  <p:childTnLst>
                                    <p:set>
                                      <p:cBhvr>
                                        <p:cTn id="80" dur="1" fill="hold">
                                          <p:stCondLst>
                                            <p:cond delay="0"/>
                                          </p:stCondLst>
                                        </p:cTn>
                                        <p:tgtEl>
                                          <p:spTgt spid="14"/>
                                        </p:tgtEl>
                                        <p:attrNameLst>
                                          <p:attrName>style.visibility</p:attrName>
                                        </p:attrNameLst>
                                      </p:cBhvr>
                                      <p:to>
                                        <p:strVal val="visible"/>
                                      </p:to>
                                    </p:set>
                                    <p:anim calcmode="lin" valueType="num">
                                      <p:cBhvr>
                                        <p:cTn id="81" dur="500" fill="hold"/>
                                        <p:tgtEl>
                                          <p:spTgt spid="14"/>
                                        </p:tgtEl>
                                        <p:attrNameLst>
                                          <p:attrName>ppt_x</p:attrName>
                                        </p:attrNameLst>
                                      </p:cBhvr>
                                      <p:tavLst>
                                        <p:tav tm="0">
                                          <p:val>
                                            <p:strVal val="#ppt_x"/>
                                          </p:val>
                                        </p:tav>
                                        <p:tav tm="50000">
                                          <p:val>
                                            <p:strVal val="#ppt_x+.1"/>
                                          </p:val>
                                        </p:tav>
                                        <p:tav tm="100000">
                                          <p:val>
                                            <p:strVal val="#ppt_x"/>
                                          </p:val>
                                        </p:tav>
                                      </p:tavLst>
                                    </p:anim>
                                    <p:anim calcmode="lin" valueType="num">
                                      <p:cBhvr>
                                        <p:cTn id="82" dur="500" fill="hold"/>
                                        <p:tgtEl>
                                          <p:spTgt spid="14"/>
                                        </p:tgtEl>
                                        <p:attrNameLst>
                                          <p:attrName>ppt_y</p:attrName>
                                        </p:attrNameLst>
                                      </p:cBhvr>
                                      <p:tavLst>
                                        <p:tav tm="0">
                                          <p:val>
                                            <p:strVal val="#ppt_y"/>
                                          </p:val>
                                        </p:tav>
                                        <p:tav tm="100000">
                                          <p:val>
                                            <p:strVal val="#ppt_y"/>
                                          </p:val>
                                        </p:tav>
                                      </p:tavLst>
                                    </p:anim>
                                    <p:anim calcmode="lin" valueType="num">
                                      <p:cBhvr>
                                        <p:cTn id="83" dur="500" fill="hold"/>
                                        <p:tgtEl>
                                          <p:spTgt spid="14"/>
                                        </p:tgtEl>
                                        <p:attrNameLst>
                                          <p:attrName>ppt_h</p:attrName>
                                        </p:attrNameLst>
                                      </p:cBhvr>
                                      <p:tavLst>
                                        <p:tav tm="0">
                                          <p:val>
                                            <p:strVal val="#ppt_h/10"/>
                                          </p:val>
                                        </p:tav>
                                        <p:tav tm="50000">
                                          <p:val>
                                            <p:strVal val="#ppt_h+.01"/>
                                          </p:val>
                                        </p:tav>
                                        <p:tav tm="100000">
                                          <p:val>
                                            <p:strVal val="#ppt_h"/>
                                          </p:val>
                                        </p:tav>
                                      </p:tavLst>
                                    </p:anim>
                                    <p:anim calcmode="lin" valueType="num">
                                      <p:cBhvr>
                                        <p:cTn id="84" dur="500" fill="hold"/>
                                        <p:tgtEl>
                                          <p:spTgt spid="14"/>
                                        </p:tgtEl>
                                        <p:attrNameLst>
                                          <p:attrName>ppt_w</p:attrName>
                                        </p:attrNameLst>
                                      </p:cBhvr>
                                      <p:tavLst>
                                        <p:tav tm="0">
                                          <p:val>
                                            <p:strVal val="#ppt_w/10"/>
                                          </p:val>
                                        </p:tav>
                                        <p:tav tm="50000">
                                          <p:val>
                                            <p:strVal val="#ppt_w+.01"/>
                                          </p:val>
                                        </p:tav>
                                        <p:tav tm="100000">
                                          <p:val>
                                            <p:strVal val="#ppt_w"/>
                                          </p:val>
                                        </p:tav>
                                      </p:tavLst>
                                    </p:anim>
                                    <p:animEffect transition="in" filter="fade">
                                      <p:cBhvr>
                                        <p:cTn id="85" dur="500" tmFilter="0,0; .5, 1; 1, 1"/>
                                        <p:tgtEl>
                                          <p:spTgt spid="14"/>
                                        </p:tgtEl>
                                      </p:cBhvr>
                                    </p:animEffect>
                                  </p:childTnLst>
                                </p:cTn>
                              </p:par>
                            </p:childTnLst>
                          </p:cTn>
                        </p:par>
                      </p:childTnLst>
                    </p:cTn>
                  </p:par>
                  <p:par>
                    <p:cTn id="86" fill="hold">
                      <p:stCondLst>
                        <p:cond delay="indefinite"/>
                      </p:stCondLst>
                      <p:childTnLst>
                        <p:par>
                          <p:cTn id="87" fill="hold">
                            <p:stCondLst>
                              <p:cond delay="0"/>
                            </p:stCondLst>
                            <p:childTnLst>
                              <p:par>
                                <p:cTn id="88" presetID="14" presetClass="entr" presetSubtype="10" fill="hold" nodeType="clickEffect">
                                  <p:stCondLst>
                                    <p:cond delay="0"/>
                                  </p:stCondLst>
                                  <p:childTnLst>
                                    <p:set>
                                      <p:cBhvr>
                                        <p:cTn id="89" dur="1" fill="hold">
                                          <p:stCondLst>
                                            <p:cond delay="0"/>
                                          </p:stCondLst>
                                        </p:cTn>
                                        <p:tgtEl>
                                          <p:spTgt spid="8"/>
                                        </p:tgtEl>
                                        <p:attrNameLst>
                                          <p:attrName>style.visibility</p:attrName>
                                        </p:attrNameLst>
                                      </p:cBhvr>
                                      <p:to>
                                        <p:strVal val="visible"/>
                                      </p:to>
                                    </p:set>
                                    <p:animEffect transition="in" filter="randombar(horizontal)">
                                      <p:cBhvr>
                                        <p:cTn id="90" dur="500"/>
                                        <p:tgtEl>
                                          <p:spTgt spid="8"/>
                                        </p:tgtEl>
                                      </p:cBhvr>
                                    </p:animEffect>
                                  </p:childTnLst>
                                </p:cTn>
                              </p:par>
                            </p:childTnLst>
                          </p:cTn>
                        </p:par>
                      </p:childTnLst>
                    </p:cTn>
                  </p:par>
                  <p:par>
                    <p:cTn id="91" fill="hold">
                      <p:stCondLst>
                        <p:cond delay="indefinite"/>
                      </p:stCondLst>
                      <p:childTnLst>
                        <p:par>
                          <p:cTn id="92" fill="hold">
                            <p:stCondLst>
                              <p:cond delay="0"/>
                            </p:stCondLst>
                            <p:childTnLst>
                              <p:par>
                                <p:cTn id="93" presetID="14" presetClass="entr" presetSubtype="10" fill="hold" grpId="0" nodeType="clickEffect">
                                  <p:stCondLst>
                                    <p:cond delay="0"/>
                                  </p:stCondLst>
                                  <p:childTnLst>
                                    <p:set>
                                      <p:cBhvr>
                                        <p:cTn id="94" dur="1" fill="hold">
                                          <p:stCondLst>
                                            <p:cond delay="0"/>
                                          </p:stCondLst>
                                        </p:cTn>
                                        <p:tgtEl>
                                          <p:spTgt spid="19"/>
                                        </p:tgtEl>
                                        <p:attrNameLst>
                                          <p:attrName>style.visibility</p:attrName>
                                        </p:attrNameLst>
                                      </p:cBhvr>
                                      <p:to>
                                        <p:strVal val="visible"/>
                                      </p:to>
                                    </p:set>
                                    <p:animEffect transition="in" filter="randombar(horizontal)">
                                      <p:cBhvr>
                                        <p:cTn id="95" dur="500"/>
                                        <p:tgtEl>
                                          <p:spTgt spid="19"/>
                                        </p:tgtEl>
                                      </p:cBhvr>
                                    </p:animEffect>
                                  </p:childTnLst>
                                </p:cTn>
                              </p:par>
                            </p:childTnLst>
                          </p:cTn>
                        </p:par>
                      </p:childTnLst>
                    </p:cTn>
                  </p:par>
                  <p:par>
                    <p:cTn id="96" fill="hold">
                      <p:stCondLst>
                        <p:cond delay="indefinite"/>
                      </p:stCondLst>
                      <p:childTnLst>
                        <p:par>
                          <p:cTn id="97" fill="hold">
                            <p:stCondLst>
                              <p:cond delay="0"/>
                            </p:stCondLst>
                            <p:childTnLst>
                              <p:par>
                                <p:cTn id="98" presetID="41" presetClass="entr" presetSubtype="0" fill="hold" grpId="0" nodeType="clickEffect">
                                  <p:stCondLst>
                                    <p:cond delay="0"/>
                                  </p:stCondLst>
                                  <p:iterate type="lt">
                                    <p:tmPct val="10000"/>
                                  </p:iterate>
                                  <p:childTnLst>
                                    <p:set>
                                      <p:cBhvr>
                                        <p:cTn id="99" dur="1" fill="hold">
                                          <p:stCondLst>
                                            <p:cond delay="0"/>
                                          </p:stCondLst>
                                        </p:cTn>
                                        <p:tgtEl>
                                          <p:spTgt spid="15"/>
                                        </p:tgtEl>
                                        <p:attrNameLst>
                                          <p:attrName>style.visibility</p:attrName>
                                        </p:attrNameLst>
                                      </p:cBhvr>
                                      <p:to>
                                        <p:strVal val="visible"/>
                                      </p:to>
                                    </p:set>
                                    <p:anim calcmode="lin" valueType="num">
                                      <p:cBhvr>
                                        <p:cTn id="100" dur="500" fill="hold"/>
                                        <p:tgtEl>
                                          <p:spTgt spid="15"/>
                                        </p:tgtEl>
                                        <p:attrNameLst>
                                          <p:attrName>ppt_x</p:attrName>
                                        </p:attrNameLst>
                                      </p:cBhvr>
                                      <p:tavLst>
                                        <p:tav tm="0">
                                          <p:val>
                                            <p:strVal val="#ppt_x"/>
                                          </p:val>
                                        </p:tav>
                                        <p:tav tm="50000">
                                          <p:val>
                                            <p:strVal val="#ppt_x+.1"/>
                                          </p:val>
                                        </p:tav>
                                        <p:tav tm="100000">
                                          <p:val>
                                            <p:strVal val="#ppt_x"/>
                                          </p:val>
                                        </p:tav>
                                      </p:tavLst>
                                    </p:anim>
                                    <p:anim calcmode="lin" valueType="num">
                                      <p:cBhvr>
                                        <p:cTn id="101" dur="500" fill="hold"/>
                                        <p:tgtEl>
                                          <p:spTgt spid="15"/>
                                        </p:tgtEl>
                                        <p:attrNameLst>
                                          <p:attrName>ppt_y</p:attrName>
                                        </p:attrNameLst>
                                      </p:cBhvr>
                                      <p:tavLst>
                                        <p:tav tm="0">
                                          <p:val>
                                            <p:strVal val="#ppt_y"/>
                                          </p:val>
                                        </p:tav>
                                        <p:tav tm="100000">
                                          <p:val>
                                            <p:strVal val="#ppt_y"/>
                                          </p:val>
                                        </p:tav>
                                      </p:tavLst>
                                    </p:anim>
                                    <p:anim calcmode="lin" valueType="num">
                                      <p:cBhvr>
                                        <p:cTn id="102" dur="500" fill="hold"/>
                                        <p:tgtEl>
                                          <p:spTgt spid="15"/>
                                        </p:tgtEl>
                                        <p:attrNameLst>
                                          <p:attrName>ppt_h</p:attrName>
                                        </p:attrNameLst>
                                      </p:cBhvr>
                                      <p:tavLst>
                                        <p:tav tm="0">
                                          <p:val>
                                            <p:strVal val="#ppt_h/10"/>
                                          </p:val>
                                        </p:tav>
                                        <p:tav tm="50000">
                                          <p:val>
                                            <p:strVal val="#ppt_h+.01"/>
                                          </p:val>
                                        </p:tav>
                                        <p:tav tm="100000">
                                          <p:val>
                                            <p:strVal val="#ppt_h"/>
                                          </p:val>
                                        </p:tav>
                                      </p:tavLst>
                                    </p:anim>
                                    <p:anim calcmode="lin" valueType="num">
                                      <p:cBhvr>
                                        <p:cTn id="103" dur="500" fill="hold"/>
                                        <p:tgtEl>
                                          <p:spTgt spid="15"/>
                                        </p:tgtEl>
                                        <p:attrNameLst>
                                          <p:attrName>ppt_w</p:attrName>
                                        </p:attrNameLst>
                                      </p:cBhvr>
                                      <p:tavLst>
                                        <p:tav tm="0">
                                          <p:val>
                                            <p:strVal val="#ppt_w/10"/>
                                          </p:val>
                                        </p:tav>
                                        <p:tav tm="50000">
                                          <p:val>
                                            <p:strVal val="#ppt_w+.01"/>
                                          </p:val>
                                        </p:tav>
                                        <p:tav tm="100000">
                                          <p:val>
                                            <p:strVal val="#ppt_w"/>
                                          </p:val>
                                        </p:tav>
                                      </p:tavLst>
                                    </p:anim>
                                    <p:animEffect transition="in" filter="fade">
                                      <p:cBhvr>
                                        <p:cTn id="104" dur="500" tmFilter="0,0; .5, 1; 1, 1"/>
                                        <p:tgtEl>
                                          <p:spTgt spid="15"/>
                                        </p:tgtEl>
                                      </p:cBhvr>
                                    </p:animEffect>
                                  </p:childTnLst>
                                </p:cTn>
                              </p:par>
                            </p:childTnLst>
                          </p:cTn>
                        </p:par>
                      </p:childTnLst>
                    </p:cTn>
                  </p:par>
                  <p:par>
                    <p:cTn id="105" fill="hold">
                      <p:stCondLst>
                        <p:cond delay="indefinite"/>
                      </p:stCondLst>
                      <p:childTnLst>
                        <p:par>
                          <p:cTn id="106" fill="hold">
                            <p:stCondLst>
                              <p:cond delay="0"/>
                            </p:stCondLst>
                            <p:childTnLst>
                              <p:par>
                                <p:cTn id="107" presetID="8" presetClass="entr" presetSubtype="16" fill="hold" nodeType="clickEffect">
                                  <p:stCondLst>
                                    <p:cond delay="0"/>
                                  </p:stCondLst>
                                  <p:childTnLst>
                                    <p:set>
                                      <p:cBhvr>
                                        <p:cTn id="108" dur="1" fill="hold">
                                          <p:stCondLst>
                                            <p:cond delay="0"/>
                                          </p:stCondLst>
                                        </p:cTn>
                                        <p:tgtEl>
                                          <p:spTgt spid="9"/>
                                        </p:tgtEl>
                                        <p:attrNameLst>
                                          <p:attrName>style.visibility</p:attrName>
                                        </p:attrNameLst>
                                      </p:cBhvr>
                                      <p:to>
                                        <p:strVal val="visible"/>
                                      </p:to>
                                    </p:set>
                                    <p:animEffect transition="in" filter="diamond(in)">
                                      <p:cBhvr>
                                        <p:cTn id="109" dur="2000"/>
                                        <p:tgtEl>
                                          <p:spTgt spid="9"/>
                                        </p:tgtEl>
                                      </p:cBhvr>
                                    </p:animEffect>
                                  </p:childTnLst>
                                </p:cTn>
                              </p:par>
                            </p:childTnLst>
                          </p:cTn>
                        </p:par>
                      </p:childTnLst>
                    </p:cTn>
                  </p:par>
                  <p:par>
                    <p:cTn id="110" fill="hold">
                      <p:stCondLst>
                        <p:cond delay="indefinite"/>
                      </p:stCondLst>
                      <p:childTnLst>
                        <p:par>
                          <p:cTn id="111" fill="hold">
                            <p:stCondLst>
                              <p:cond delay="0"/>
                            </p:stCondLst>
                            <p:childTnLst>
                              <p:par>
                                <p:cTn id="112" presetID="8" presetClass="entr" presetSubtype="16" fill="hold" grpId="0" nodeType="clickEffect">
                                  <p:stCondLst>
                                    <p:cond delay="0"/>
                                  </p:stCondLst>
                                  <p:childTnLst>
                                    <p:set>
                                      <p:cBhvr>
                                        <p:cTn id="113" dur="1" fill="hold">
                                          <p:stCondLst>
                                            <p:cond delay="0"/>
                                          </p:stCondLst>
                                        </p:cTn>
                                        <p:tgtEl>
                                          <p:spTgt spid="20"/>
                                        </p:tgtEl>
                                        <p:attrNameLst>
                                          <p:attrName>style.visibility</p:attrName>
                                        </p:attrNameLst>
                                      </p:cBhvr>
                                      <p:to>
                                        <p:strVal val="visible"/>
                                      </p:to>
                                    </p:set>
                                    <p:animEffect transition="in" filter="diamond(in)">
                                      <p:cBhvr>
                                        <p:cTn id="114" dur="2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16" grpId="0"/>
      <p:bldP spid="16" grpId="1"/>
      <p:bldP spid="10" grpId="0"/>
      <p:bldP spid="10" grpId="1"/>
      <p:bldP spid="17" grpId="0"/>
      <p:bldP spid="17" grpId="1"/>
      <p:bldP spid="11" grpId="0"/>
      <p:bldP spid="11" grpId="1"/>
      <p:bldP spid="12" grpId="0"/>
      <p:bldP spid="12" grpId="1"/>
      <p:bldP spid="18" grpId="0"/>
      <p:bldP spid="18" grpId="1"/>
      <p:bldP spid="13" grpId="0"/>
      <p:bldP spid="13" grpId="1"/>
      <p:bldP spid="14" grpId="0"/>
      <p:bldP spid="14" grpId="1"/>
      <p:bldP spid="19" grpId="0"/>
      <p:bldP spid="19" grpId="1"/>
      <p:bldP spid="15" grpId="0"/>
      <p:bldP spid="15" grpId="1"/>
      <p:bldP spid="20" grpId="0"/>
      <p:bldP spid="20"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0"/>
            <a:ext cx="2078990" cy="424180"/>
          </a:xfrm>
        </p:spPr>
        <p:txBody>
          <a:bodyPr>
            <a:noAutofit/>
          </a:bodyPr>
          <a:p>
            <a:r>
              <a:rPr lang="en-US" altLang="en-GB" sz="2400" b="1">
                <a:latin typeface="Bodoni MT" panose="02070603080606020203" charset="0"/>
                <a:cs typeface="Bodoni MT" panose="02070603080606020203" charset="0"/>
              </a:rPr>
              <a:t>vgg16</a:t>
            </a:r>
            <a:endParaRPr lang="en-US" altLang="en-GB" sz="2400" b="1">
              <a:latin typeface="Bodoni MT" panose="02070603080606020203" charset="0"/>
              <a:cs typeface="Bodoni MT" panose="02070603080606020203" charset="0"/>
            </a:endParaRPr>
          </a:p>
        </p:txBody>
      </p:sp>
      <p:pic>
        <p:nvPicPr>
          <p:cNvPr id="5" name="Content Placeholder 4"/>
          <p:cNvPicPr>
            <a:picLocks noChangeAspect="1"/>
          </p:cNvPicPr>
          <p:nvPr>
            <p:ph sz="half" idx="1"/>
          </p:nvPr>
        </p:nvPicPr>
        <p:blipFill>
          <a:blip r:embed="rId1"/>
          <a:stretch>
            <a:fillRect/>
          </a:stretch>
        </p:blipFill>
        <p:spPr>
          <a:xfrm>
            <a:off x="64135" y="424180"/>
            <a:ext cx="4329430" cy="1991995"/>
          </a:xfrm>
          <a:prstGeom prst="rect">
            <a:avLst/>
          </a:prstGeom>
        </p:spPr>
      </p:pic>
      <p:pic>
        <p:nvPicPr>
          <p:cNvPr id="6" name="Content Placeholder 5"/>
          <p:cNvPicPr>
            <a:picLocks noChangeAspect="1"/>
          </p:cNvPicPr>
          <p:nvPr>
            <p:ph sz="half" idx="2"/>
          </p:nvPr>
        </p:nvPicPr>
        <p:blipFill>
          <a:blip r:embed="rId2"/>
          <a:stretch>
            <a:fillRect/>
          </a:stretch>
        </p:blipFill>
        <p:spPr>
          <a:xfrm>
            <a:off x="5132705" y="424180"/>
            <a:ext cx="2962275" cy="1992630"/>
          </a:xfrm>
          <a:prstGeom prst="rect">
            <a:avLst/>
          </a:prstGeom>
        </p:spPr>
      </p:pic>
      <p:pic>
        <p:nvPicPr>
          <p:cNvPr id="7" name="Picture 6"/>
          <p:cNvPicPr>
            <a:picLocks noChangeAspect="1"/>
          </p:cNvPicPr>
          <p:nvPr/>
        </p:nvPicPr>
        <p:blipFill>
          <a:blip r:embed="rId3"/>
          <a:stretch>
            <a:fillRect/>
          </a:stretch>
        </p:blipFill>
        <p:spPr>
          <a:xfrm>
            <a:off x="8345170" y="2117725"/>
            <a:ext cx="3070860" cy="1919605"/>
          </a:xfrm>
          <a:prstGeom prst="rect">
            <a:avLst/>
          </a:prstGeom>
          <a:ln w="28575" cmpd="sng">
            <a:solidFill>
              <a:schemeClr val="tx1"/>
            </a:solidFill>
            <a:prstDash val="solid"/>
          </a:ln>
        </p:spPr>
      </p:pic>
      <p:pic>
        <p:nvPicPr>
          <p:cNvPr id="8" name="Picture 7"/>
          <p:cNvPicPr>
            <a:picLocks noChangeAspect="1"/>
          </p:cNvPicPr>
          <p:nvPr/>
        </p:nvPicPr>
        <p:blipFill>
          <a:blip r:embed="rId4"/>
          <a:stretch>
            <a:fillRect/>
          </a:stretch>
        </p:blipFill>
        <p:spPr>
          <a:xfrm>
            <a:off x="4543425" y="3939540"/>
            <a:ext cx="3538220" cy="2211705"/>
          </a:xfrm>
          <a:prstGeom prst="rect">
            <a:avLst/>
          </a:prstGeom>
          <a:ln w="28575" cmpd="sng">
            <a:solidFill>
              <a:schemeClr val="tx1"/>
            </a:solidFill>
            <a:prstDash val="solid"/>
          </a:ln>
        </p:spPr>
      </p:pic>
      <p:pic>
        <p:nvPicPr>
          <p:cNvPr id="9" name="Picture 8"/>
          <p:cNvPicPr>
            <a:picLocks noChangeAspect="1"/>
          </p:cNvPicPr>
          <p:nvPr/>
        </p:nvPicPr>
        <p:blipFill>
          <a:blip r:embed="rId5"/>
          <a:stretch>
            <a:fillRect/>
          </a:stretch>
        </p:blipFill>
        <p:spPr>
          <a:xfrm>
            <a:off x="437515" y="3243580"/>
            <a:ext cx="3042920" cy="3042920"/>
          </a:xfrm>
          <a:prstGeom prst="rect">
            <a:avLst/>
          </a:prstGeom>
          <a:ln w="28575" cmpd="sng">
            <a:solidFill>
              <a:schemeClr val="tx1"/>
            </a:solidFill>
            <a:prstDash val="solid"/>
          </a:ln>
        </p:spPr>
      </p:pic>
      <p:sp>
        <p:nvSpPr>
          <p:cNvPr id="10" name="Text Box 9"/>
          <p:cNvSpPr txBox="1"/>
          <p:nvPr/>
        </p:nvSpPr>
        <p:spPr>
          <a:xfrm>
            <a:off x="4543425" y="1268730"/>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1" name="Text Box 10"/>
          <p:cNvSpPr txBox="1"/>
          <p:nvPr/>
        </p:nvSpPr>
        <p:spPr>
          <a:xfrm>
            <a:off x="9100820" y="1129030"/>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2" name="Text Box 11"/>
          <p:cNvSpPr txBox="1"/>
          <p:nvPr/>
        </p:nvSpPr>
        <p:spPr>
          <a:xfrm>
            <a:off x="9482455" y="1268730"/>
            <a:ext cx="3860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3" name="Text Box 12"/>
          <p:cNvSpPr txBox="1"/>
          <p:nvPr/>
        </p:nvSpPr>
        <p:spPr>
          <a:xfrm>
            <a:off x="9580880" y="4505325"/>
            <a:ext cx="3860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4" name="Text Box 13"/>
          <p:cNvSpPr txBox="1"/>
          <p:nvPr/>
        </p:nvSpPr>
        <p:spPr>
          <a:xfrm>
            <a:off x="9279255" y="4953000"/>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5" name="Text Box 14"/>
          <p:cNvSpPr txBox="1"/>
          <p:nvPr/>
        </p:nvSpPr>
        <p:spPr>
          <a:xfrm>
            <a:off x="3594735" y="4753610"/>
            <a:ext cx="589280" cy="583565"/>
          </a:xfrm>
          <a:prstGeom prst="rect">
            <a:avLst/>
          </a:prstGeom>
          <a:noFill/>
        </p:spPr>
        <p:txBody>
          <a:bodyPr wrap="none" rtlCol="0" anchor="t">
            <a:spAutoFit/>
          </a:bodyPr>
          <a:p>
            <a:r>
              <a:rPr lang="en-GB" altLang="en-US" sz="3200">
                <a:latin typeface="Arial" panose="020B0604020202020204" pitchFamily="34" charset="0"/>
                <a:cs typeface="Arial" panose="020B0604020202020204" pitchFamily="34" charset="0"/>
              </a:rPr>
              <a:t>←</a:t>
            </a:r>
            <a:endParaRPr lang="en-GB" altLang="en-US" sz="3200">
              <a:latin typeface="Arial" panose="020B0604020202020204" pitchFamily="34" charset="0"/>
              <a:cs typeface="Arial" panose="020B0604020202020204" pitchFamily="34" charset="0"/>
            </a:endParaRPr>
          </a:p>
        </p:txBody>
      </p:sp>
      <p:sp>
        <p:nvSpPr>
          <p:cNvPr id="16" name="Text Box 15"/>
          <p:cNvSpPr txBox="1"/>
          <p:nvPr/>
        </p:nvSpPr>
        <p:spPr>
          <a:xfrm>
            <a:off x="664845" y="2416175"/>
            <a:ext cx="3127375" cy="368300"/>
          </a:xfrm>
          <a:prstGeom prst="rect">
            <a:avLst/>
          </a:prstGeom>
          <a:noFill/>
        </p:spPr>
        <p:txBody>
          <a:bodyPr wrap="square" rtlCol="0">
            <a:spAutoFit/>
          </a:bodyPr>
          <a:p>
            <a:r>
              <a:rPr lang="en-US" altLang="en-GB" b="1"/>
              <a:t>Performance Metrics of vgg16</a:t>
            </a:r>
            <a:endParaRPr lang="en-US" altLang="en-GB" b="1"/>
          </a:p>
        </p:txBody>
      </p:sp>
      <p:sp>
        <p:nvSpPr>
          <p:cNvPr id="17" name="Text Box 16"/>
          <p:cNvSpPr txBox="1"/>
          <p:nvPr/>
        </p:nvSpPr>
        <p:spPr>
          <a:xfrm>
            <a:off x="5466715" y="2416810"/>
            <a:ext cx="2293620" cy="368300"/>
          </a:xfrm>
          <a:prstGeom prst="rect">
            <a:avLst/>
          </a:prstGeom>
          <a:noFill/>
        </p:spPr>
        <p:txBody>
          <a:bodyPr wrap="square" rtlCol="0">
            <a:spAutoFit/>
          </a:bodyPr>
          <a:p>
            <a:r>
              <a:rPr lang="en-US" altLang="en-GB" b="1"/>
              <a:t>Training till 7 epochs</a:t>
            </a:r>
            <a:endParaRPr lang="en-US" altLang="en-GB" b="1"/>
          </a:p>
        </p:txBody>
      </p:sp>
      <p:sp>
        <p:nvSpPr>
          <p:cNvPr id="18" name="Text Box 17"/>
          <p:cNvSpPr txBox="1"/>
          <p:nvPr/>
        </p:nvSpPr>
        <p:spPr>
          <a:xfrm>
            <a:off x="8546465" y="4010660"/>
            <a:ext cx="3062605" cy="368300"/>
          </a:xfrm>
          <a:prstGeom prst="rect">
            <a:avLst/>
          </a:prstGeom>
          <a:noFill/>
        </p:spPr>
        <p:txBody>
          <a:bodyPr wrap="square" rtlCol="0">
            <a:spAutoFit/>
          </a:bodyPr>
          <a:p>
            <a:r>
              <a:rPr lang="en-US" altLang="en-GB" b="1"/>
              <a:t>Acccuracy Curve for vgg16</a:t>
            </a:r>
            <a:endParaRPr lang="en-US" altLang="en-GB" b="1"/>
          </a:p>
        </p:txBody>
      </p:sp>
      <p:sp>
        <p:nvSpPr>
          <p:cNvPr id="19" name="Text Box 18"/>
          <p:cNvSpPr txBox="1"/>
          <p:nvPr/>
        </p:nvSpPr>
        <p:spPr>
          <a:xfrm>
            <a:off x="5132705" y="6133465"/>
            <a:ext cx="2349500" cy="368300"/>
          </a:xfrm>
          <a:prstGeom prst="rect">
            <a:avLst/>
          </a:prstGeom>
          <a:noFill/>
        </p:spPr>
        <p:txBody>
          <a:bodyPr wrap="square" rtlCol="0">
            <a:spAutoFit/>
          </a:bodyPr>
          <a:p>
            <a:r>
              <a:rPr lang="en-US" altLang="en-GB" b="1"/>
              <a:t>Loss Curve for vgg16</a:t>
            </a:r>
            <a:endParaRPr lang="en-US" altLang="en-GB" b="1"/>
          </a:p>
        </p:txBody>
      </p:sp>
      <p:sp>
        <p:nvSpPr>
          <p:cNvPr id="20" name="Text Box 19"/>
          <p:cNvSpPr txBox="1"/>
          <p:nvPr/>
        </p:nvSpPr>
        <p:spPr>
          <a:xfrm>
            <a:off x="314325" y="6367780"/>
            <a:ext cx="2922270" cy="368300"/>
          </a:xfrm>
          <a:prstGeom prst="rect">
            <a:avLst/>
          </a:prstGeom>
          <a:noFill/>
        </p:spPr>
        <p:txBody>
          <a:bodyPr wrap="square" rtlCol="0">
            <a:spAutoFit/>
          </a:bodyPr>
          <a:p>
            <a:r>
              <a:rPr lang="en-US" altLang="en-GB" b="1"/>
              <a:t>Confusion Matrix for vgg16</a:t>
            </a:r>
            <a:endParaRPr lang="en-US" altLang="en-GB" b="1"/>
          </a:p>
        </p:txBody>
      </p:sp>
    </p:spTree>
  </p:cSld>
  <p:clrMapOvr>
    <a:masterClrMapping/>
  </p:clrMapOvr>
  <mc:AlternateContent xmlns:mc="http://schemas.openxmlformats.org/markup-compatibility/2006">
    <mc:Choice xmlns:p14="http://schemas.microsoft.com/office/powerpoint/2010/main" Requires="p14">
      <p:transition spd="slow" p14:dur="1000">
        <p:randomBar dir="vert"/>
      </p:transition>
    </mc:Choice>
    <mc:Fallback>
      <p:transition spd="slow">
        <p:randomBar dir="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heel(1)">
                                      <p:cBhvr>
                                        <p:cTn id="7" dur="2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heel(1)">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1" presetClass="entr" presetSubtype="1"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heel(1)">
                                      <p:cBhvr>
                                        <p:cTn id="17" dur="20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40" presetClass="entr" presetSubtype="0" fill="hold" grpId="0" nodeType="clickEffect">
                                  <p:stCondLst>
                                    <p:cond delay="0"/>
                                  </p:stCondLst>
                                  <p:iterate type="lt">
                                    <p:tmPct val="10000"/>
                                  </p:iterate>
                                  <p:childTnLst>
                                    <p:set>
                                      <p:cBhvr>
                                        <p:cTn id="21" dur="1" fill="hold">
                                          <p:stCondLst>
                                            <p:cond delay="0"/>
                                          </p:stCondLst>
                                        </p:cTn>
                                        <p:tgtEl>
                                          <p:spTgt spid="10"/>
                                        </p:tgtEl>
                                        <p:attrNameLst>
                                          <p:attrName>style.visibility</p:attrName>
                                        </p:attrNameLst>
                                      </p:cBhvr>
                                      <p:to>
                                        <p:strVal val="visible"/>
                                      </p:to>
                                    </p:set>
                                    <p:animEffect transition="in" filter="fade">
                                      <p:cBhvr>
                                        <p:cTn id="22" dur="1000"/>
                                        <p:tgtEl>
                                          <p:spTgt spid="10"/>
                                        </p:tgtEl>
                                      </p:cBhvr>
                                    </p:animEffect>
                                    <p:anim calcmode="lin" valueType="num">
                                      <p:cBhvr>
                                        <p:cTn id="23" dur="1000" fill="hold"/>
                                        <p:tgtEl>
                                          <p:spTgt spid="10"/>
                                        </p:tgtEl>
                                        <p:attrNameLst>
                                          <p:attrName>ppt_x</p:attrName>
                                        </p:attrNameLst>
                                      </p:cBhvr>
                                      <p:tavLst>
                                        <p:tav tm="0">
                                          <p:val>
                                            <p:strVal val="#ppt_x-.1"/>
                                          </p:val>
                                        </p:tav>
                                        <p:tav tm="100000">
                                          <p:val>
                                            <p:strVal val="#ppt_x"/>
                                          </p:val>
                                        </p:tav>
                                      </p:tavLst>
                                    </p:anim>
                                    <p:anim calcmode="lin" valueType="num">
                                      <p:cBhvr>
                                        <p:cTn id="24" dur="10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2" presetClass="entr" presetSubtype="4" fill="hold" nodeType="clickEffect">
                                  <p:stCondLst>
                                    <p:cond delay="0"/>
                                  </p:stCondLst>
                                  <p:childTnLst>
                                    <p:set>
                                      <p:cBhvr>
                                        <p:cTn id="28" dur="1" fill="hold">
                                          <p:stCondLst>
                                            <p:cond delay="0"/>
                                          </p:stCondLst>
                                        </p:cTn>
                                        <p:tgtEl>
                                          <p:spTgt spid="6"/>
                                        </p:tgtEl>
                                        <p:attrNameLst>
                                          <p:attrName>style.visibility</p:attrName>
                                        </p:attrNameLst>
                                      </p:cBhvr>
                                      <p:to>
                                        <p:strVal val="visible"/>
                                      </p:to>
                                    </p:set>
                                    <p:anim calcmode="lin" valueType="num">
                                      <p:cBhvr additive="base">
                                        <p:cTn id="29" dur="500"/>
                                        <p:tgtEl>
                                          <p:spTgt spid="6"/>
                                        </p:tgtEl>
                                        <p:attrNameLst>
                                          <p:attrName>ppt_y</p:attrName>
                                        </p:attrNameLst>
                                      </p:cBhvr>
                                      <p:tavLst>
                                        <p:tav tm="0">
                                          <p:val>
                                            <p:strVal val="#ppt_y+#ppt_h*1.125000"/>
                                          </p:val>
                                        </p:tav>
                                        <p:tav tm="100000">
                                          <p:val>
                                            <p:strVal val="#ppt_y"/>
                                          </p:val>
                                        </p:tav>
                                      </p:tavLst>
                                    </p:anim>
                                    <p:animEffect transition="in" filter="wipe(up)">
                                      <p:cBhvr>
                                        <p:cTn id="30" dur="500"/>
                                        <p:tgtEl>
                                          <p:spTgt spid="6"/>
                                        </p:tgtEl>
                                      </p:cBhvr>
                                    </p:animEffect>
                                  </p:childTnLst>
                                </p:cTn>
                              </p:par>
                            </p:childTnLst>
                          </p:cTn>
                        </p:par>
                      </p:childTnLst>
                    </p:cTn>
                  </p:par>
                  <p:par>
                    <p:cTn id="31" fill="hold">
                      <p:stCondLst>
                        <p:cond delay="indefinite"/>
                      </p:stCondLst>
                      <p:childTnLst>
                        <p:par>
                          <p:cTn id="32" fill="hold">
                            <p:stCondLst>
                              <p:cond delay="0"/>
                            </p:stCondLst>
                            <p:childTnLst>
                              <p:par>
                                <p:cTn id="33" presetID="12" presetClass="entr" presetSubtype="4"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500"/>
                                        <p:tgtEl>
                                          <p:spTgt spid="17"/>
                                        </p:tgtEl>
                                        <p:attrNameLst>
                                          <p:attrName>ppt_y</p:attrName>
                                        </p:attrNameLst>
                                      </p:cBhvr>
                                      <p:tavLst>
                                        <p:tav tm="0">
                                          <p:val>
                                            <p:strVal val="#ppt_y+#ppt_h*1.125000"/>
                                          </p:val>
                                        </p:tav>
                                        <p:tav tm="100000">
                                          <p:val>
                                            <p:strVal val="#ppt_y"/>
                                          </p:val>
                                        </p:tav>
                                      </p:tavLst>
                                    </p:anim>
                                    <p:animEffect transition="in" filter="wipe(up)">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40" presetClass="entr" presetSubtype="0" fill="hold" grpId="0" nodeType="clickEffect">
                                  <p:stCondLst>
                                    <p:cond delay="0"/>
                                  </p:stCondLst>
                                  <p:iterate type="lt">
                                    <p:tmPct val="10000"/>
                                  </p:iterate>
                                  <p:childTnLst>
                                    <p:set>
                                      <p:cBhvr>
                                        <p:cTn id="40" dur="1" fill="hold">
                                          <p:stCondLst>
                                            <p:cond delay="0"/>
                                          </p:stCondLst>
                                        </p:cTn>
                                        <p:tgtEl>
                                          <p:spTgt spid="11"/>
                                        </p:tgtEl>
                                        <p:attrNameLst>
                                          <p:attrName>style.visibility</p:attrName>
                                        </p:attrNameLst>
                                      </p:cBhvr>
                                      <p:to>
                                        <p:strVal val="visible"/>
                                      </p:to>
                                    </p:set>
                                    <p:animEffect transition="in" filter="fade">
                                      <p:cBhvr>
                                        <p:cTn id="41" dur="1000"/>
                                        <p:tgtEl>
                                          <p:spTgt spid="11"/>
                                        </p:tgtEl>
                                      </p:cBhvr>
                                    </p:animEffect>
                                    <p:anim calcmode="lin" valueType="num">
                                      <p:cBhvr>
                                        <p:cTn id="42" dur="1000" fill="hold"/>
                                        <p:tgtEl>
                                          <p:spTgt spid="11"/>
                                        </p:tgtEl>
                                        <p:attrNameLst>
                                          <p:attrName>ppt_x</p:attrName>
                                        </p:attrNameLst>
                                      </p:cBhvr>
                                      <p:tavLst>
                                        <p:tav tm="0">
                                          <p:val>
                                            <p:strVal val="#ppt_x-.1"/>
                                          </p:val>
                                        </p:tav>
                                        <p:tav tm="100000">
                                          <p:val>
                                            <p:strVal val="#ppt_x"/>
                                          </p:val>
                                        </p:tav>
                                      </p:tavLst>
                                    </p:anim>
                                    <p:anim calcmode="lin" valueType="num">
                                      <p:cBhvr>
                                        <p:cTn id="43" dur="10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7" presetClass="entr" presetSubtype="0"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1000"/>
                                        <p:tgtEl>
                                          <p:spTgt spid="12"/>
                                        </p:tgtEl>
                                      </p:cBhvr>
                                    </p:animEffect>
                                    <p:anim calcmode="lin" valueType="num">
                                      <p:cBhvr>
                                        <p:cTn id="49" dur="1000" fill="hold"/>
                                        <p:tgtEl>
                                          <p:spTgt spid="12"/>
                                        </p:tgtEl>
                                        <p:attrNameLst>
                                          <p:attrName>ppt_x</p:attrName>
                                        </p:attrNameLst>
                                      </p:cBhvr>
                                      <p:tavLst>
                                        <p:tav tm="0">
                                          <p:val>
                                            <p:strVal val="#ppt_x"/>
                                          </p:val>
                                        </p:tav>
                                        <p:tav tm="100000">
                                          <p:val>
                                            <p:strVal val="#ppt_x"/>
                                          </p:val>
                                        </p:tav>
                                      </p:tavLst>
                                    </p:anim>
                                    <p:anim calcmode="lin" valueType="num">
                                      <p:cBhvr>
                                        <p:cTn id="50"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9" presetClass="entr" presetSubtype="0" fill="hold" nodeType="clickEffect">
                                  <p:stCondLst>
                                    <p:cond delay="0"/>
                                  </p:stCondLst>
                                  <p:childTnLst>
                                    <p:set>
                                      <p:cBhvr>
                                        <p:cTn id="54" dur="1" fill="hold">
                                          <p:stCondLst>
                                            <p:cond delay="0"/>
                                          </p:stCondLst>
                                        </p:cTn>
                                        <p:tgtEl>
                                          <p:spTgt spid="7"/>
                                        </p:tgtEl>
                                        <p:attrNameLst>
                                          <p:attrName>style.visibility</p:attrName>
                                        </p:attrNameLst>
                                      </p:cBhvr>
                                      <p:to>
                                        <p:strVal val="visible"/>
                                      </p:to>
                                    </p:set>
                                    <p:animEffect transition="in" filter="dissolve">
                                      <p:cBhvr>
                                        <p:cTn id="55" dur="500"/>
                                        <p:tgtEl>
                                          <p:spTgt spid="7"/>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ntr" presetSubtype="0" fill="hold" grpId="0" nodeType="click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dissolve">
                                      <p:cBhvr>
                                        <p:cTn id="60" dur="500"/>
                                        <p:tgtEl>
                                          <p:spTgt spid="18"/>
                                        </p:tgtEl>
                                      </p:cBhvr>
                                    </p:animEffect>
                                  </p:childTnLst>
                                </p:cTn>
                              </p:par>
                            </p:childTnLst>
                          </p:cTn>
                        </p:par>
                      </p:childTnLst>
                    </p:cTn>
                  </p:par>
                  <p:par>
                    <p:cTn id="61" fill="hold">
                      <p:stCondLst>
                        <p:cond delay="indefinite"/>
                      </p:stCondLst>
                      <p:childTnLst>
                        <p:par>
                          <p:cTn id="62" fill="hold">
                            <p:stCondLst>
                              <p:cond delay="0"/>
                            </p:stCondLst>
                            <p:childTnLst>
                              <p:par>
                                <p:cTn id="63" presetID="47" presetClass="entr" presetSubtype="0" fill="hold" grpId="0" nodeType="click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1000"/>
                                        <p:tgtEl>
                                          <p:spTgt spid="13"/>
                                        </p:tgtEl>
                                      </p:cBhvr>
                                    </p:animEffect>
                                    <p:anim calcmode="lin" valueType="num">
                                      <p:cBhvr>
                                        <p:cTn id="66" dur="1000" fill="hold"/>
                                        <p:tgtEl>
                                          <p:spTgt spid="13"/>
                                        </p:tgtEl>
                                        <p:attrNameLst>
                                          <p:attrName>ppt_x</p:attrName>
                                        </p:attrNameLst>
                                      </p:cBhvr>
                                      <p:tavLst>
                                        <p:tav tm="0">
                                          <p:val>
                                            <p:strVal val="#ppt_x"/>
                                          </p:val>
                                        </p:tav>
                                        <p:tav tm="100000">
                                          <p:val>
                                            <p:strVal val="#ppt_x"/>
                                          </p:val>
                                        </p:tav>
                                      </p:tavLst>
                                    </p:anim>
                                    <p:anim calcmode="lin" valueType="num">
                                      <p:cBhvr>
                                        <p:cTn id="67"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41" presetClass="entr" presetSubtype="0" fill="hold" grpId="0" nodeType="clickEffect">
                                  <p:stCondLst>
                                    <p:cond delay="0"/>
                                  </p:stCondLst>
                                  <p:iterate type="lt">
                                    <p:tmPct val="10000"/>
                                  </p:iterate>
                                  <p:childTnLst>
                                    <p:set>
                                      <p:cBhvr>
                                        <p:cTn id="71" dur="1" fill="hold">
                                          <p:stCondLst>
                                            <p:cond delay="0"/>
                                          </p:stCondLst>
                                        </p:cTn>
                                        <p:tgtEl>
                                          <p:spTgt spid="14"/>
                                        </p:tgtEl>
                                        <p:attrNameLst>
                                          <p:attrName>style.visibility</p:attrName>
                                        </p:attrNameLst>
                                      </p:cBhvr>
                                      <p:to>
                                        <p:strVal val="visible"/>
                                      </p:to>
                                    </p:set>
                                    <p:anim calcmode="lin" valueType="num">
                                      <p:cBhvr>
                                        <p:cTn id="72" dur="500" fill="hold"/>
                                        <p:tgtEl>
                                          <p:spTgt spid="14"/>
                                        </p:tgtEl>
                                        <p:attrNameLst>
                                          <p:attrName>ppt_x</p:attrName>
                                        </p:attrNameLst>
                                      </p:cBhvr>
                                      <p:tavLst>
                                        <p:tav tm="0">
                                          <p:val>
                                            <p:strVal val="#ppt_x"/>
                                          </p:val>
                                        </p:tav>
                                        <p:tav tm="50000">
                                          <p:val>
                                            <p:strVal val="#ppt_x+.1"/>
                                          </p:val>
                                        </p:tav>
                                        <p:tav tm="100000">
                                          <p:val>
                                            <p:strVal val="#ppt_x"/>
                                          </p:val>
                                        </p:tav>
                                      </p:tavLst>
                                    </p:anim>
                                    <p:anim calcmode="lin" valueType="num">
                                      <p:cBhvr>
                                        <p:cTn id="73" dur="500" fill="hold"/>
                                        <p:tgtEl>
                                          <p:spTgt spid="14"/>
                                        </p:tgtEl>
                                        <p:attrNameLst>
                                          <p:attrName>ppt_y</p:attrName>
                                        </p:attrNameLst>
                                      </p:cBhvr>
                                      <p:tavLst>
                                        <p:tav tm="0">
                                          <p:val>
                                            <p:strVal val="#ppt_y"/>
                                          </p:val>
                                        </p:tav>
                                        <p:tav tm="100000">
                                          <p:val>
                                            <p:strVal val="#ppt_y"/>
                                          </p:val>
                                        </p:tav>
                                      </p:tavLst>
                                    </p:anim>
                                    <p:anim calcmode="lin" valueType="num">
                                      <p:cBhvr>
                                        <p:cTn id="74" dur="500" fill="hold"/>
                                        <p:tgtEl>
                                          <p:spTgt spid="14"/>
                                        </p:tgtEl>
                                        <p:attrNameLst>
                                          <p:attrName>ppt_h</p:attrName>
                                        </p:attrNameLst>
                                      </p:cBhvr>
                                      <p:tavLst>
                                        <p:tav tm="0">
                                          <p:val>
                                            <p:strVal val="#ppt_h/10"/>
                                          </p:val>
                                        </p:tav>
                                        <p:tav tm="50000">
                                          <p:val>
                                            <p:strVal val="#ppt_h+.01"/>
                                          </p:val>
                                        </p:tav>
                                        <p:tav tm="100000">
                                          <p:val>
                                            <p:strVal val="#ppt_h"/>
                                          </p:val>
                                        </p:tav>
                                      </p:tavLst>
                                    </p:anim>
                                    <p:anim calcmode="lin" valueType="num">
                                      <p:cBhvr>
                                        <p:cTn id="75" dur="500" fill="hold"/>
                                        <p:tgtEl>
                                          <p:spTgt spid="14"/>
                                        </p:tgtEl>
                                        <p:attrNameLst>
                                          <p:attrName>ppt_w</p:attrName>
                                        </p:attrNameLst>
                                      </p:cBhvr>
                                      <p:tavLst>
                                        <p:tav tm="0">
                                          <p:val>
                                            <p:strVal val="#ppt_w/10"/>
                                          </p:val>
                                        </p:tav>
                                        <p:tav tm="50000">
                                          <p:val>
                                            <p:strVal val="#ppt_w+.01"/>
                                          </p:val>
                                        </p:tav>
                                        <p:tav tm="100000">
                                          <p:val>
                                            <p:strVal val="#ppt_w"/>
                                          </p:val>
                                        </p:tav>
                                      </p:tavLst>
                                    </p:anim>
                                    <p:animEffect transition="in" filter="fade">
                                      <p:cBhvr>
                                        <p:cTn id="76" dur="500" tmFilter="0,0; .5, 1; 1, 1"/>
                                        <p:tgtEl>
                                          <p:spTgt spid="14"/>
                                        </p:tgtEl>
                                      </p:cBhvr>
                                    </p:animEffec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8"/>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41" presetClass="entr" presetSubtype="0" fill="hold" grpId="0" nodeType="clickEffect">
                                  <p:stCondLst>
                                    <p:cond delay="0"/>
                                  </p:stCondLst>
                                  <p:iterate type="lt">
                                    <p:tmPct val="10000"/>
                                  </p:iterate>
                                  <p:childTnLst>
                                    <p:set>
                                      <p:cBhvr>
                                        <p:cTn id="88" dur="1" fill="hold">
                                          <p:stCondLst>
                                            <p:cond delay="0"/>
                                          </p:stCondLst>
                                        </p:cTn>
                                        <p:tgtEl>
                                          <p:spTgt spid="15"/>
                                        </p:tgtEl>
                                        <p:attrNameLst>
                                          <p:attrName>style.visibility</p:attrName>
                                        </p:attrNameLst>
                                      </p:cBhvr>
                                      <p:to>
                                        <p:strVal val="visible"/>
                                      </p:to>
                                    </p:set>
                                    <p:anim calcmode="lin" valueType="num">
                                      <p:cBhvr>
                                        <p:cTn id="89" dur="500" fill="hold"/>
                                        <p:tgtEl>
                                          <p:spTgt spid="15"/>
                                        </p:tgtEl>
                                        <p:attrNameLst>
                                          <p:attrName>ppt_x</p:attrName>
                                        </p:attrNameLst>
                                      </p:cBhvr>
                                      <p:tavLst>
                                        <p:tav tm="0">
                                          <p:val>
                                            <p:strVal val="#ppt_x"/>
                                          </p:val>
                                        </p:tav>
                                        <p:tav tm="50000">
                                          <p:val>
                                            <p:strVal val="#ppt_x+.1"/>
                                          </p:val>
                                        </p:tav>
                                        <p:tav tm="100000">
                                          <p:val>
                                            <p:strVal val="#ppt_x"/>
                                          </p:val>
                                        </p:tav>
                                      </p:tavLst>
                                    </p:anim>
                                    <p:anim calcmode="lin" valueType="num">
                                      <p:cBhvr>
                                        <p:cTn id="90" dur="500" fill="hold"/>
                                        <p:tgtEl>
                                          <p:spTgt spid="15"/>
                                        </p:tgtEl>
                                        <p:attrNameLst>
                                          <p:attrName>ppt_y</p:attrName>
                                        </p:attrNameLst>
                                      </p:cBhvr>
                                      <p:tavLst>
                                        <p:tav tm="0">
                                          <p:val>
                                            <p:strVal val="#ppt_y"/>
                                          </p:val>
                                        </p:tav>
                                        <p:tav tm="100000">
                                          <p:val>
                                            <p:strVal val="#ppt_y"/>
                                          </p:val>
                                        </p:tav>
                                      </p:tavLst>
                                    </p:anim>
                                    <p:anim calcmode="lin" valueType="num">
                                      <p:cBhvr>
                                        <p:cTn id="91" dur="500" fill="hold"/>
                                        <p:tgtEl>
                                          <p:spTgt spid="15"/>
                                        </p:tgtEl>
                                        <p:attrNameLst>
                                          <p:attrName>ppt_h</p:attrName>
                                        </p:attrNameLst>
                                      </p:cBhvr>
                                      <p:tavLst>
                                        <p:tav tm="0">
                                          <p:val>
                                            <p:strVal val="#ppt_h/10"/>
                                          </p:val>
                                        </p:tav>
                                        <p:tav tm="50000">
                                          <p:val>
                                            <p:strVal val="#ppt_h+.01"/>
                                          </p:val>
                                        </p:tav>
                                        <p:tav tm="100000">
                                          <p:val>
                                            <p:strVal val="#ppt_h"/>
                                          </p:val>
                                        </p:tav>
                                      </p:tavLst>
                                    </p:anim>
                                    <p:anim calcmode="lin" valueType="num">
                                      <p:cBhvr>
                                        <p:cTn id="92" dur="500" fill="hold"/>
                                        <p:tgtEl>
                                          <p:spTgt spid="15"/>
                                        </p:tgtEl>
                                        <p:attrNameLst>
                                          <p:attrName>ppt_w</p:attrName>
                                        </p:attrNameLst>
                                      </p:cBhvr>
                                      <p:tavLst>
                                        <p:tav tm="0">
                                          <p:val>
                                            <p:strVal val="#ppt_w/10"/>
                                          </p:val>
                                        </p:tav>
                                        <p:tav tm="50000">
                                          <p:val>
                                            <p:strVal val="#ppt_w+.01"/>
                                          </p:val>
                                        </p:tav>
                                        <p:tav tm="100000">
                                          <p:val>
                                            <p:strVal val="#ppt_w"/>
                                          </p:val>
                                        </p:tav>
                                      </p:tavLst>
                                    </p:anim>
                                    <p:animEffect transition="in" filter="fade">
                                      <p:cBhvr>
                                        <p:cTn id="93" dur="500" tmFilter="0,0; .5, 1; 1, 1"/>
                                        <p:tgtEl>
                                          <p:spTgt spid="15"/>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4" fill="hold" nodeType="clickEffect">
                                  <p:stCondLst>
                                    <p:cond delay="0"/>
                                  </p:stCondLst>
                                  <p:childTnLst>
                                    <p:set>
                                      <p:cBhvr>
                                        <p:cTn id="97" dur="1" fill="hold">
                                          <p:stCondLst>
                                            <p:cond delay="0"/>
                                          </p:stCondLst>
                                        </p:cTn>
                                        <p:tgtEl>
                                          <p:spTgt spid="9"/>
                                        </p:tgtEl>
                                        <p:attrNameLst>
                                          <p:attrName>style.visibility</p:attrName>
                                        </p:attrNameLst>
                                      </p:cBhvr>
                                      <p:to>
                                        <p:strVal val="visible"/>
                                      </p:to>
                                    </p:set>
                                    <p:animEffect transition="in" filter="wipe(down)">
                                      <p:cBhvr>
                                        <p:cTn id="98" dur="500"/>
                                        <p:tgtEl>
                                          <p:spTgt spid="9"/>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4"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down)">
                                      <p:cBhvr>
                                        <p:cTn id="10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16" grpId="0"/>
      <p:bldP spid="16" grpId="1"/>
      <p:bldP spid="10" grpId="0"/>
      <p:bldP spid="10" grpId="1"/>
      <p:bldP spid="17" grpId="0"/>
      <p:bldP spid="17" grpId="1"/>
      <p:bldP spid="11" grpId="0"/>
      <p:bldP spid="11" grpId="1"/>
      <p:bldP spid="12" grpId="0"/>
      <p:bldP spid="12" grpId="1"/>
      <p:bldP spid="18" grpId="0"/>
      <p:bldP spid="18" grpId="1"/>
      <p:bldP spid="13" grpId="0"/>
      <p:bldP spid="13" grpId="1"/>
      <p:bldP spid="14" grpId="0"/>
      <p:bldP spid="14" grpId="1"/>
      <p:bldP spid="19" grpId="0"/>
      <p:bldP spid="19" grpId="1"/>
      <p:bldP spid="15" grpId="0"/>
      <p:bldP spid="15" grpId="1"/>
      <p:bldP spid="20" grpId="0"/>
      <p:bldP spid="2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635"/>
            <a:ext cx="2164080" cy="702310"/>
          </a:xfrm>
        </p:spPr>
        <p:txBody>
          <a:bodyPr/>
          <a:p>
            <a:r>
              <a:rPr lang="en-US" altLang="en-GB" sz="3200" b="1">
                <a:latin typeface="Bodoni MT" panose="02070603080606020203" charset="0"/>
                <a:cs typeface="Bodoni MT" panose="02070603080606020203" charset="0"/>
              </a:rPr>
              <a:t>Conclusion</a:t>
            </a:r>
            <a:endParaRPr lang="en-US" altLang="en-GB" sz="3200" b="1">
              <a:latin typeface="Bodoni MT" panose="02070603080606020203" charset="0"/>
              <a:cs typeface="Bodoni MT" panose="02070603080606020203" charset="0"/>
            </a:endParaRPr>
          </a:p>
        </p:txBody>
      </p:sp>
      <p:sp>
        <p:nvSpPr>
          <p:cNvPr id="3" name="Content Placeholder 2"/>
          <p:cNvSpPr>
            <a:spLocks noGrp="1"/>
          </p:cNvSpPr>
          <p:nvPr>
            <p:ph sz="half" idx="1"/>
          </p:nvPr>
        </p:nvSpPr>
        <p:spPr>
          <a:xfrm>
            <a:off x="635" y="701675"/>
            <a:ext cx="12191365" cy="4484370"/>
          </a:xfrm>
        </p:spPr>
        <p:txBody>
          <a:bodyPr>
            <a:normAutofit/>
          </a:bodyPr>
          <a:p>
            <a:pPr marL="0" indent="0">
              <a:buNone/>
            </a:pPr>
            <a:r>
              <a:rPr lang="en-US" altLang="en-GB" sz="2000"/>
              <a:t>This project successfully implemented and evaluated </a:t>
            </a:r>
            <a:r>
              <a:rPr lang="en-US" altLang="en-GB" sz="2000" b="1"/>
              <a:t>multiple deep learning architectures for lung disease classification from CT images.</a:t>
            </a:r>
            <a:r>
              <a:rPr lang="en-US" altLang="en-GB" sz="2000"/>
              <a:t> </a:t>
            </a:r>
            <a:r>
              <a:rPr lang="en-US" altLang="en-GB" sz="2000" b="1"/>
              <a:t>Vision Transformer (ViT)</a:t>
            </a:r>
            <a:r>
              <a:rPr lang="en-US" altLang="en-GB" sz="2000"/>
              <a:t> models </a:t>
            </a:r>
            <a:r>
              <a:rPr lang="en-US" altLang="en-GB" sz="2000" b="1"/>
              <a:t>outperformed traditional CNNs</a:t>
            </a:r>
            <a:r>
              <a:rPr lang="en-US" altLang="en-GB" sz="2000"/>
              <a:t> by </a:t>
            </a:r>
            <a:r>
              <a:rPr lang="en-US" altLang="en-GB" sz="2000" b="1"/>
              <a:t>capturing global contextual features effectively.</a:t>
            </a:r>
            <a:r>
              <a:rPr lang="en-US" altLang="en-GB" sz="2000"/>
              <a:t> Among the CNNs, </a:t>
            </a:r>
            <a:r>
              <a:rPr lang="en-US" altLang="en-GB" sz="2000" b="1"/>
              <a:t>EfficientNet-B0 achieved the best accuracy–efficiency trade-off, followed by ResNet50 with strong overall consistency.</a:t>
            </a:r>
            <a:r>
              <a:rPr lang="en-US" altLang="en-GB" sz="2000"/>
              <a:t> </a:t>
            </a:r>
            <a:r>
              <a:rPr lang="en-US" altLang="en-GB" sz="2000" b="1"/>
              <a:t>DenseNet121 provided competitive results with minimal parameters, showing strong feature reuse.</a:t>
            </a:r>
            <a:r>
              <a:rPr lang="en-US" altLang="en-GB" sz="2000"/>
              <a:t> </a:t>
            </a:r>
            <a:r>
              <a:rPr lang="en-US" altLang="en-GB" sz="2000" b="1"/>
              <a:t>VGG16, though accurate, was computationally heavy and prone to overfitting.</a:t>
            </a:r>
            <a:r>
              <a:rPr lang="en-US" altLang="en-GB" sz="2000"/>
              <a:t> </a:t>
            </a:r>
            <a:r>
              <a:rPr lang="en-US" altLang="en-GB" sz="2000" b="1"/>
              <a:t>K-Fold Cross-Validation enhanced robustness and reliability of model evaluation.</a:t>
            </a:r>
            <a:r>
              <a:rPr lang="en-US" altLang="en-GB" sz="2000"/>
              <a:t> </a:t>
            </a:r>
            <a:r>
              <a:rPr lang="en-US" altLang="en-GB" sz="2000" b="1"/>
              <a:t>Early stopping and regularization</a:t>
            </a:r>
            <a:r>
              <a:rPr lang="en-US" altLang="en-GB" sz="2000"/>
              <a:t> prevented </a:t>
            </a:r>
            <a:r>
              <a:rPr lang="en-US" altLang="en-GB" sz="2000" b="1"/>
              <a:t>overfitting, improving generalization.</a:t>
            </a:r>
            <a:r>
              <a:rPr lang="en-US" altLang="en-GB" sz="2000"/>
              <a:t> Performance was evaluated using </a:t>
            </a:r>
            <a:r>
              <a:rPr lang="en-US" altLang="en-GB" sz="2000" b="1"/>
              <a:t>Accuracy, Precision, Recall, F1-Score, and Confusion Matrices </a:t>
            </a:r>
            <a:r>
              <a:rPr lang="en-US" altLang="en-GB" sz="2000"/>
              <a:t>for all models. </a:t>
            </a:r>
            <a:r>
              <a:rPr lang="en-US" altLang="en-GB" sz="2000" b="1"/>
              <a:t>ViT achieved the highest validation accuracy, demonstrating the effectiveness of transformer-based architectures</a:t>
            </a:r>
            <a:r>
              <a:rPr lang="en-US" altLang="en-GB" sz="2000"/>
              <a:t> for medical imaging. Results confirm that </a:t>
            </a:r>
            <a:r>
              <a:rPr lang="en-US" altLang="en-GB" sz="2000" b="1"/>
              <a:t>transformer-based models can assist radiologists in accurate early detection of lung cancer.</a:t>
            </a:r>
            <a:r>
              <a:rPr lang="en-US" altLang="en-GB" sz="2000"/>
              <a:t> Comparative analysis provides </a:t>
            </a:r>
            <a:r>
              <a:rPr lang="en-US" altLang="en-GB" sz="2000" b="1"/>
              <a:t>a benchmark for future research integrating CNN and ViT architectures.</a:t>
            </a:r>
            <a:r>
              <a:rPr lang="en-US" altLang="en-GB" sz="2000"/>
              <a:t> </a:t>
            </a:r>
            <a:r>
              <a:rPr lang="en-US" altLang="en-GB" sz="2000" b="1"/>
              <a:t>Future work includes hyperparameter optimization, data augmentation, and transfer learning on larger datasets.</a:t>
            </a:r>
            <a:endParaRPr lang="en-US" altLang="en-GB" sz="2000"/>
          </a:p>
          <a:p>
            <a:pPr marL="0" indent="0">
              <a:buNone/>
            </a:pPr>
            <a:r>
              <a:rPr lang="en-US" altLang="en-GB" sz="2000"/>
              <a:t>In other words, </a:t>
            </a:r>
            <a:r>
              <a:rPr lang="en-US" altLang="en-GB" sz="2000" b="1"/>
              <a:t>Vision Transformers demonstrate superior accuracy and adaptability for medical image classification, marking a step forward in AI-assisted healthcare.</a:t>
            </a:r>
            <a:endParaRPr lang="en-US" altLang="en-GB" sz="2000" b="1"/>
          </a:p>
        </p:txBody>
      </p:sp>
    </p:spTree>
  </p:cSld>
  <p:clrMapOvr>
    <a:masterClrMapping/>
  </p:clrMapOvr>
  <mc:AlternateContent xmlns:mc="http://schemas.openxmlformats.org/markup-compatibility/2006">
    <mc:Choice xmlns:p14="http://schemas.microsoft.com/office/powerpoint/2010/main" Requires="p14">
      <p:transition spd="slow" p14:dur="1200">
        <p:dissolve/>
      </p:transition>
    </mc:Choice>
    <mc:Fallback>
      <p:transition spd="slow">
        <p:dissolv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strVal val="#ppt_w*0.70"/>
                                          </p:val>
                                        </p:tav>
                                        <p:tav tm="100000">
                                          <p:val>
                                            <p:strVal val="#ppt_w"/>
                                          </p:val>
                                        </p:tav>
                                      </p:tavLst>
                                    </p:anim>
                                    <p:anim calcmode="lin" valueType="num">
                                      <p:cBhvr>
                                        <p:cTn id="8" dur="1000" fill="hold"/>
                                        <p:tgtEl>
                                          <p:spTgt spid="2"/>
                                        </p:tgtEl>
                                        <p:attrNameLst>
                                          <p:attrName>ppt_h</p:attrName>
                                        </p:attrNameLst>
                                      </p:cBhvr>
                                      <p:tavLst>
                                        <p:tav tm="0">
                                          <p:val>
                                            <p:strVal val="#ppt_h"/>
                                          </p:val>
                                        </p:tav>
                                        <p:tav tm="100000">
                                          <p:val>
                                            <p:strVal val="#ppt_h"/>
                                          </p:val>
                                        </p:tav>
                                      </p:tavLst>
                                    </p:anim>
                                    <p:animEffect transition="in" filter="fade">
                                      <p:cBhvr>
                                        <p:cTn id="9" dur="1000"/>
                                        <p:tgtEl>
                                          <p:spTgt spid="2"/>
                                        </p:tgtEl>
                                      </p:cBhvr>
                                    </p:animEffect>
                                  </p:childTnLst>
                                </p:cTn>
                              </p:par>
                            </p:childTnLst>
                          </p:cTn>
                        </p:par>
                      </p:childTnLst>
                    </p:cTn>
                  </p:par>
                  <p:par>
                    <p:cTn id="10" fill="hold">
                      <p:stCondLst>
                        <p:cond delay="indefinite"/>
                      </p:stCondLst>
                      <p:childTnLst>
                        <p:par>
                          <p:cTn id="11" fill="hold">
                            <p:stCondLst>
                              <p:cond delay="0"/>
                            </p:stCondLst>
                            <p:childTnLst>
                              <p:par>
                                <p:cTn id="12" presetID="3" presetClass="entr" presetSubtype="10" fill="hold" grpId="0" nodeType="clickEffect">
                                  <p:stCondLst>
                                    <p:cond delay="0"/>
                                  </p:stCondLst>
                                  <p:childTnLst>
                                    <p:set>
                                      <p:cBhvr>
                                        <p:cTn id="13" dur="1" fill="hold">
                                          <p:stCondLst>
                                            <p:cond delay="0"/>
                                          </p:stCondLst>
                                        </p:cTn>
                                        <p:tgtEl>
                                          <p:spTgt spid="3">
                                            <p:txEl>
                                              <p:pRg st="0" end="0"/>
                                            </p:txEl>
                                          </p:spTgt>
                                        </p:tgtEl>
                                        <p:attrNameLst>
                                          <p:attrName>style.visibility</p:attrName>
                                        </p:attrNameLst>
                                      </p:cBhvr>
                                      <p:to>
                                        <p:strVal val="visible"/>
                                      </p:to>
                                    </p:set>
                                    <p:animEffect transition="in" filter="blinds(horizontal)">
                                      <p:cBhvr>
                                        <p:cTn id="14" dur="500"/>
                                        <p:tgtEl>
                                          <p:spTgt spid="3">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Effect transition="in" filter="blinds(horizontal)">
                                      <p:cBhvr>
                                        <p:cTn id="19"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build="p"/>
      <p:bldP spid="3" grpI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0515600" cy="6053455"/>
          </a:xfrm>
        </p:spPr>
        <p:txBody>
          <a:bodyPr/>
          <a:p>
            <a:pPr algn="ctr"/>
            <a:r>
              <a:rPr lang="en-US" altLang="en-GB" sz="6000" b="1" i="1">
                <a:latin typeface="Engravers MT" panose="02090707080505020304" charset="0"/>
                <a:cs typeface="Engravers MT" panose="02090707080505020304" charset="0"/>
              </a:rPr>
              <a:t>THANK YOU</a:t>
            </a:r>
            <a:endParaRPr lang="en-US" altLang="en-GB" sz="6000" b="1" i="1">
              <a:latin typeface="Engravers MT" panose="02090707080505020304" charset="0"/>
              <a:cs typeface="Engravers MT" panose="02090707080505020304" charset="0"/>
            </a:endParaRPr>
          </a:p>
        </p:txBody>
      </p:sp>
    </p:spTree>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sld>
</file>

<file path=ppt/tags/tag1.xml><?xml version="1.0" encoding="utf-8"?>
<p:tagLst xmlns:p="http://schemas.openxmlformats.org/presentationml/2006/main">
  <p:tag name="KSO_WM_UNIT_DIAGRAM_MODELTYPE" val="dynamicNum"/>
  <p:tag name="KSO_WM_BEAUTIFY_FLAG" val="#wm#"/>
  <p:tag name="KSO_WM_UNIT_TYPE" val="ζ_h_f"/>
  <p:tag name="KSO_WM_UNIT_DYNMNUM_TYPE" val="1"/>
  <p:tag name="KSO_WM_DYNAMICNUM_SPEED" val="3"/>
  <p:tag name="KSO_WM_UNIT_DYNMNUM_DGM_ANIMTYPE" val="5"/>
  <p:tag name="KSO_WM_UNIT_INDEX" val="1761506241942_1_1"/>
</p:tagLst>
</file>

<file path=ppt/tags/tag2.xml><?xml version="1.0" encoding="utf-8"?>
<p:tagLst xmlns:p="http://schemas.openxmlformats.org/presentationml/2006/main">
  <p:tag name="TABLE_ENDDRAG_ORIGIN_RECT" val="916*396"/>
  <p:tag name="TABLE_ENDDRAG_RECT" val="26*113*916*39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8266</Words>
  <Application>WPS Presentation</Application>
  <PresentationFormat>Widescreen</PresentationFormat>
  <Paragraphs>268</Paragraphs>
  <Slides>15</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15</vt:i4>
      </vt:variant>
    </vt:vector>
  </HeadingPairs>
  <TitlesOfParts>
    <vt:vector size="26" baseType="lpstr">
      <vt:lpstr>Arial</vt:lpstr>
      <vt:lpstr>SimSun</vt:lpstr>
      <vt:lpstr>Wingdings</vt:lpstr>
      <vt:lpstr>Bodoni MT</vt:lpstr>
      <vt:lpstr>Calisto MT</vt:lpstr>
      <vt:lpstr>Engravers MT</vt:lpstr>
      <vt:lpstr>Calibri</vt:lpstr>
      <vt:lpstr>Microsoft YaHei</vt:lpstr>
      <vt:lpstr>Arial Unicode MS</vt:lpstr>
      <vt:lpstr>Calibri Light</vt:lpstr>
      <vt:lpstr>Office Theme</vt:lpstr>
      <vt:lpstr>CT-ViT Transformer Classification</vt:lpstr>
      <vt:lpstr>Description of the Dataset</vt:lpstr>
      <vt:lpstr>Description of the Model</vt:lpstr>
      <vt:lpstr>ViT Models Description</vt:lpstr>
      <vt:lpstr>We loaded a fine-tuned Vision Transformer (ViT) model to classify lung CT images into four categories. Validation images were preprocessed using ViTFeatureExtractor, and predictions were generated on the validation set. The results were used to compute and print detailed evaluation metrics for performance assessment.</vt:lpstr>
      <vt:lpstr>This code fine-tunes a pretrained ViT model to classify lung CT images into four categories using ViTImageProcessor for preprocessing. Training includes early stopping and saving the best weights. After training, the model is evaluated using accuracy, classification report, and confusion matrix, with all results saved for analysis.</vt:lpstr>
      <vt:lpstr>PowerPoint 演示文稿</vt:lpstr>
      <vt:lpstr>This code fine-tunes a pretrained ViT to classify lung images using K-Fold cross-validation, training the model on each fold and evaluating it on the corresponding validation subset. Fold-wise metrics (accuracy, precision, recall, F1-score) are computed, averaged across all folds, and saved for robust performance assessment.</vt:lpstr>
      <vt:lpstr>This Python script trains and evaluates six deep learning models — VGG16, ResNet50, DenseNet121, EfficientNet-B0, ViT, and Swin Transformer — on a 4-class image classification dataset. It performs training, validation, early stopping, and saves performance reports, accuracy/loss curves, and confusion matrices for each model. Finally, it summarizes all model accuracies into a single results file for comparison.</vt:lpstr>
      <vt:lpstr>densenet121</vt:lpstr>
      <vt:lpstr>efficientnet_b0</vt:lpstr>
      <vt:lpstr>resnet50</vt:lpstr>
      <vt:lpstr>vgg16</vt:lpstr>
      <vt:lpstr>PowerPoint 演示文稿</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WPS_1746636739</cp:lastModifiedBy>
  <cp:revision>13</cp:revision>
  <dcterms:created xsi:type="dcterms:W3CDTF">2025-07-23T00:59:00Z</dcterms:created>
  <dcterms:modified xsi:type="dcterms:W3CDTF">2025-11-04T18:30:41Z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32858B48501E456F944542340C7ABF46_11</vt:lpwstr>
  </property>
  <property fmtid="{D5CDD505-2E9C-101B-9397-08002B2CF9AE}" pid="3" name="KSOProductBuildVer">
    <vt:lpwstr>2057-12.2.0.23149</vt:lpwstr>
  </property>
</Properties>
</file>